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y="6858000" cx="12192000"/>
  <p:notesSz cx="6858000" cy="9144000"/>
  <p:embeddedFontLst>
    <p:embeddedFont>
      <p:font typeface="Roboto Slab"/>
      <p:regular r:id="rId40"/>
      <p:bold r:id="rId41"/>
    </p:embeddedFont>
    <p:embeddedFont>
      <p:font typeface="Robo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Mawande Ngid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C99779-1EB3-421E-80C8-1506312B58C0}">
  <a:tblStyle styleId="{67C99779-1EB3-421E-80C8-1506312B58C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ACD1254-3C94-40E8-A14F-1A98FED05B0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C4EFAA0-D8C3-4BBE-8453-CB10ABEE3791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lab-regular.fntdata"/><Relationship Id="rId20" Type="http://schemas.openxmlformats.org/officeDocument/2006/relationships/slide" Target="slides/slide13.xml"/><Relationship Id="rId42" Type="http://schemas.openxmlformats.org/officeDocument/2006/relationships/font" Target="fonts/Roboto-regular.fntdata"/><Relationship Id="rId41" Type="http://schemas.openxmlformats.org/officeDocument/2006/relationships/font" Target="fonts/RobotoSlab-bold.fntdata"/><Relationship Id="rId22" Type="http://schemas.openxmlformats.org/officeDocument/2006/relationships/slide" Target="slides/slide15.xml"/><Relationship Id="rId44" Type="http://schemas.openxmlformats.org/officeDocument/2006/relationships/font" Target="fonts/Roboto-italic.fntdata"/><Relationship Id="rId21" Type="http://schemas.openxmlformats.org/officeDocument/2006/relationships/slide" Target="slides/slide14.xml"/><Relationship Id="rId43" Type="http://schemas.openxmlformats.org/officeDocument/2006/relationships/font" Target="fonts/Roboto-bold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45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15T14:06:17.551">
    <p:pos x="5331" y="275"/>
    <p:text>Team to customise based on city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5-05-15T14:11:36.007">
    <p:pos x="144" y="1232"/>
    <p:text>Team to pre populate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5-05-15T14:58:41.787">
    <p:pos x="147" y="230"/>
    <p:text>To Update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5-05-15T14:58:57.510">
    <p:pos x="147" y="230"/>
    <p:text>To Update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5-05-15T14:59:22.342">
    <p:pos x="147" y="230"/>
    <p:text>To Update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8f6152137_12_3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58f6152137_12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358f6152137_12_3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8f6152137_12_4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58f6152137_12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358f6152137_12_4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8dddee38a_0_8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58dddee38a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58dddee38a_0_8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8dddee38a_0_9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58dddee38a_0_9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8dddee38a_0_10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58dddee38a_0_10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8f6152137_12_5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58f6152137_12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58f6152137_12_5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8dddee38a_0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58dddee38a_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8dddee38a_0_2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58dddee38a_0_2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58dddee38a_0_2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8dddee38a_0_16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58dddee38a_0_16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58dddee38a_0_16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58f6152137_12_5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58f6152137_12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g358f6152137_12_59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58f6152137_12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58f6152137_12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58f6152137_12_2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58dddee38a_0_6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58dddee38a_0_6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58dddee38a_0_14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58dddee38a_0_14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58dddee38a_0_14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58f6152137_12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358f6152137_1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g358f6152137_12_10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d276b09f02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d276b09f02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2d276b09f02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58f6152137_12_6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358f6152137_12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8" name="Google Shape;488;g358f6152137_12_6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58dddee38a_0_14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58dddee38a_0_14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58dddee38a_0_14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d276b09f02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2d276b09f02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2d276b09f02_0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d276b09f02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2d276b09f02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g2d276b09f02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58f6152137_12_6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g358f6152137_12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g358f6152137_12_66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58f6152137_12_2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58f6152137_12_2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58f6152137_12_2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58dddee38a_0_16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58dddee38a_0_16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358dddee38a_0_16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58f6152137_12_7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358f6152137_12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2" name="Google Shape;612;g358f6152137_12_70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58f6152137_12_2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58f6152137_12_2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358f6152137_12_2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58f6152137_12_3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58f6152137_12_3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358f6152137_12_3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58f6152137_12_3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58f6152137_12_3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58f6152137_12_3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58f6152137_12_7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g358f6152137_12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g358f6152137_12_7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2d276b09f02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2d276b09f02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g2d276b09f02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d276b09f02_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2d276b09f02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g2d276b09f02_0_1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2d276b09f02_0_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2d276b09f02_0_1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g2d276b09f02_0_1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58f6152137_12_3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g358f6152137_12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9" name="Google Shape;729;g358f6152137_12_3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3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838200" y="1410884"/>
            <a:ext cx="5902411" cy="16359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38200" y="3212665"/>
            <a:ext cx="5902411" cy="51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997" y="5493350"/>
            <a:ext cx="3744488" cy="727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/>
          <p:nvPr/>
        </p:nvSpPr>
        <p:spPr>
          <a:xfrm>
            <a:off x="494270" y="1260389"/>
            <a:ext cx="123567" cy="33981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9714153" y="5978587"/>
            <a:ext cx="18204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www.amalicities.africa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838200" y="429337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tart 2">
  <p:cSld name="Section Start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 flipH="1">
            <a:off x="8745414" y="0"/>
            <a:ext cx="344658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/>
          <p:nvPr>
            <p:ph type="title"/>
          </p:nvPr>
        </p:nvSpPr>
        <p:spPr>
          <a:xfrm>
            <a:off x="679938" y="365125"/>
            <a:ext cx="7350370" cy="5379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697" y="6376074"/>
            <a:ext cx="1204313" cy="2336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3"/>
          <p:cNvCxnSpPr/>
          <p:nvPr/>
        </p:nvCxnSpPr>
        <p:spPr>
          <a:xfrm>
            <a:off x="8745414" y="6176963"/>
            <a:ext cx="3217986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" name="Google Shape;27;p3"/>
          <p:cNvCxnSpPr/>
          <p:nvPr/>
        </p:nvCxnSpPr>
        <p:spPr>
          <a:xfrm>
            <a:off x="228600" y="6176963"/>
            <a:ext cx="8516814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1602769" y="6325528"/>
            <a:ext cx="57329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0589230" y="6325528"/>
            <a:ext cx="13741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234462" y="365125"/>
            <a:ext cx="1172893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234462" y="1825625"/>
            <a:ext cx="11728938" cy="4152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2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3" name="Google Shape;33;p4"/>
          <p:cNvCxnSpPr/>
          <p:nvPr/>
        </p:nvCxnSpPr>
        <p:spPr>
          <a:xfrm>
            <a:off x="228600" y="6176963"/>
            <a:ext cx="1173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1602769" y="6325528"/>
            <a:ext cx="57329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10589230" y="6325528"/>
            <a:ext cx="13741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697" y="6376074"/>
            <a:ext cx="1204313" cy="233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tart 1">
  <p:cSld name="Section Start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-1" y="0"/>
            <a:ext cx="874541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 txBox="1"/>
          <p:nvPr>
            <p:ph type="title"/>
          </p:nvPr>
        </p:nvSpPr>
        <p:spPr>
          <a:xfrm>
            <a:off x="679938" y="365125"/>
            <a:ext cx="7350370" cy="5379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  <a:defRPr b="1" sz="6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697" y="6376074"/>
            <a:ext cx="1204313" cy="2336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5"/>
          <p:cNvCxnSpPr/>
          <p:nvPr/>
        </p:nvCxnSpPr>
        <p:spPr>
          <a:xfrm>
            <a:off x="8745414" y="6176963"/>
            <a:ext cx="3217986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" name="Google Shape;42;p5"/>
          <p:cNvCxnSpPr/>
          <p:nvPr/>
        </p:nvCxnSpPr>
        <p:spPr>
          <a:xfrm>
            <a:off x="228600" y="6176963"/>
            <a:ext cx="8516814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1602769" y="6325528"/>
            <a:ext cx="57329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10589230" y="6325528"/>
            <a:ext cx="13741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>
  <p:cSld name="Content 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Google Shape;46;p6"/>
          <p:cNvCxnSpPr/>
          <p:nvPr/>
        </p:nvCxnSpPr>
        <p:spPr>
          <a:xfrm>
            <a:off x="228600" y="6176963"/>
            <a:ext cx="1173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" name="Google Shape;47;p6"/>
          <p:cNvSpPr txBox="1"/>
          <p:nvPr>
            <p:ph type="title"/>
          </p:nvPr>
        </p:nvSpPr>
        <p:spPr>
          <a:xfrm>
            <a:off x="228600" y="365125"/>
            <a:ext cx="11734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228600" y="1825625"/>
            <a:ext cx="5334000" cy="4152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2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2" type="body"/>
          </p:nvPr>
        </p:nvSpPr>
        <p:spPr>
          <a:xfrm>
            <a:off x="6096000" y="1825625"/>
            <a:ext cx="5867400" cy="4152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2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1602769" y="6325528"/>
            <a:ext cx="57329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10589230" y="6325528"/>
            <a:ext cx="13741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" name="Google Shape;5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697" y="6376074"/>
            <a:ext cx="1204313" cy="233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ctrTitle"/>
          </p:nvPr>
        </p:nvSpPr>
        <p:spPr>
          <a:xfrm>
            <a:off x="838200" y="956097"/>
            <a:ext cx="5902411" cy="1130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/>
        </p:nvSpPr>
        <p:spPr>
          <a:xfrm>
            <a:off x="9714153" y="5978587"/>
            <a:ext cx="18204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www.amalicities.africa</a:t>
            </a:r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482" y="5715000"/>
            <a:ext cx="2604335" cy="505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">
  <p:cSld name="Cove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ctrTitle"/>
          </p:nvPr>
        </p:nvSpPr>
        <p:spPr>
          <a:xfrm>
            <a:off x="838200" y="1410884"/>
            <a:ext cx="5902411" cy="16359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" type="subTitle"/>
          </p:nvPr>
        </p:nvSpPr>
        <p:spPr>
          <a:xfrm>
            <a:off x="838200" y="3212665"/>
            <a:ext cx="5902411" cy="51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60" name="Google Shape;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997" y="5493350"/>
            <a:ext cx="3744488" cy="7272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494270" y="1260389"/>
            <a:ext cx="123567" cy="33981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 txBox="1"/>
          <p:nvPr/>
        </p:nvSpPr>
        <p:spPr>
          <a:xfrm>
            <a:off x="9714153" y="5978587"/>
            <a:ext cx="18204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www.amalicities.africa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"/>
          <p:cNvSpPr txBox="1"/>
          <p:nvPr>
            <p:ph idx="10" type="dt"/>
          </p:nvPr>
        </p:nvSpPr>
        <p:spPr>
          <a:xfrm>
            <a:off x="838200" y="429337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Cover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>
            <p:ph type="ctrTitle"/>
          </p:nvPr>
        </p:nvSpPr>
        <p:spPr>
          <a:xfrm>
            <a:off x="838200" y="1410884"/>
            <a:ext cx="5902411" cy="16359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" type="subTitle"/>
          </p:nvPr>
        </p:nvSpPr>
        <p:spPr>
          <a:xfrm>
            <a:off x="838200" y="3212665"/>
            <a:ext cx="5902411" cy="51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911" y="5493810"/>
            <a:ext cx="3744659" cy="72635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/>
          <p:nvPr/>
        </p:nvSpPr>
        <p:spPr>
          <a:xfrm>
            <a:off x="494270" y="1260389"/>
            <a:ext cx="123567" cy="339810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 txBox="1"/>
          <p:nvPr/>
        </p:nvSpPr>
        <p:spPr>
          <a:xfrm>
            <a:off x="9714153" y="5978587"/>
            <a:ext cx="18204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www.amalicities.africa</a:t>
            </a:r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9"/>
          <p:cNvSpPr txBox="1"/>
          <p:nvPr>
            <p:ph idx="10" type="dt"/>
          </p:nvPr>
        </p:nvSpPr>
        <p:spPr>
          <a:xfrm>
            <a:off x="838200" y="429337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>
  <p:cSld name="Content 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Google Shape;72;p10"/>
          <p:cNvCxnSpPr/>
          <p:nvPr/>
        </p:nvCxnSpPr>
        <p:spPr>
          <a:xfrm>
            <a:off x="228600" y="6176963"/>
            <a:ext cx="1173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" name="Google Shape;73;p10"/>
          <p:cNvSpPr txBox="1"/>
          <p:nvPr>
            <p:ph type="title"/>
          </p:nvPr>
        </p:nvSpPr>
        <p:spPr>
          <a:xfrm>
            <a:off x="228600" y="457200"/>
            <a:ext cx="45434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5183188" y="457201"/>
            <a:ext cx="6780212" cy="540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>
                <a:solidFill>
                  <a:schemeClr val="dk2"/>
                </a:solidFill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>
                <a:solidFill>
                  <a:schemeClr val="dk2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>
                <a:solidFill>
                  <a:schemeClr val="dk2"/>
                </a:solidFill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>
                <a:solidFill>
                  <a:schemeClr val="dk2"/>
                </a:solidFill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>
                <a:solidFill>
                  <a:schemeClr val="dk2"/>
                </a:solidFill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5" name="Google Shape;75;p10"/>
          <p:cNvSpPr txBox="1"/>
          <p:nvPr>
            <p:ph idx="2" type="body"/>
          </p:nvPr>
        </p:nvSpPr>
        <p:spPr>
          <a:xfrm>
            <a:off x="228600" y="2057400"/>
            <a:ext cx="454342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1602769" y="6325528"/>
            <a:ext cx="57329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10589230" y="6325528"/>
            <a:ext cx="13741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8" name="Google Shape;7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697" y="6376074"/>
            <a:ext cx="1204313" cy="233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4">
  <p:cSld name="1_Content 4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11"/>
          <p:cNvCxnSpPr/>
          <p:nvPr/>
        </p:nvCxnSpPr>
        <p:spPr>
          <a:xfrm>
            <a:off x="228600" y="6176963"/>
            <a:ext cx="1173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" name="Google Shape;81;p11"/>
          <p:cNvSpPr txBox="1"/>
          <p:nvPr>
            <p:ph type="title"/>
          </p:nvPr>
        </p:nvSpPr>
        <p:spPr>
          <a:xfrm>
            <a:off x="228600" y="365125"/>
            <a:ext cx="1171257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228600" y="1681163"/>
            <a:ext cx="564211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3" name="Google Shape;83;p11"/>
          <p:cNvSpPr txBox="1"/>
          <p:nvPr>
            <p:ph idx="2" type="body"/>
          </p:nvPr>
        </p:nvSpPr>
        <p:spPr>
          <a:xfrm>
            <a:off x="228600" y="2505075"/>
            <a:ext cx="5642113" cy="3472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2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3" type="body"/>
          </p:nvPr>
        </p:nvSpPr>
        <p:spPr>
          <a:xfrm>
            <a:off x="6172199" y="1681163"/>
            <a:ext cx="5768975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5" name="Google Shape;85;p11"/>
          <p:cNvSpPr txBox="1"/>
          <p:nvPr>
            <p:ph idx="4" type="body"/>
          </p:nvPr>
        </p:nvSpPr>
        <p:spPr>
          <a:xfrm>
            <a:off x="6194426" y="2505075"/>
            <a:ext cx="5746747" cy="3472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2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1602769" y="6325528"/>
            <a:ext cx="57329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10589230" y="6325528"/>
            <a:ext cx="13741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" name="Google Shape;8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697" y="6376074"/>
            <a:ext cx="1204313" cy="233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5 (Blank)">
  <p:cSld name="Content 5 (Blank)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2"/>
          <p:cNvCxnSpPr/>
          <p:nvPr/>
        </p:nvCxnSpPr>
        <p:spPr>
          <a:xfrm>
            <a:off x="228600" y="6176963"/>
            <a:ext cx="1173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" name="Google Shape;91;p12"/>
          <p:cNvSpPr txBox="1"/>
          <p:nvPr>
            <p:ph idx="11" type="ftr"/>
          </p:nvPr>
        </p:nvSpPr>
        <p:spPr>
          <a:xfrm>
            <a:off x="1602769" y="6325528"/>
            <a:ext cx="57329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2" type="sldNum"/>
          </p:nvPr>
        </p:nvSpPr>
        <p:spPr>
          <a:xfrm>
            <a:off x="10589230" y="6325528"/>
            <a:ext cx="13741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697" y="6376074"/>
            <a:ext cx="1204313" cy="233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1">
  <p:cSld name="OBJECT_1">
    <p:bg>
      <p:bgPr>
        <a:solidFill>
          <a:schemeClr val="accent3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p14"/>
          <p:cNvCxnSpPr/>
          <p:nvPr/>
        </p:nvCxnSpPr>
        <p:spPr>
          <a:xfrm>
            <a:off x="228600" y="6176963"/>
            <a:ext cx="11734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697" y="6376074"/>
            <a:ext cx="1204313" cy="233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s">
  <p:cSld name="Two content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407956" y="1449388"/>
            <a:ext cx="5466300" cy="753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sx="99000" rotWithShape="0" algn="t" dir="5400000" dist="38100" sy="99000">
              <a:schemeClr val="accent1"/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15"/>
          <p:cNvSpPr txBox="1"/>
          <p:nvPr>
            <p:ph idx="12" type="sldNum"/>
          </p:nvPr>
        </p:nvSpPr>
        <p:spPr>
          <a:xfrm>
            <a:off x="11483489" y="6197733"/>
            <a:ext cx="6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5"/>
          <p:cNvSpPr txBox="1"/>
          <p:nvPr>
            <p:ph idx="2" type="body"/>
          </p:nvPr>
        </p:nvSpPr>
        <p:spPr>
          <a:xfrm>
            <a:off x="407989" y="2355850"/>
            <a:ext cx="5465700" cy="3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15"/>
          <p:cNvSpPr txBox="1"/>
          <p:nvPr>
            <p:ph idx="3" type="body"/>
          </p:nvPr>
        </p:nvSpPr>
        <p:spPr>
          <a:xfrm>
            <a:off x="6320270" y="1449388"/>
            <a:ext cx="5464500" cy="753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sx="99000" rotWithShape="0" algn="t" dir="5400000" dist="38100" sy="99000">
              <a:schemeClr val="accent1"/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15"/>
          <p:cNvSpPr txBox="1"/>
          <p:nvPr>
            <p:ph idx="4" type="body"/>
          </p:nvPr>
        </p:nvSpPr>
        <p:spPr>
          <a:xfrm>
            <a:off x="6320270" y="2355850"/>
            <a:ext cx="5463600" cy="3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15"/>
          <p:cNvSpPr txBox="1"/>
          <p:nvPr>
            <p:ph idx="5" type="body"/>
          </p:nvPr>
        </p:nvSpPr>
        <p:spPr>
          <a:xfrm>
            <a:off x="407988" y="6223726"/>
            <a:ext cx="107373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type="title"/>
          </p:nvPr>
        </p:nvSpPr>
        <p:spPr>
          <a:xfrm>
            <a:off x="571896" y="365126"/>
            <a:ext cx="105732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spd="slow">
    <p:push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29.png"/><Relationship Id="rId6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1.xml"/><Relationship Id="rId4" Type="http://schemas.openxmlformats.org/officeDocument/2006/relationships/image" Target="../media/image2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comments" Target="../comments/comment2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atalog.cgepi.org/browse/govex/coursesenglish/selfguided-en/courses/self-guidedgetting-started-with-data-management" TargetMode="External"/><Relationship Id="rId4" Type="http://schemas.openxmlformats.org/officeDocument/2006/relationships/hyperlink" Target="https://catalog.cgepi.org/browse/govex/coursesenglish/selfguided-en/courses/english-self-guided-pa-101-getting-started-with-performance-analytics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comments" Target="../comments/comment3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comments" Target="../comments/comment4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comments" Target="../comments/comment5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ctrTitle"/>
          </p:nvPr>
        </p:nvSpPr>
        <p:spPr>
          <a:xfrm>
            <a:off x="838200" y="1410875"/>
            <a:ext cx="6592800" cy="163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Welcome to the AMALI Data Programme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6"/>
          <p:cNvSpPr txBox="1"/>
          <p:nvPr>
            <p:ph idx="1" type="subTitle"/>
          </p:nvPr>
        </p:nvSpPr>
        <p:spPr>
          <a:xfrm>
            <a:off x="838200" y="3212675"/>
            <a:ext cx="59025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[City]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[Date]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chemeClr val="accent3"/>
                </a:solidFill>
              </a:rPr>
              <a:t>Welcome to the AMALI Data Programme</a:t>
            </a:r>
            <a:endParaRPr sz="3500">
              <a:solidFill>
                <a:schemeClr val="accent3"/>
              </a:solidFill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968418" y="2247428"/>
            <a:ext cx="792380" cy="79238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1073416" y="2462321"/>
            <a:ext cx="582385" cy="42798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1917567" y="26354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676667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</a:rPr>
              <a:t>1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2817943" y="2247428"/>
            <a:ext cx="792380" cy="79238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2922941" y="2462321"/>
            <a:ext cx="582385" cy="42798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2526192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2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4667593" y="2233478"/>
            <a:ext cx="792380" cy="79238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4772591" y="2448371"/>
            <a:ext cx="582385" cy="42798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4375842" y="232569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3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6517531" y="2233478"/>
            <a:ext cx="792380" cy="79238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6622528" y="2448371"/>
            <a:ext cx="582385" cy="42798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6225779" y="232569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4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8306318" y="2247428"/>
            <a:ext cx="792380" cy="79238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8411316" y="2462321"/>
            <a:ext cx="582385" cy="42798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8014567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5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10233718" y="2233490"/>
            <a:ext cx="792380" cy="79238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10338716" y="2448383"/>
            <a:ext cx="582385" cy="42798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9941967" y="2325705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6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3743054" y="26354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625367" y="2635417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7417641" y="26190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9292567" y="26190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80250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-US" sz="1900">
                <a:solidFill>
                  <a:schemeClr val="accent1"/>
                </a:solidFill>
              </a:rPr>
              <a:t>Introductions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242977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Welcome to 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the ADP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434802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The ADP journey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129475" y="31706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Partnership logistics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918275" y="3191350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Preparing for the 1st site 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visit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994422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Discussion &amp; What’s Next?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chemeClr val="accent3"/>
                </a:solidFill>
              </a:rPr>
              <a:t>Welcome to the AMALI Data Programme</a:t>
            </a:r>
            <a:endParaRPr sz="3500">
              <a:solidFill>
                <a:schemeClr val="accent3"/>
              </a:solidFill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968418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1073416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1917567" y="26354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676667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</a:rPr>
              <a:t>1</a:t>
            </a:r>
            <a:endParaRPr b="1" i="0" sz="3200" u="none" cap="none" strike="noStrike">
              <a:solidFill>
                <a:schemeClr val="accent2"/>
              </a:solidFill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2817943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2922941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2526192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2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667593" y="223347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4772591" y="244837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4375842" y="232569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3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517531" y="223347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6622528" y="244837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6225779" y="232569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4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8306318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8411316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8014567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5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10233718" y="2233490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0338716" y="2448383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9941967" y="2325705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6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3743054" y="26354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625367" y="2635417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7417641" y="26190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9292567" y="26190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421375" y="3170650"/>
            <a:ext cx="1886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2"/>
                </a:solidFill>
              </a:rPr>
              <a:t>Introductions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242977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Welcome to 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the ADP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434802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The ADP journey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6129475" y="31706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Partnership logistics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7918275" y="3191350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Preparing for the 1st site 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visit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994422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Discussion &amp; What’s Next?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4294967295" type="title"/>
          </p:nvPr>
        </p:nvSpPr>
        <p:spPr>
          <a:xfrm>
            <a:off x="231600" y="405125"/>
            <a:ext cx="11728800" cy="8862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lt1"/>
                </a:solidFill>
              </a:rPr>
              <a:t>Let’s get to know each other</a:t>
            </a:r>
            <a:endParaRPr b="1" sz="3500">
              <a:solidFill>
                <a:schemeClr val="lt1"/>
              </a:solidFill>
            </a:endParaRPr>
          </a:p>
        </p:txBody>
      </p:sp>
      <p:sp>
        <p:nvSpPr>
          <p:cNvPr id="192" name="Google Shape;192;p19"/>
          <p:cNvSpPr txBox="1"/>
          <p:nvPr>
            <p:ph idx="4294967295" type="title"/>
          </p:nvPr>
        </p:nvSpPr>
        <p:spPr>
          <a:xfrm>
            <a:off x="231612" y="2766150"/>
            <a:ext cx="11728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500">
                <a:solidFill>
                  <a:schemeClr val="lt1"/>
                </a:solidFill>
              </a:rPr>
              <a:t>Who is in the room, and what excites you about your Mayor’s Legacy goal? </a:t>
            </a:r>
            <a:endParaRPr b="1" sz="3500">
              <a:solidFill>
                <a:schemeClr val="lt1"/>
              </a:solidFill>
            </a:endParaRPr>
          </a:p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3"/>
                </a:solidFill>
              </a:rPr>
              <a:t>Meet Mawande, the AMALI Data Programme Lead </a:t>
            </a:r>
            <a:endParaRPr sz="3500">
              <a:solidFill>
                <a:schemeClr val="accent3"/>
              </a:solidFill>
            </a:endParaRPr>
          </a:p>
        </p:txBody>
      </p:sp>
      <p:sp>
        <p:nvSpPr>
          <p:cNvPr id="199" name="Google Shape;199;p20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0" name="Google Shape;200;p20"/>
          <p:cNvPicPr preferRelativeResize="0"/>
          <p:nvPr/>
        </p:nvPicPr>
        <p:blipFill rotWithShape="1">
          <a:blip r:embed="rId3">
            <a:alphaModFix/>
          </a:blip>
          <a:srcRect b="0" l="9487" r="11324" t="0"/>
          <a:stretch/>
        </p:blipFill>
        <p:spPr>
          <a:xfrm>
            <a:off x="8481683" y="1614625"/>
            <a:ext cx="3447492" cy="43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268525" y="1614625"/>
            <a:ext cx="7987200" cy="4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Mawande Ngidi</a:t>
            </a:r>
            <a:r>
              <a:rPr lang="en-US" sz="1200">
                <a:solidFill>
                  <a:schemeClr val="dk1"/>
                </a:solidFill>
              </a:rPr>
              <a:t> has close to 15 years of experience supporting public sector leaders with strategic and data-driven decision-support to improve government delivery.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 began my career at the </a:t>
            </a:r>
            <a:r>
              <a:rPr b="1" lang="en-US" sz="1200">
                <a:solidFill>
                  <a:schemeClr val="dk1"/>
                </a:solidFill>
              </a:rPr>
              <a:t>Council for Scientific and Industrial Research (CSIR)</a:t>
            </a:r>
            <a:r>
              <a:rPr lang="en-US" sz="1200">
                <a:solidFill>
                  <a:schemeClr val="dk1"/>
                </a:solidFill>
              </a:rPr>
              <a:t> as a researcher focused on spatial analytics, supporting all spheres of government with data to inform planning and service delivery.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 then joined the </a:t>
            </a:r>
            <a:r>
              <a:rPr b="1" lang="en-US" sz="1200">
                <a:solidFill>
                  <a:schemeClr val="dk1"/>
                </a:solidFill>
              </a:rPr>
              <a:t>Gauteng Premier’s Delivery Unit</a:t>
            </a:r>
            <a:r>
              <a:rPr lang="en-US" sz="1200">
                <a:solidFill>
                  <a:schemeClr val="dk1"/>
                </a:solidFill>
              </a:rPr>
              <a:t> as </a:t>
            </a:r>
            <a:r>
              <a:rPr b="1" lang="en-US" sz="1200">
                <a:solidFill>
                  <a:schemeClr val="dk1"/>
                </a:solidFill>
              </a:rPr>
              <a:t>Director of Research and Data Analysis</a:t>
            </a:r>
            <a:r>
              <a:rPr lang="en-US" sz="1200">
                <a:solidFill>
                  <a:schemeClr val="dk1"/>
                </a:solidFill>
              </a:rPr>
              <a:t>, where I led teams in developing evidence-based plans and performance management across the infrastructure, health, and economic development sectors.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At </a:t>
            </a:r>
            <a:r>
              <a:rPr b="1" lang="en-US" sz="1200">
                <a:solidFill>
                  <a:schemeClr val="dk1"/>
                </a:solidFill>
              </a:rPr>
              <a:t>Delivery Associates (DA)</a:t>
            </a:r>
            <a:r>
              <a:rPr lang="en-US" sz="1200">
                <a:solidFill>
                  <a:schemeClr val="dk1"/>
                </a:solidFill>
              </a:rPr>
              <a:t>, I served as a </a:t>
            </a:r>
            <a:r>
              <a:rPr b="1" lang="en-US" sz="1200">
                <a:solidFill>
                  <a:schemeClr val="dk1"/>
                </a:solidFill>
              </a:rPr>
              <a:t>Senior Consultant</a:t>
            </a:r>
            <a:r>
              <a:rPr lang="en-US" sz="1200">
                <a:solidFill>
                  <a:schemeClr val="dk1"/>
                </a:solidFill>
              </a:rPr>
              <a:t>, advising senior government leaders across Africa on strategic priority setting, delivery unit design, and embedding data-use in government systems. In </a:t>
            </a:r>
            <a:r>
              <a:rPr b="1" lang="en-US" sz="1200">
                <a:solidFill>
                  <a:schemeClr val="dk1"/>
                </a:solidFill>
              </a:rPr>
              <a:t>Rwanda</a:t>
            </a:r>
            <a:r>
              <a:rPr lang="en-US" sz="1200">
                <a:solidFill>
                  <a:schemeClr val="dk1"/>
                </a:solidFill>
              </a:rPr>
              <a:t>, I supported the definition of national priorities and the development of the </a:t>
            </a:r>
            <a:r>
              <a:rPr b="1" lang="en-US" sz="1200">
                <a:solidFill>
                  <a:schemeClr val="dk1"/>
                </a:solidFill>
              </a:rPr>
              <a:t>Second National Strategy for Transformation (NST2)</a:t>
            </a:r>
            <a:r>
              <a:rPr lang="en-US" sz="1200">
                <a:solidFill>
                  <a:schemeClr val="dk1"/>
                </a:solidFill>
              </a:rPr>
              <a:t>, while also leading the establishment of a central Delivery Unit in the </a:t>
            </a:r>
            <a:r>
              <a:rPr b="1" lang="en-US" sz="1200">
                <a:solidFill>
                  <a:schemeClr val="dk1"/>
                </a:solidFill>
              </a:rPr>
              <a:t>Prime Minister’s Office</a:t>
            </a:r>
            <a:r>
              <a:rPr lang="en-US" sz="1200">
                <a:solidFill>
                  <a:schemeClr val="dk1"/>
                </a:solidFill>
              </a:rPr>
              <a:t> to drive national priorities; most notably, foundational learning reform with the </a:t>
            </a:r>
            <a:r>
              <a:rPr b="1" lang="en-US" sz="1200">
                <a:solidFill>
                  <a:schemeClr val="dk1"/>
                </a:solidFill>
              </a:rPr>
              <a:t>Ministry of Education</a:t>
            </a:r>
            <a:r>
              <a:rPr lang="en-US" sz="1200">
                <a:solidFill>
                  <a:schemeClr val="dk1"/>
                </a:solidFill>
              </a:rPr>
              <a:t>. I also supported the </a:t>
            </a:r>
            <a:r>
              <a:rPr b="1" lang="en-US" sz="1200">
                <a:solidFill>
                  <a:schemeClr val="dk1"/>
                </a:solidFill>
              </a:rPr>
              <a:t>Ministry of Health in Lesotho</a:t>
            </a:r>
            <a:r>
              <a:rPr lang="en-US" sz="1200">
                <a:solidFill>
                  <a:schemeClr val="dk1"/>
                </a:solidFill>
              </a:rPr>
              <a:t> to develop a digitisation policy aimed at integrating health information systems and strengthening the use of data for service delivery.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 hold a </a:t>
            </a:r>
            <a:r>
              <a:rPr b="1" lang="en-US" sz="1200">
                <a:solidFill>
                  <a:schemeClr val="dk1"/>
                </a:solidFill>
              </a:rPr>
              <a:t>Master of Philosophy in Urban and Regional Science</a:t>
            </a:r>
            <a:r>
              <a:rPr lang="en-US" sz="1200">
                <a:solidFill>
                  <a:schemeClr val="dk1"/>
                </a:solidFill>
              </a:rPr>
              <a:t> from </a:t>
            </a:r>
            <a:r>
              <a:rPr b="1" lang="en-US" sz="1200">
                <a:solidFill>
                  <a:schemeClr val="dk1"/>
                </a:solidFill>
              </a:rPr>
              <a:t>Stellenbosch University</a:t>
            </a:r>
            <a:r>
              <a:rPr lang="en-US" sz="1200">
                <a:solidFill>
                  <a:schemeClr val="dk1"/>
                </a:solidFill>
              </a:rPr>
              <a:t> and I’m joining the team as the </a:t>
            </a:r>
            <a:r>
              <a:rPr b="1" lang="en-US" sz="1200">
                <a:solidFill>
                  <a:schemeClr val="dk1"/>
                </a:solidFill>
              </a:rPr>
              <a:t>AMALI Data Lead</a:t>
            </a:r>
            <a:r>
              <a:rPr lang="en-US" sz="1200">
                <a:solidFill>
                  <a:schemeClr val="dk1"/>
                </a:solidFill>
              </a:rPr>
              <a:t>, where I’m supporting efforts to strengthen data systems and use across African cities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/>
          <p:nvPr/>
        </p:nvSpPr>
        <p:spPr>
          <a:xfrm>
            <a:off x="8481175" y="1631000"/>
            <a:ext cx="3447600" cy="438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3"/>
                </a:solidFill>
              </a:rPr>
              <a:t>Meet [Jane / John Doe] your City Data Advisor </a:t>
            </a:r>
            <a:endParaRPr sz="3500">
              <a:solidFill>
                <a:schemeClr val="accent3"/>
              </a:solidFill>
            </a:endParaRPr>
          </a:p>
        </p:txBody>
      </p:sp>
      <p:sp>
        <p:nvSpPr>
          <p:cNvPr id="208" name="Google Shape;208;p21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278175" y="1631000"/>
            <a:ext cx="7987200" cy="3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9400">
                <a:solidFill>
                  <a:schemeClr val="dk1"/>
                </a:solidFill>
              </a:rPr>
              <a:t>PLEASE ADD SHORT BIO </a:t>
            </a:r>
            <a:endParaRPr b="1" sz="9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>
            <p:ph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chemeClr val="accent3"/>
                </a:solidFill>
              </a:rPr>
              <a:t>Welcome to the AMALI Data Programme</a:t>
            </a:r>
            <a:endParaRPr sz="3500">
              <a:solidFill>
                <a:schemeClr val="accent3"/>
              </a:solidFill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968418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1073416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1917567" y="26354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676667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</a:rPr>
              <a:t>1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2817943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2922941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2526192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2"/>
                </a:solidFill>
              </a:rPr>
              <a:t>2</a:t>
            </a:r>
            <a:endParaRPr b="1" i="0" sz="3200" u="none" cap="none" strike="noStrike">
              <a:solidFill>
                <a:schemeClr val="accent2"/>
              </a:solidFill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4667593" y="223347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4772591" y="244837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4375842" y="232569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3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6517531" y="223347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6622528" y="244837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6225779" y="232569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4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8306318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8411316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8014567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5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10233718" y="2233490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10338716" y="2448383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9941967" y="2325705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6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3743054" y="26354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625367" y="2635417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7417641" y="26190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9292567" y="26190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421375" y="3170650"/>
            <a:ext cx="1886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Introductions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242977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2"/>
                </a:solidFill>
              </a:rPr>
              <a:t>Welcome to </a:t>
            </a:r>
            <a:endParaRPr b="1" sz="19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2"/>
                </a:solidFill>
              </a:rPr>
              <a:t>the ADP</a:t>
            </a:r>
            <a:endParaRPr b="1" sz="19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2"/>
              </a:solidFill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434802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The ADP journey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6129475" y="31706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Partnership logistics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7918275" y="3191350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Preparing for the 1st site 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visit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994422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Discussion &amp; What’s Next?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23"/>
          <p:cNvSpPr txBox="1"/>
          <p:nvPr>
            <p:ph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3"/>
                </a:solidFill>
              </a:rPr>
              <a:t>Our goal is to empower city leaders and their teams take their data expertise to the next level</a:t>
            </a:r>
            <a:endParaRPr sz="3500">
              <a:solidFill>
                <a:schemeClr val="accent3"/>
              </a:solidFill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234450" y="1603550"/>
            <a:ext cx="116610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The AMALI Data Programme will support Mayors in delivering their legacy goal by providing direct coaching and tailored technical assistance to close data gaps, create a data reporting tool that allows for rigorous monitoring and evaluation of indicators, and creating a performance routine to use data in decision-making process.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316225" y="2325800"/>
            <a:ext cx="666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Through AMALI Data Programme, cities will: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316225" y="2787500"/>
            <a:ext cx="6859200" cy="29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Conduct a</a:t>
            </a:r>
            <a:r>
              <a:rPr b="1" lang="en-US" sz="1300">
                <a:solidFill>
                  <a:schemeClr val="dk1"/>
                </a:solidFill>
              </a:rPr>
              <a:t> data inventory, identify data gaps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chemeClr val="dk1"/>
                </a:solidFill>
              </a:rPr>
              <a:t>and pilot efforts</a:t>
            </a:r>
            <a:r>
              <a:rPr lang="en-US" sz="1300">
                <a:solidFill>
                  <a:schemeClr val="dk1"/>
                </a:solidFill>
              </a:rPr>
              <a:t> that will improve the city’s data infrastructure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Design and implement a data reporting tool</a:t>
            </a:r>
            <a:r>
              <a:rPr lang="en-US" sz="1300">
                <a:solidFill>
                  <a:schemeClr val="dk1"/>
                </a:solidFill>
              </a:rPr>
              <a:t> that outlines goals and monitors performance indicators related to the mayor’s Legacy Goal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Develop and launch a data driven performance management routine</a:t>
            </a:r>
            <a:r>
              <a:rPr lang="en-US" sz="1300">
                <a:solidFill>
                  <a:schemeClr val="dk1"/>
                </a:solidFill>
              </a:rPr>
              <a:t> within city hall focused on monitoring, evaluating, and communicating progress on their Legacy Goal to internal and external stakeholders.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Leaders will  have an enhanced understanding of </a:t>
            </a:r>
            <a:r>
              <a:rPr b="1" lang="en-US" sz="1300">
                <a:solidFill>
                  <a:schemeClr val="dk1"/>
                </a:solidFill>
              </a:rPr>
              <a:t>how to use data to make their city more effective, efficient, equitable, and accountable</a:t>
            </a:r>
            <a:r>
              <a:rPr lang="en-US" sz="1300">
                <a:solidFill>
                  <a:schemeClr val="dk1"/>
                </a:solidFill>
              </a:rPr>
              <a:t> and of how leadership affects the conditions for success. </a:t>
            </a:r>
            <a:endParaRPr sz="1300">
              <a:solidFill>
                <a:schemeClr val="dk1"/>
              </a:solidFill>
            </a:endParaRPr>
          </a:p>
        </p:txBody>
      </p:sp>
      <p:grpSp>
        <p:nvGrpSpPr>
          <p:cNvPr id="254" name="Google Shape;254;p23"/>
          <p:cNvGrpSpPr/>
          <p:nvPr/>
        </p:nvGrpSpPr>
        <p:grpSpPr>
          <a:xfrm>
            <a:off x="7937437" y="2505987"/>
            <a:ext cx="4009511" cy="3173322"/>
            <a:chOff x="5087308" y="1716267"/>
            <a:chExt cx="5404382" cy="4921405"/>
          </a:xfrm>
        </p:grpSpPr>
        <p:sp>
          <p:nvSpPr>
            <p:cNvPr id="255" name="Google Shape;255;p23"/>
            <p:cNvSpPr/>
            <p:nvPr/>
          </p:nvSpPr>
          <p:spPr>
            <a:xfrm>
              <a:off x="6318438" y="3525263"/>
              <a:ext cx="2949242" cy="949436"/>
            </a:xfrm>
            <a:custGeom>
              <a:rect b="b" l="l" r="r" t="t"/>
              <a:pathLst>
                <a:path extrusionOk="0" h="1380998" w="4289806">
                  <a:moveTo>
                    <a:pt x="4013454" y="876173"/>
                  </a:moveTo>
                  <a:lnTo>
                    <a:pt x="3530854" y="0"/>
                  </a:lnTo>
                  <a:lnTo>
                    <a:pt x="758825" y="0"/>
                  </a:lnTo>
                  <a:lnTo>
                    <a:pt x="279400" y="876173"/>
                  </a:lnTo>
                  <a:lnTo>
                    <a:pt x="0" y="1380998"/>
                  </a:lnTo>
                  <a:lnTo>
                    <a:pt x="4289806" y="1380998"/>
                  </a:lnTo>
                  <a:lnTo>
                    <a:pt x="4013454" y="876173"/>
                  </a:lnTo>
                  <a:close/>
                </a:path>
              </a:pathLst>
            </a:custGeom>
            <a:solidFill>
              <a:srgbClr val="510E7B">
                <a:alpha val="69800"/>
              </a:srgbClr>
            </a:solidFill>
            <a:ln>
              <a:noFill/>
            </a:ln>
          </p:spPr>
        </p:sp>
        <p:sp>
          <p:nvSpPr>
            <p:cNvPr id="256" name="Google Shape;256;p23"/>
            <p:cNvSpPr/>
            <p:nvPr/>
          </p:nvSpPr>
          <p:spPr>
            <a:xfrm>
              <a:off x="6873983" y="1716267"/>
              <a:ext cx="1842381" cy="1737431"/>
            </a:xfrm>
            <a:custGeom>
              <a:rect b="b" l="l" r="r" t="t"/>
              <a:pathLst>
                <a:path extrusionOk="0" h="2527173" w="2679827">
                  <a:moveTo>
                    <a:pt x="1343152" y="0"/>
                  </a:moveTo>
                  <a:lnTo>
                    <a:pt x="0" y="2527173"/>
                  </a:lnTo>
                  <a:lnTo>
                    <a:pt x="2679827" y="2527173"/>
                  </a:lnTo>
                  <a:lnTo>
                    <a:pt x="1343152" y="0"/>
                  </a:lnTo>
                  <a:close/>
                </a:path>
              </a:pathLst>
            </a:custGeom>
            <a:solidFill>
              <a:srgbClr val="510E7B">
                <a:alpha val="49800"/>
              </a:srgbClr>
            </a:solidFill>
            <a:ln>
              <a:noFill/>
            </a:ln>
          </p:spPr>
        </p:sp>
        <p:sp>
          <p:nvSpPr>
            <p:cNvPr id="257" name="Google Shape;257;p23"/>
            <p:cNvSpPr/>
            <p:nvPr/>
          </p:nvSpPr>
          <p:spPr>
            <a:xfrm>
              <a:off x="5087308" y="5592192"/>
              <a:ext cx="5404382" cy="1045480"/>
            </a:xfrm>
            <a:custGeom>
              <a:rect b="b" l="l" r="r" t="t"/>
              <a:pathLst>
                <a:path extrusionOk="0" h="1520698" w="7860919">
                  <a:moveTo>
                    <a:pt x="879475" y="0"/>
                  </a:moveTo>
                  <a:lnTo>
                    <a:pt x="0" y="1520698"/>
                  </a:lnTo>
                  <a:lnTo>
                    <a:pt x="3933698" y="1520698"/>
                  </a:lnTo>
                  <a:lnTo>
                    <a:pt x="7860919" y="1520698"/>
                  </a:lnTo>
                  <a:lnTo>
                    <a:pt x="6981571" y="0"/>
                  </a:lnTo>
                  <a:lnTo>
                    <a:pt x="879475" y="0"/>
                  </a:lnTo>
                  <a:close/>
                </a:path>
              </a:pathLst>
            </a:custGeom>
            <a:solidFill>
              <a:srgbClr val="510E7B"/>
            </a:solidFill>
            <a:ln>
              <a:noFill/>
            </a:ln>
          </p:spPr>
        </p:sp>
        <p:sp>
          <p:nvSpPr>
            <p:cNvPr id="258" name="Google Shape;258;p23"/>
            <p:cNvSpPr/>
            <p:nvPr/>
          </p:nvSpPr>
          <p:spPr>
            <a:xfrm>
              <a:off x="5741067" y="4555504"/>
              <a:ext cx="4103513" cy="947428"/>
            </a:xfrm>
            <a:custGeom>
              <a:rect b="b" l="l" r="r" t="t"/>
              <a:pathLst>
                <a:path extrusionOk="0" h="1378077" w="5968746">
                  <a:moveTo>
                    <a:pt x="5194173" y="0"/>
                  </a:moveTo>
                  <a:lnTo>
                    <a:pt x="774700" y="0"/>
                  </a:lnTo>
                  <a:lnTo>
                    <a:pt x="0" y="1378077"/>
                  </a:lnTo>
                  <a:lnTo>
                    <a:pt x="5968746" y="1378077"/>
                  </a:lnTo>
                  <a:lnTo>
                    <a:pt x="5194173" y="0"/>
                  </a:lnTo>
                  <a:close/>
                </a:path>
              </a:pathLst>
            </a:custGeom>
            <a:solidFill>
              <a:srgbClr val="510E7B">
                <a:alpha val="84710"/>
              </a:srgbClr>
            </a:solidFill>
            <a:ln>
              <a:noFill/>
            </a:ln>
          </p:spPr>
        </p:sp>
        <p:sp>
          <p:nvSpPr>
            <p:cNvPr id="259" name="Google Shape;259;p23"/>
            <p:cNvSpPr/>
            <p:nvPr/>
          </p:nvSpPr>
          <p:spPr>
            <a:xfrm>
              <a:off x="7590831" y="5670342"/>
              <a:ext cx="393414" cy="492603"/>
            </a:xfrm>
            <a:custGeom>
              <a:rect b="b" l="l" r="r" t="t"/>
              <a:pathLst>
                <a:path extrusionOk="0" h="834920" w="634539">
                  <a:moveTo>
                    <a:pt x="0" y="0"/>
                  </a:moveTo>
                  <a:lnTo>
                    <a:pt x="634539" y="0"/>
                  </a:lnTo>
                  <a:lnTo>
                    <a:pt x="634539" y="834920"/>
                  </a:lnTo>
                  <a:lnTo>
                    <a:pt x="0" y="834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60" name="Google Shape;260;p23"/>
            <p:cNvSpPr/>
            <p:nvPr/>
          </p:nvSpPr>
          <p:spPr>
            <a:xfrm>
              <a:off x="7550614" y="4717879"/>
              <a:ext cx="473863" cy="400494"/>
            </a:xfrm>
            <a:custGeom>
              <a:rect b="b" l="l" r="r" t="t"/>
              <a:pathLst>
                <a:path extrusionOk="0" h="741655" w="796408">
                  <a:moveTo>
                    <a:pt x="0" y="0"/>
                  </a:moveTo>
                  <a:lnTo>
                    <a:pt x="796408" y="0"/>
                  </a:lnTo>
                  <a:lnTo>
                    <a:pt x="796408" y="741655"/>
                  </a:lnTo>
                  <a:lnTo>
                    <a:pt x="0" y="74165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61" name="Google Shape;261;p23"/>
            <p:cNvSpPr/>
            <p:nvPr/>
          </p:nvSpPr>
          <p:spPr>
            <a:xfrm>
              <a:off x="7590933" y="3664216"/>
              <a:ext cx="393221" cy="400381"/>
            </a:xfrm>
            <a:custGeom>
              <a:rect b="b" l="l" r="r" t="t"/>
              <a:pathLst>
                <a:path extrusionOk="0" h="738029" w="708507">
                  <a:moveTo>
                    <a:pt x="0" y="0"/>
                  </a:moveTo>
                  <a:lnTo>
                    <a:pt x="708507" y="0"/>
                  </a:lnTo>
                  <a:lnTo>
                    <a:pt x="708507" y="738029"/>
                  </a:lnTo>
                  <a:lnTo>
                    <a:pt x="0" y="7380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62" name="Google Shape;262;p23"/>
            <p:cNvSpPr/>
            <p:nvPr/>
          </p:nvSpPr>
          <p:spPr>
            <a:xfrm>
              <a:off x="7482650" y="2154621"/>
              <a:ext cx="609769" cy="559879"/>
            </a:xfrm>
            <a:custGeom>
              <a:rect b="b" l="l" r="r" t="t"/>
              <a:pathLst>
                <a:path extrusionOk="0" h="838770" w="913512">
                  <a:moveTo>
                    <a:pt x="0" y="0"/>
                  </a:moveTo>
                  <a:lnTo>
                    <a:pt x="913512" y="0"/>
                  </a:lnTo>
                  <a:lnTo>
                    <a:pt x="913512" y="838770"/>
                  </a:lnTo>
                  <a:lnTo>
                    <a:pt x="0" y="8387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63" name="Google Shape;263;p23"/>
            <p:cNvSpPr txBox="1"/>
            <p:nvPr/>
          </p:nvSpPr>
          <p:spPr>
            <a:xfrm>
              <a:off x="5506057" y="6149677"/>
              <a:ext cx="4640100" cy="28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80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</a:rPr>
                <a:t>Data Inventory &amp; Quality Assessment</a:t>
              </a:r>
              <a:endParaRPr sz="1200"/>
            </a:p>
          </p:txBody>
        </p:sp>
        <p:sp>
          <p:nvSpPr>
            <p:cNvPr id="264" name="Google Shape;264;p23"/>
            <p:cNvSpPr txBox="1"/>
            <p:nvPr/>
          </p:nvSpPr>
          <p:spPr>
            <a:xfrm>
              <a:off x="6786292" y="5137751"/>
              <a:ext cx="2021700" cy="28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8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</a:rPr>
                <a:t>Data Reporting Tool </a:t>
              </a:r>
              <a:endParaRPr sz="1200"/>
            </a:p>
          </p:txBody>
        </p:sp>
        <p:sp>
          <p:nvSpPr>
            <p:cNvPr id="265" name="Google Shape;265;p23"/>
            <p:cNvSpPr txBox="1"/>
            <p:nvPr/>
          </p:nvSpPr>
          <p:spPr>
            <a:xfrm>
              <a:off x="6478713" y="4101596"/>
              <a:ext cx="2636700" cy="28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</a:rPr>
                <a:t>Performance Management</a:t>
              </a:r>
              <a:endParaRPr sz="1200"/>
            </a:p>
          </p:txBody>
        </p:sp>
        <p:sp>
          <p:nvSpPr>
            <p:cNvPr id="266" name="Google Shape;266;p23"/>
            <p:cNvSpPr txBox="1"/>
            <p:nvPr/>
          </p:nvSpPr>
          <p:spPr>
            <a:xfrm>
              <a:off x="7230304" y="2833378"/>
              <a:ext cx="1148700" cy="57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</a:rPr>
                <a:t>Data </a:t>
              </a:r>
              <a:endParaRPr sz="1200"/>
            </a:p>
            <a:p>
              <a:pPr indent="0" lvl="0" marL="0" marR="0" rtl="0" algn="ctr">
                <a:lnSpc>
                  <a:spcPct val="138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</a:rPr>
                <a:t>Leadership</a:t>
              </a:r>
              <a:endParaRPr sz="1200"/>
            </a:p>
          </p:txBody>
        </p:sp>
      </p:grpSp>
      <p:cxnSp>
        <p:nvCxnSpPr>
          <p:cNvPr id="267" name="Google Shape;267;p23"/>
          <p:cNvCxnSpPr/>
          <p:nvPr/>
        </p:nvCxnSpPr>
        <p:spPr>
          <a:xfrm flipH="1" rot="10800000">
            <a:off x="7817999" y="2463925"/>
            <a:ext cx="1999200" cy="3177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8" name="Google Shape;268;p23"/>
          <p:cNvSpPr txBox="1"/>
          <p:nvPr/>
        </p:nvSpPr>
        <p:spPr>
          <a:xfrm>
            <a:off x="6669263" y="5442414"/>
            <a:ext cx="11820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2"/>
                </a:solidFill>
              </a:rPr>
              <a:t>Starting point</a:t>
            </a:r>
            <a:endParaRPr b="1" sz="1200">
              <a:solidFill>
                <a:schemeClr val="accent2"/>
              </a:solidFill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8820300" y="2418500"/>
            <a:ext cx="10731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2"/>
                </a:solidFill>
              </a:rPr>
              <a:t>End Goal</a:t>
            </a:r>
            <a:endParaRPr b="1" sz="12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76" name="Google Shape;276;p24"/>
          <p:cNvGrpSpPr/>
          <p:nvPr/>
        </p:nvGrpSpPr>
        <p:grpSpPr>
          <a:xfrm>
            <a:off x="302925" y="2099445"/>
            <a:ext cx="3731668" cy="3539486"/>
            <a:chOff x="379125" y="2617201"/>
            <a:chExt cx="3731668" cy="3403024"/>
          </a:xfrm>
        </p:grpSpPr>
        <p:sp>
          <p:nvSpPr>
            <p:cNvPr id="277" name="Google Shape;277;p24"/>
            <p:cNvSpPr txBox="1"/>
            <p:nvPr/>
          </p:nvSpPr>
          <p:spPr>
            <a:xfrm>
              <a:off x="2036894" y="2821139"/>
              <a:ext cx="20739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C0D4"/>
                </a:buClr>
                <a:buSzPts val="2500"/>
                <a:buFont typeface="Arial"/>
                <a:buNone/>
              </a:pPr>
              <a:r>
                <a:rPr lang="en-US">
                  <a:solidFill>
                    <a:srgbClr val="26323E"/>
                  </a:solidFill>
                </a:rPr>
                <a:t>Mayors &amp; Governors</a:t>
              </a:r>
              <a:endParaRPr i="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278" name="Google Shape;278;p24"/>
            <p:cNvSpPr txBox="1"/>
            <p:nvPr/>
          </p:nvSpPr>
          <p:spPr>
            <a:xfrm>
              <a:off x="1720294" y="3734436"/>
              <a:ext cx="12378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C0D4"/>
                </a:buClr>
                <a:buSzPts val="2500"/>
                <a:buFont typeface="Arial"/>
                <a:buNone/>
              </a:pPr>
              <a:r>
                <a:rPr lang="en-US">
                  <a:solidFill>
                    <a:srgbClr val="26323E"/>
                  </a:solidFill>
                </a:rPr>
                <a:t>C</a:t>
              </a:r>
              <a:r>
                <a:rPr i="0" lang="en-US" u="none" cap="none" strike="noStrike">
                  <a:solidFill>
                    <a:srgbClr val="26323E"/>
                  </a:solidFill>
                </a:rPr>
                <a:t>ountries</a:t>
              </a:r>
              <a:endParaRPr i="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279" name="Google Shape;279;p24"/>
            <p:cNvSpPr txBox="1"/>
            <p:nvPr/>
          </p:nvSpPr>
          <p:spPr>
            <a:xfrm>
              <a:off x="1754960" y="4625246"/>
              <a:ext cx="13584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C0D4"/>
                </a:buClr>
                <a:buSzPts val="2500"/>
                <a:buFont typeface="Arial"/>
                <a:buNone/>
              </a:pPr>
              <a:r>
                <a:rPr lang="en-US">
                  <a:solidFill>
                    <a:srgbClr val="26323E"/>
                  </a:solidFill>
                </a:rPr>
                <a:t>L</a:t>
              </a:r>
              <a:r>
                <a:rPr i="0" lang="en-US" u="none" cap="none" strike="noStrike">
                  <a:solidFill>
                    <a:srgbClr val="26323E"/>
                  </a:solidFill>
                </a:rPr>
                <a:t>anguages</a:t>
              </a:r>
              <a:endParaRPr i="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280" name="Google Shape;280;p24"/>
            <p:cNvSpPr txBox="1"/>
            <p:nvPr/>
          </p:nvSpPr>
          <p:spPr>
            <a:xfrm>
              <a:off x="1329949" y="2617663"/>
              <a:ext cx="862800" cy="6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C0D4"/>
                </a:buClr>
                <a:buSzPts val="6300"/>
                <a:buFont typeface="Arial"/>
                <a:buNone/>
              </a:pPr>
              <a:r>
                <a:rPr b="1" lang="en-US" sz="4100">
                  <a:solidFill>
                    <a:srgbClr val="510E7B"/>
                  </a:solidFill>
                </a:rPr>
                <a:t>15</a:t>
              </a:r>
              <a:endParaRPr i="0" sz="600" u="none" cap="none" strike="noStrike">
                <a:solidFill>
                  <a:srgbClr val="510E7B"/>
                </a:solidFill>
              </a:endParaRPr>
            </a:p>
          </p:txBody>
        </p:sp>
        <p:sp>
          <p:nvSpPr>
            <p:cNvPr id="281" name="Google Shape;281;p24"/>
            <p:cNvSpPr txBox="1"/>
            <p:nvPr/>
          </p:nvSpPr>
          <p:spPr>
            <a:xfrm>
              <a:off x="1340138" y="3534544"/>
              <a:ext cx="1109700" cy="6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C0D4"/>
                </a:buClr>
                <a:buSzPts val="6300"/>
                <a:buFont typeface="Arial"/>
                <a:buNone/>
              </a:pPr>
              <a:r>
                <a:rPr b="1" lang="en-US" sz="4100">
                  <a:solidFill>
                    <a:srgbClr val="510E7B"/>
                  </a:solidFill>
                </a:rPr>
                <a:t>9</a:t>
              </a:r>
              <a:endParaRPr i="0" sz="600" u="none" cap="none" strike="noStrike">
                <a:solidFill>
                  <a:srgbClr val="510E7B"/>
                </a:solidFill>
              </a:endParaRPr>
            </a:p>
          </p:txBody>
        </p:sp>
        <p:sp>
          <p:nvSpPr>
            <p:cNvPr id="282" name="Google Shape;282;p24"/>
            <p:cNvSpPr txBox="1"/>
            <p:nvPr/>
          </p:nvSpPr>
          <p:spPr>
            <a:xfrm>
              <a:off x="1340138" y="4428697"/>
              <a:ext cx="862800" cy="6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C0D4"/>
                </a:buClr>
                <a:buSzPts val="6300"/>
                <a:buFont typeface="Arial"/>
                <a:buNone/>
              </a:pPr>
              <a:r>
                <a:rPr b="1" lang="en-US" sz="4100">
                  <a:solidFill>
                    <a:srgbClr val="510E7B"/>
                  </a:solidFill>
                </a:rPr>
                <a:t>4</a:t>
              </a:r>
              <a:endParaRPr i="0" sz="600" u="none" cap="none" strike="noStrike">
                <a:solidFill>
                  <a:srgbClr val="510E7B"/>
                </a:solidFill>
              </a:endParaRPr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383650" y="3553716"/>
              <a:ext cx="714300" cy="644700"/>
            </a:xfrm>
            <a:prstGeom prst="ellipse">
              <a:avLst/>
            </a:prstGeom>
            <a:solidFill>
              <a:srgbClr val="CBCAFF">
                <a:alpha val="47840"/>
              </a:srgbClr>
            </a:solidFill>
            <a:ln cap="flat" cmpd="sng" w="88900">
              <a:solidFill>
                <a:srgbClr val="510E7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C:\Users\Raahema.HP\Desktop\Deck help\download (5).png" id="284" name="Google Shape;284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4148" y="3603760"/>
              <a:ext cx="513576" cy="5446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" name="Google Shape;285;p24"/>
            <p:cNvSpPr/>
            <p:nvPr/>
          </p:nvSpPr>
          <p:spPr>
            <a:xfrm>
              <a:off x="383650" y="4428225"/>
              <a:ext cx="714300" cy="644700"/>
            </a:xfrm>
            <a:prstGeom prst="ellipse">
              <a:avLst/>
            </a:prstGeom>
            <a:solidFill>
              <a:srgbClr val="CBCAFF">
                <a:alpha val="47840"/>
              </a:srgbClr>
            </a:solidFill>
            <a:ln cap="flat" cmpd="sng" w="88900">
              <a:solidFill>
                <a:srgbClr val="510E7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383650" y="2617201"/>
              <a:ext cx="714300" cy="644700"/>
            </a:xfrm>
            <a:prstGeom prst="ellipse">
              <a:avLst/>
            </a:prstGeom>
            <a:solidFill>
              <a:srgbClr val="CBCAFF">
                <a:alpha val="47840"/>
              </a:srgbClr>
            </a:solidFill>
            <a:ln cap="flat" cmpd="sng" w="88900">
              <a:solidFill>
                <a:srgbClr val="510E7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525785" y="4600284"/>
              <a:ext cx="430292" cy="321230"/>
            </a:xfrm>
            <a:custGeom>
              <a:rect b="b" l="l" r="r" t="t"/>
              <a:pathLst>
                <a:path extrusionOk="0" h="67" w="82">
                  <a:moveTo>
                    <a:pt x="55" y="20"/>
                  </a:moveTo>
                  <a:cubicBezTo>
                    <a:pt x="42" y="20"/>
                    <a:pt x="31" y="30"/>
                    <a:pt x="31" y="43"/>
                  </a:cubicBezTo>
                  <a:cubicBezTo>
                    <a:pt x="31" y="45"/>
                    <a:pt x="31" y="47"/>
                    <a:pt x="32" y="49"/>
                  </a:cubicBezTo>
                  <a:cubicBezTo>
                    <a:pt x="31" y="49"/>
                    <a:pt x="30" y="49"/>
                    <a:pt x="29" y="49"/>
                  </a:cubicBezTo>
                  <a:cubicBezTo>
                    <a:pt x="25" y="49"/>
                    <a:pt x="22" y="49"/>
                    <a:pt x="19" y="48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4" y="39"/>
                    <a:pt x="0" y="33"/>
                    <a:pt x="0" y="25"/>
                  </a:cubicBezTo>
                  <a:cubicBezTo>
                    <a:pt x="0" y="11"/>
                    <a:pt x="13" y="0"/>
                    <a:pt x="29" y="0"/>
                  </a:cubicBezTo>
                  <a:cubicBezTo>
                    <a:pt x="43" y="0"/>
                    <a:pt x="56" y="9"/>
                    <a:pt x="58" y="20"/>
                  </a:cubicBezTo>
                  <a:cubicBezTo>
                    <a:pt x="57" y="20"/>
                    <a:pt x="56" y="20"/>
                    <a:pt x="55" y="20"/>
                  </a:cubicBezTo>
                  <a:close/>
                  <a:moveTo>
                    <a:pt x="19" y="12"/>
                  </a:moveTo>
                  <a:cubicBezTo>
                    <a:pt x="17" y="12"/>
                    <a:pt x="15" y="14"/>
                    <a:pt x="15" y="16"/>
                  </a:cubicBezTo>
                  <a:cubicBezTo>
                    <a:pt x="15" y="18"/>
                    <a:pt x="17" y="19"/>
                    <a:pt x="19" y="19"/>
                  </a:cubicBezTo>
                  <a:cubicBezTo>
                    <a:pt x="22" y="19"/>
                    <a:pt x="23" y="18"/>
                    <a:pt x="23" y="16"/>
                  </a:cubicBezTo>
                  <a:cubicBezTo>
                    <a:pt x="23" y="14"/>
                    <a:pt x="22" y="12"/>
                    <a:pt x="19" y="12"/>
                  </a:cubicBezTo>
                  <a:close/>
                  <a:moveTo>
                    <a:pt x="72" y="60"/>
                  </a:moveTo>
                  <a:cubicBezTo>
                    <a:pt x="74" y="67"/>
                    <a:pt x="74" y="67"/>
                    <a:pt x="74" y="67"/>
                  </a:cubicBezTo>
                  <a:cubicBezTo>
                    <a:pt x="66" y="62"/>
                    <a:pt x="66" y="62"/>
                    <a:pt x="66" y="62"/>
                  </a:cubicBezTo>
                  <a:cubicBezTo>
                    <a:pt x="63" y="63"/>
                    <a:pt x="60" y="64"/>
                    <a:pt x="57" y="64"/>
                  </a:cubicBezTo>
                  <a:cubicBezTo>
                    <a:pt x="43" y="64"/>
                    <a:pt x="33" y="54"/>
                    <a:pt x="33" y="43"/>
                  </a:cubicBezTo>
                  <a:cubicBezTo>
                    <a:pt x="33" y="31"/>
                    <a:pt x="43" y="22"/>
                    <a:pt x="57" y="22"/>
                  </a:cubicBezTo>
                  <a:cubicBezTo>
                    <a:pt x="70" y="22"/>
                    <a:pt x="82" y="31"/>
                    <a:pt x="82" y="43"/>
                  </a:cubicBezTo>
                  <a:cubicBezTo>
                    <a:pt x="82" y="49"/>
                    <a:pt x="78" y="55"/>
                    <a:pt x="72" y="60"/>
                  </a:cubicBezTo>
                  <a:close/>
                  <a:moveTo>
                    <a:pt x="40" y="12"/>
                  </a:moveTo>
                  <a:cubicBezTo>
                    <a:pt x="38" y="12"/>
                    <a:pt x="35" y="14"/>
                    <a:pt x="35" y="16"/>
                  </a:cubicBezTo>
                  <a:cubicBezTo>
                    <a:pt x="35" y="18"/>
                    <a:pt x="38" y="19"/>
                    <a:pt x="40" y="19"/>
                  </a:cubicBezTo>
                  <a:cubicBezTo>
                    <a:pt x="42" y="19"/>
                    <a:pt x="43" y="18"/>
                    <a:pt x="43" y="16"/>
                  </a:cubicBezTo>
                  <a:cubicBezTo>
                    <a:pt x="43" y="14"/>
                    <a:pt x="42" y="12"/>
                    <a:pt x="40" y="12"/>
                  </a:cubicBezTo>
                  <a:close/>
                  <a:moveTo>
                    <a:pt x="49" y="33"/>
                  </a:moveTo>
                  <a:cubicBezTo>
                    <a:pt x="48" y="33"/>
                    <a:pt x="46" y="35"/>
                    <a:pt x="46" y="36"/>
                  </a:cubicBezTo>
                  <a:cubicBezTo>
                    <a:pt x="46" y="38"/>
                    <a:pt x="48" y="39"/>
                    <a:pt x="49" y="39"/>
                  </a:cubicBezTo>
                  <a:cubicBezTo>
                    <a:pt x="51" y="39"/>
                    <a:pt x="53" y="38"/>
                    <a:pt x="53" y="36"/>
                  </a:cubicBezTo>
                  <a:cubicBezTo>
                    <a:pt x="53" y="35"/>
                    <a:pt x="51" y="33"/>
                    <a:pt x="49" y="33"/>
                  </a:cubicBezTo>
                  <a:close/>
                  <a:moveTo>
                    <a:pt x="65" y="33"/>
                  </a:moveTo>
                  <a:cubicBezTo>
                    <a:pt x="64" y="33"/>
                    <a:pt x="62" y="35"/>
                    <a:pt x="62" y="36"/>
                  </a:cubicBezTo>
                  <a:cubicBezTo>
                    <a:pt x="62" y="38"/>
                    <a:pt x="64" y="39"/>
                    <a:pt x="65" y="39"/>
                  </a:cubicBezTo>
                  <a:cubicBezTo>
                    <a:pt x="67" y="39"/>
                    <a:pt x="69" y="38"/>
                    <a:pt x="69" y="36"/>
                  </a:cubicBezTo>
                  <a:cubicBezTo>
                    <a:pt x="69" y="35"/>
                    <a:pt x="67" y="33"/>
                    <a:pt x="65" y="33"/>
                  </a:cubicBezTo>
                  <a:close/>
                </a:path>
              </a:pathLst>
            </a:custGeom>
            <a:solidFill>
              <a:srgbClr val="26323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26323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571553" y="2796357"/>
              <a:ext cx="338758" cy="286396"/>
            </a:xfrm>
            <a:custGeom>
              <a:rect b="b" l="l" r="r" t="t"/>
              <a:pathLst>
                <a:path extrusionOk="0" h="72" w="77">
                  <a:moveTo>
                    <a:pt x="77" y="16"/>
                  </a:moveTo>
                  <a:cubicBezTo>
                    <a:pt x="77" y="21"/>
                    <a:pt x="77" y="21"/>
                    <a:pt x="77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22"/>
                    <a:pt x="70" y="23"/>
                    <a:pt x="69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6" y="23"/>
                    <a:pt x="5" y="22"/>
                    <a:pt x="5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38" y="0"/>
                    <a:pt x="38" y="0"/>
                    <a:pt x="38" y="0"/>
                  </a:cubicBezTo>
                  <a:lnTo>
                    <a:pt x="77" y="16"/>
                  </a:lnTo>
                  <a:close/>
                  <a:moveTo>
                    <a:pt x="77" y="67"/>
                  </a:moveTo>
                  <a:cubicBezTo>
                    <a:pt x="77" y="72"/>
                    <a:pt x="77" y="72"/>
                    <a:pt x="77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66"/>
                    <a:pt x="1" y="65"/>
                    <a:pt x="3" y="65"/>
                  </a:cubicBezTo>
                  <a:cubicBezTo>
                    <a:pt x="74" y="65"/>
                    <a:pt x="74" y="65"/>
                    <a:pt x="74" y="65"/>
                  </a:cubicBezTo>
                  <a:cubicBezTo>
                    <a:pt x="76" y="65"/>
                    <a:pt x="77" y="66"/>
                    <a:pt x="77" y="67"/>
                  </a:cubicBezTo>
                  <a:close/>
                  <a:moveTo>
                    <a:pt x="20" y="26"/>
                  </a:moveTo>
                  <a:cubicBezTo>
                    <a:pt x="20" y="57"/>
                    <a:pt x="20" y="57"/>
                    <a:pt x="20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1" y="57"/>
                    <a:pt x="51" y="57"/>
                    <a:pt x="51" y="57"/>
                  </a:cubicBezTo>
                  <a:cubicBezTo>
                    <a:pt x="56" y="57"/>
                    <a:pt x="56" y="57"/>
                    <a:pt x="56" y="57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7" y="57"/>
                    <a:pt x="67" y="57"/>
                    <a:pt x="67" y="57"/>
                  </a:cubicBezTo>
                  <a:cubicBezTo>
                    <a:pt x="69" y="57"/>
                    <a:pt x="69" y="57"/>
                    <a:pt x="69" y="57"/>
                  </a:cubicBezTo>
                  <a:cubicBezTo>
                    <a:pt x="70" y="57"/>
                    <a:pt x="72" y="58"/>
                    <a:pt x="72" y="59"/>
                  </a:cubicBezTo>
                  <a:cubicBezTo>
                    <a:pt x="72" y="62"/>
                    <a:pt x="72" y="62"/>
                    <a:pt x="72" y="62"/>
                  </a:cubicBezTo>
                  <a:cubicBezTo>
                    <a:pt x="5" y="62"/>
                    <a:pt x="5" y="62"/>
                    <a:pt x="5" y="62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5" y="58"/>
                    <a:pt x="6" y="57"/>
                    <a:pt x="8" y="57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0" y="26"/>
                    <a:pt x="10" y="26"/>
                    <a:pt x="10" y="26"/>
                  </a:cubicBezTo>
                  <a:lnTo>
                    <a:pt x="20" y="26"/>
                  </a:lnTo>
                  <a:close/>
                </a:path>
              </a:pathLst>
            </a:custGeom>
            <a:solidFill>
              <a:srgbClr val="26323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26323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4"/>
            <p:cNvSpPr txBox="1"/>
            <p:nvPr/>
          </p:nvSpPr>
          <p:spPr>
            <a:xfrm>
              <a:off x="2463457" y="5606978"/>
              <a:ext cx="13743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C0D4"/>
                </a:buClr>
                <a:buSzPts val="2500"/>
                <a:buFont typeface="Arial"/>
                <a:buNone/>
              </a:pPr>
              <a:r>
                <a:rPr lang="en-US">
                  <a:solidFill>
                    <a:srgbClr val="26323E"/>
                  </a:solidFill>
                </a:rPr>
                <a:t>Total Residents </a:t>
              </a:r>
              <a:endParaRPr i="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290" name="Google Shape;290;p24"/>
            <p:cNvSpPr txBox="1"/>
            <p:nvPr/>
          </p:nvSpPr>
          <p:spPr>
            <a:xfrm>
              <a:off x="1199624" y="5569937"/>
              <a:ext cx="14493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C0D4"/>
                </a:buClr>
                <a:buSzPts val="6300"/>
                <a:buFont typeface="Arial"/>
                <a:buNone/>
              </a:pPr>
              <a:r>
                <a:rPr b="1" lang="en-US" sz="2000">
                  <a:solidFill>
                    <a:srgbClr val="510E7B"/>
                  </a:solidFill>
                  <a:highlight>
                    <a:schemeClr val="lt1"/>
                  </a:highlight>
                </a:rPr>
                <a:t>18,310,201</a:t>
              </a:r>
              <a:endParaRPr i="0" sz="100" u="none" cap="none" strike="noStrike">
                <a:solidFill>
                  <a:srgbClr val="510E7B"/>
                </a:solidFill>
                <a:highlight>
                  <a:schemeClr val="lt1"/>
                </a:highlight>
              </a:endParaRPr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379125" y="5375525"/>
              <a:ext cx="714300" cy="644700"/>
            </a:xfrm>
            <a:prstGeom prst="ellipse">
              <a:avLst/>
            </a:prstGeom>
            <a:solidFill>
              <a:srgbClr val="CBCAFF">
                <a:alpha val="47840"/>
              </a:srgbClr>
            </a:solidFill>
            <a:ln cap="flat" cmpd="sng" w="88900">
              <a:solidFill>
                <a:srgbClr val="510E7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2" name="Google Shape;292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3949" y="5425550"/>
              <a:ext cx="544650" cy="544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3" name="Google Shape;293;p24"/>
          <p:cNvSpPr txBox="1"/>
          <p:nvPr>
            <p:ph type="title"/>
          </p:nvPr>
        </p:nvSpPr>
        <p:spPr>
          <a:xfrm>
            <a:off x="124197" y="337875"/>
            <a:ext cx="11943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3"/>
                </a:solidFill>
              </a:rPr>
              <a:t>We received applications from 15 cities representing a combined population of ~18 million people</a:t>
            </a:r>
            <a:endParaRPr sz="3500">
              <a:solidFill>
                <a:schemeClr val="accent3"/>
              </a:solidFill>
            </a:endParaRPr>
          </a:p>
        </p:txBody>
      </p:sp>
      <p:grpSp>
        <p:nvGrpSpPr>
          <p:cNvPr id="294" name="Google Shape;294;p24"/>
          <p:cNvGrpSpPr/>
          <p:nvPr/>
        </p:nvGrpSpPr>
        <p:grpSpPr>
          <a:xfrm>
            <a:off x="3759850" y="1647759"/>
            <a:ext cx="4390900" cy="4343050"/>
            <a:chOff x="4217050" y="1800159"/>
            <a:chExt cx="4390900" cy="4343050"/>
          </a:xfrm>
        </p:grpSpPr>
        <p:pic>
          <p:nvPicPr>
            <p:cNvPr id="295" name="Google Shape;295;p24" title="Participating Cities.png"/>
            <p:cNvPicPr preferRelativeResize="0"/>
            <p:nvPr/>
          </p:nvPicPr>
          <p:blipFill rotWithShape="1">
            <a:blip r:embed="rId5">
              <a:alphaModFix/>
            </a:blip>
            <a:srcRect b="10169" l="0" r="1768" t="10692"/>
            <a:stretch/>
          </p:blipFill>
          <p:spPr>
            <a:xfrm>
              <a:off x="4217050" y="1800159"/>
              <a:ext cx="4164323" cy="4343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919625" y="5655254"/>
              <a:ext cx="1009830" cy="307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" name="Google Shape;297;p24"/>
            <p:cNvSpPr/>
            <p:nvPr/>
          </p:nvSpPr>
          <p:spPr>
            <a:xfrm>
              <a:off x="7233650" y="1846080"/>
              <a:ext cx="1374300" cy="36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" name="Google Shape;298;p24"/>
          <p:cNvGrpSpPr/>
          <p:nvPr/>
        </p:nvGrpSpPr>
        <p:grpSpPr>
          <a:xfrm>
            <a:off x="8183750" y="2011250"/>
            <a:ext cx="3731700" cy="3648975"/>
            <a:chOff x="8277825" y="2023725"/>
            <a:chExt cx="3731700" cy="3648975"/>
          </a:xfrm>
        </p:grpSpPr>
        <p:sp>
          <p:nvSpPr>
            <p:cNvPr id="299" name="Google Shape;299;p24"/>
            <p:cNvSpPr txBox="1"/>
            <p:nvPr/>
          </p:nvSpPr>
          <p:spPr>
            <a:xfrm>
              <a:off x="8277825" y="2420400"/>
              <a:ext cx="37317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Char char="●"/>
              </a:pPr>
              <a:r>
                <a:rPr b="1" lang="en-US">
                  <a:solidFill>
                    <a:schemeClr val="dk1"/>
                  </a:solidFill>
                </a:rPr>
                <a:t>Ethiopia</a:t>
              </a:r>
              <a:r>
                <a:rPr lang="en-US">
                  <a:solidFill>
                    <a:schemeClr val="dk1"/>
                  </a:solidFill>
                </a:rPr>
                <a:t> – Shaggar, Wolaita Sodo, Maya and </a:t>
              </a:r>
              <a:r>
                <a:rPr lang="en-US">
                  <a:solidFill>
                    <a:schemeClr val="dk1"/>
                  </a:solidFill>
                </a:rPr>
                <a:t>Gandor</a:t>
              </a:r>
              <a:endParaRPr>
                <a:solidFill>
                  <a:schemeClr val="dk1"/>
                </a:solidFill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Char char="●"/>
              </a:pPr>
              <a:r>
                <a:rPr b="1" lang="en-US">
                  <a:solidFill>
                    <a:schemeClr val="dk1"/>
                  </a:solidFill>
                </a:rPr>
                <a:t>Kenya</a:t>
              </a:r>
              <a:r>
                <a:rPr lang="en-US">
                  <a:solidFill>
                    <a:schemeClr val="dk1"/>
                  </a:solidFill>
                </a:rPr>
                <a:t> – Mombasa</a:t>
              </a:r>
              <a:endParaRPr>
                <a:solidFill>
                  <a:schemeClr val="dk1"/>
                </a:solidFill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Char char="●"/>
              </a:pPr>
              <a:r>
                <a:rPr b="1" lang="en-US">
                  <a:solidFill>
                    <a:schemeClr val="dk1"/>
                  </a:solidFill>
                </a:rPr>
                <a:t>Liberia</a:t>
              </a:r>
              <a:r>
                <a:rPr lang="en-US">
                  <a:solidFill>
                    <a:schemeClr val="dk1"/>
                  </a:solidFill>
                </a:rPr>
                <a:t> – Monrovia</a:t>
              </a:r>
              <a:endParaRPr b="1">
                <a:solidFill>
                  <a:schemeClr val="dk1"/>
                </a:solidFill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Char char="●"/>
              </a:pPr>
              <a:r>
                <a:rPr b="1" lang="en-US">
                  <a:solidFill>
                    <a:schemeClr val="dk1"/>
                  </a:solidFill>
                </a:rPr>
                <a:t>Senegal</a:t>
              </a:r>
              <a:r>
                <a:rPr lang="en-US">
                  <a:solidFill>
                    <a:schemeClr val="dk1"/>
                  </a:solidFill>
                </a:rPr>
                <a:t> – Keur Massar Nord</a:t>
              </a:r>
              <a:endParaRPr>
                <a:solidFill>
                  <a:schemeClr val="dk1"/>
                </a:solidFill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Char char="●"/>
              </a:pPr>
              <a:r>
                <a:rPr b="1" lang="en-US">
                  <a:solidFill>
                    <a:schemeClr val="dk1"/>
                  </a:solidFill>
                </a:rPr>
                <a:t>South Africa</a:t>
              </a:r>
              <a:r>
                <a:rPr lang="en-US">
                  <a:solidFill>
                    <a:schemeClr val="dk1"/>
                  </a:solidFill>
                </a:rPr>
                <a:t> – Johannesburg</a:t>
              </a:r>
              <a:endParaRPr>
                <a:solidFill>
                  <a:schemeClr val="dk1"/>
                </a:solidFill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Char char="●"/>
              </a:pPr>
              <a:r>
                <a:rPr b="1" lang="en-US">
                  <a:solidFill>
                    <a:schemeClr val="dk1"/>
                  </a:solidFill>
                </a:rPr>
                <a:t>The Gambia</a:t>
              </a:r>
              <a:r>
                <a:rPr lang="en-US">
                  <a:solidFill>
                    <a:schemeClr val="dk1"/>
                  </a:solidFill>
                </a:rPr>
                <a:t> – Banjul and Kanifing</a:t>
              </a:r>
              <a:endParaRPr>
                <a:solidFill>
                  <a:schemeClr val="dk1"/>
                </a:solidFill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Char char="●"/>
              </a:pPr>
              <a:r>
                <a:rPr b="1" lang="en-US">
                  <a:solidFill>
                    <a:schemeClr val="dk1"/>
                  </a:solidFill>
                </a:rPr>
                <a:t>Zambia</a:t>
              </a:r>
              <a:r>
                <a:rPr lang="en-US">
                  <a:solidFill>
                    <a:schemeClr val="dk1"/>
                  </a:solidFill>
                </a:rPr>
                <a:t> – Kasama, Chipata</a:t>
              </a:r>
              <a:endParaRPr>
                <a:solidFill>
                  <a:schemeClr val="dk1"/>
                </a:solidFill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Char char="●"/>
              </a:pPr>
              <a:r>
                <a:rPr b="1" lang="en-US">
                  <a:solidFill>
                    <a:schemeClr val="dk1"/>
                  </a:solidFill>
                </a:rPr>
                <a:t>Zimbabwe</a:t>
              </a:r>
              <a:r>
                <a:rPr lang="en-US">
                  <a:solidFill>
                    <a:schemeClr val="dk1"/>
                  </a:solidFill>
                </a:rPr>
                <a:t> – Harare and Chitungwiza</a:t>
              </a:r>
              <a:endParaRPr>
                <a:solidFill>
                  <a:schemeClr val="dk1"/>
                </a:solidFill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Clr>
                  <a:schemeClr val="dk1"/>
                </a:buClr>
                <a:buSzPts val="1400"/>
                <a:buChar char="●"/>
              </a:pPr>
              <a:r>
                <a:rPr b="1" lang="en-US">
                  <a:solidFill>
                    <a:schemeClr val="dk1"/>
                  </a:solidFill>
                </a:rPr>
                <a:t>Mozambique </a:t>
              </a:r>
              <a:r>
                <a:rPr lang="en-US">
                  <a:solidFill>
                    <a:schemeClr val="dk1"/>
                  </a:solidFill>
                </a:rPr>
                <a:t>– Matola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0" name="Google Shape;300;p24"/>
            <p:cNvSpPr txBox="1"/>
            <p:nvPr/>
          </p:nvSpPr>
          <p:spPr>
            <a:xfrm>
              <a:off x="8321025" y="2023725"/>
              <a:ext cx="3645300" cy="431100"/>
            </a:xfrm>
            <a:prstGeom prst="rect">
              <a:avLst/>
            </a:prstGeom>
            <a:solidFill>
              <a:srgbClr val="510E7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</a:rPr>
                <a:t> </a:t>
              </a:r>
              <a:r>
                <a:rPr b="1" lang="en-US" sz="1600">
                  <a:solidFill>
                    <a:schemeClr val="lt1"/>
                  </a:solidFill>
                </a:rPr>
                <a:t>AMALI</a:t>
              </a:r>
              <a:r>
                <a:rPr b="1" lang="en-US" sz="1600">
                  <a:solidFill>
                    <a:schemeClr val="lt1"/>
                  </a:solidFill>
                </a:rPr>
                <a:t> Data Programme Cities</a:t>
              </a:r>
              <a:endParaRPr sz="16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p25"/>
          <p:cNvSpPr txBox="1"/>
          <p:nvPr>
            <p:ph type="title"/>
          </p:nvPr>
        </p:nvSpPr>
        <p:spPr>
          <a:xfrm>
            <a:off x="124197" y="337875"/>
            <a:ext cx="11943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3"/>
                </a:solidFill>
              </a:rPr>
              <a:t>Legacy goals range across 4 key themes</a:t>
            </a:r>
            <a:endParaRPr sz="3500">
              <a:solidFill>
                <a:schemeClr val="accent3"/>
              </a:solidFill>
            </a:endParaRPr>
          </a:p>
        </p:txBody>
      </p:sp>
      <p:cxnSp>
        <p:nvCxnSpPr>
          <p:cNvPr id="308" name="Google Shape;308;p25"/>
          <p:cNvCxnSpPr/>
          <p:nvPr/>
        </p:nvCxnSpPr>
        <p:spPr>
          <a:xfrm>
            <a:off x="6081735" y="1499324"/>
            <a:ext cx="4500" cy="44097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25"/>
          <p:cNvSpPr/>
          <p:nvPr/>
        </p:nvSpPr>
        <p:spPr>
          <a:xfrm>
            <a:off x="249100" y="1567425"/>
            <a:ext cx="5631900" cy="4273500"/>
          </a:xfrm>
          <a:prstGeom prst="rect">
            <a:avLst/>
          </a:prstGeom>
          <a:solidFill>
            <a:srgbClr val="EFE6F9">
              <a:alpha val="4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5"/>
          <p:cNvSpPr txBox="1"/>
          <p:nvPr>
            <p:ph idx="2" type="body"/>
          </p:nvPr>
        </p:nvSpPr>
        <p:spPr>
          <a:xfrm>
            <a:off x="335150" y="1567425"/>
            <a:ext cx="5468100" cy="4273500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10E7B"/>
                </a:solidFill>
              </a:rPr>
              <a:t>47% of the cohort is focused on improving city service delivery in one of the following areas:</a:t>
            </a:r>
            <a:r>
              <a:rPr lang="en-US" sz="2400">
                <a:solidFill>
                  <a:srgbClr val="510E7B"/>
                </a:solidFill>
              </a:rPr>
              <a:t> </a:t>
            </a:r>
            <a:endParaRPr sz="2400">
              <a:solidFill>
                <a:srgbClr val="510E7B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10E7B"/>
              </a:buClr>
              <a:buSzPts val="2400"/>
              <a:buChar char="○"/>
            </a:pPr>
            <a:r>
              <a:rPr lang="en-US" sz="2400">
                <a:solidFill>
                  <a:srgbClr val="510E7B"/>
                </a:solidFill>
              </a:rPr>
              <a:t>Sanitation, </a:t>
            </a:r>
            <a:endParaRPr sz="2400">
              <a:solidFill>
                <a:srgbClr val="510E7B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10E7B"/>
              </a:buClr>
              <a:buSzPts val="2400"/>
              <a:buChar char="○"/>
            </a:pPr>
            <a:r>
              <a:rPr lang="en-US" sz="2400">
                <a:solidFill>
                  <a:srgbClr val="510E7B"/>
                </a:solidFill>
              </a:rPr>
              <a:t>Housing, </a:t>
            </a:r>
            <a:endParaRPr sz="2400">
              <a:solidFill>
                <a:srgbClr val="510E7B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10E7B"/>
              </a:buClr>
              <a:buSzPts val="2400"/>
              <a:buChar char="○"/>
            </a:pPr>
            <a:r>
              <a:rPr lang="en-US" sz="2400">
                <a:solidFill>
                  <a:srgbClr val="510E7B"/>
                </a:solidFill>
              </a:rPr>
              <a:t>Water, </a:t>
            </a:r>
            <a:endParaRPr sz="2400">
              <a:solidFill>
                <a:srgbClr val="510E7B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10E7B"/>
              </a:buClr>
              <a:buSzPts val="2400"/>
              <a:buChar char="○"/>
            </a:pPr>
            <a:r>
              <a:rPr lang="en-US" sz="2400">
                <a:solidFill>
                  <a:srgbClr val="510E7B"/>
                </a:solidFill>
              </a:rPr>
              <a:t>Cleaning &amp; Greening</a:t>
            </a:r>
            <a:endParaRPr sz="2400">
              <a:solidFill>
                <a:srgbClr val="510E7B"/>
              </a:solidFill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6286950" y="1567425"/>
            <a:ext cx="5631900" cy="4273500"/>
          </a:xfrm>
          <a:prstGeom prst="rect">
            <a:avLst/>
          </a:prstGeom>
          <a:solidFill>
            <a:srgbClr val="E1F4F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5"/>
          <p:cNvSpPr/>
          <p:nvPr/>
        </p:nvSpPr>
        <p:spPr>
          <a:xfrm>
            <a:off x="6457900" y="2121865"/>
            <a:ext cx="605700" cy="604500"/>
          </a:xfrm>
          <a:prstGeom prst="ellipse">
            <a:avLst/>
          </a:prstGeom>
          <a:solidFill>
            <a:srgbClr val="E1F4F1">
              <a:alpha val="20000"/>
            </a:srgbClr>
          </a:solidFill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5"/>
          <p:cNvSpPr txBox="1"/>
          <p:nvPr/>
        </p:nvSpPr>
        <p:spPr>
          <a:xfrm>
            <a:off x="7297705" y="2071650"/>
            <a:ext cx="41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C0D4"/>
              </a:buClr>
              <a:buSzPts val="6300"/>
              <a:buFont typeface="Arial"/>
              <a:buNone/>
            </a:pPr>
            <a:r>
              <a:rPr b="1" lang="en-US" sz="4000">
                <a:solidFill>
                  <a:schemeClr val="accent1"/>
                </a:solidFill>
              </a:rPr>
              <a:t>7</a:t>
            </a:r>
            <a:endParaRPr i="0" sz="40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14" name="Google Shape;314;p25"/>
          <p:cNvSpPr txBox="1"/>
          <p:nvPr/>
        </p:nvSpPr>
        <p:spPr>
          <a:xfrm>
            <a:off x="7728154" y="2010725"/>
            <a:ext cx="41907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C0D4"/>
              </a:buClr>
              <a:buSzPts val="2500"/>
              <a:buFont typeface="Arial"/>
              <a:buNone/>
            </a:pPr>
            <a:r>
              <a:rPr i="0" lang="en-US" sz="2400" u="none" cap="none" strike="noStrike">
                <a:solidFill>
                  <a:schemeClr val="accent1"/>
                </a:solidFill>
              </a:rPr>
              <a:t>on </a:t>
            </a:r>
            <a:r>
              <a:rPr b="1" lang="en-US" sz="2400">
                <a:solidFill>
                  <a:schemeClr val="accent1"/>
                </a:solidFill>
              </a:rPr>
              <a:t>Service Delivery </a:t>
            </a:r>
            <a:r>
              <a:rPr lang="en-US" sz="1300">
                <a:solidFill>
                  <a:schemeClr val="accent1"/>
                </a:solidFill>
              </a:rPr>
              <a:t>(cleaning &amp; greening, solid waste management, water, development, housing) </a:t>
            </a:r>
            <a:endParaRPr b="1" i="0" sz="13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6457900" y="3049085"/>
            <a:ext cx="605700" cy="604500"/>
          </a:xfrm>
          <a:prstGeom prst="ellipse">
            <a:avLst/>
          </a:prstGeom>
          <a:solidFill>
            <a:srgbClr val="E1F4F1">
              <a:alpha val="20000"/>
            </a:srgbClr>
          </a:solidFill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6457900" y="4007241"/>
            <a:ext cx="605700" cy="604500"/>
          </a:xfrm>
          <a:prstGeom prst="ellipse">
            <a:avLst/>
          </a:prstGeom>
          <a:solidFill>
            <a:srgbClr val="E1F4F1">
              <a:alpha val="20000"/>
            </a:srgbClr>
          </a:solidFill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6457900" y="4811347"/>
            <a:ext cx="605700" cy="604500"/>
          </a:xfrm>
          <a:prstGeom prst="ellipse">
            <a:avLst/>
          </a:prstGeom>
          <a:solidFill>
            <a:srgbClr val="E1F4F1">
              <a:alpha val="20000"/>
            </a:srgbClr>
          </a:solidFill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7239" y="2232631"/>
            <a:ext cx="386886" cy="38272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5"/>
          <p:cNvSpPr txBox="1"/>
          <p:nvPr/>
        </p:nvSpPr>
        <p:spPr>
          <a:xfrm>
            <a:off x="7297705" y="3045058"/>
            <a:ext cx="41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C0D4"/>
              </a:buClr>
              <a:buSzPts val="6300"/>
              <a:buFont typeface="Arial"/>
              <a:buNone/>
            </a:pPr>
            <a:r>
              <a:rPr b="1" lang="en-US" sz="4000">
                <a:solidFill>
                  <a:schemeClr val="accent1"/>
                </a:solidFill>
              </a:rPr>
              <a:t>5</a:t>
            </a:r>
            <a:endParaRPr i="0" sz="40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20" name="Google Shape;320;p25"/>
          <p:cNvSpPr txBox="1"/>
          <p:nvPr/>
        </p:nvSpPr>
        <p:spPr>
          <a:xfrm>
            <a:off x="7683700" y="2930943"/>
            <a:ext cx="42798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C0D4"/>
              </a:buClr>
              <a:buSzPts val="2500"/>
              <a:buFont typeface="Arial"/>
              <a:buNone/>
            </a:pPr>
            <a:r>
              <a:rPr i="0" lang="en-US" sz="2400" u="none" cap="none" strike="noStrike">
                <a:solidFill>
                  <a:schemeClr val="accent1"/>
                </a:solidFill>
              </a:rPr>
              <a:t>on </a:t>
            </a:r>
            <a:r>
              <a:rPr b="1" lang="en-US" sz="2400">
                <a:solidFill>
                  <a:schemeClr val="accent1"/>
                </a:solidFill>
              </a:rPr>
              <a:t>Urban Infrastructure </a:t>
            </a:r>
            <a:r>
              <a:rPr lang="en-US" sz="1300">
                <a:solidFill>
                  <a:schemeClr val="accent1"/>
                </a:solidFill>
              </a:rPr>
              <a:t>(solar lighting, sewer system, renewable energy, road safety, storm water)</a:t>
            </a:r>
            <a:r>
              <a:rPr b="1" lang="en-US" sz="2400">
                <a:solidFill>
                  <a:schemeClr val="accent1"/>
                </a:solidFill>
              </a:rPr>
              <a:t>  </a:t>
            </a:r>
            <a:endParaRPr b="1" i="0" sz="24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21" name="Google Shape;321;p25"/>
          <p:cNvSpPr txBox="1"/>
          <p:nvPr/>
        </p:nvSpPr>
        <p:spPr>
          <a:xfrm>
            <a:off x="7297705" y="4001702"/>
            <a:ext cx="41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C0D4"/>
              </a:buClr>
              <a:buSzPts val="6300"/>
              <a:buFont typeface="Arial"/>
              <a:buNone/>
            </a:pPr>
            <a:r>
              <a:rPr b="1" lang="en-US" sz="4000">
                <a:solidFill>
                  <a:schemeClr val="accent1"/>
                </a:solidFill>
              </a:rPr>
              <a:t>1</a:t>
            </a:r>
            <a:endParaRPr b="1" i="0" sz="40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7728143" y="4124659"/>
            <a:ext cx="393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C0D4"/>
              </a:buClr>
              <a:buSzPts val="2500"/>
              <a:buFont typeface="Arial"/>
              <a:buNone/>
            </a:pPr>
            <a:r>
              <a:rPr lang="en-US" sz="2400">
                <a:solidFill>
                  <a:schemeClr val="accent1"/>
                </a:solidFill>
              </a:rPr>
              <a:t>on </a:t>
            </a:r>
            <a:r>
              <a:rPr b="1" lang="en-US" sz="2400">
                <a:solidFill>
                  <a:schemeClr val="accent1"/>
                </a:solidFill>
              </a:rPr>
              <a:t>Civic Engagement</a:t>
            </a:r>
            <a:endParaRPr b="1" i="0" sz="24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23" name="Google Shape;323;p25"/>
          <p:cNvSpPr txBox="1"/>
          <p:nvPr/>
        </p:nvSpPr>
        <p:spPr>
          <a:xfrm>
            <a:off x="7297705" y="4805808"/>
            <a:ext cx="41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C0D4"/>
              </a:buClr>
              <a:buSzPts val="6300"/>
              <a:buFont typeface="Arial"/>
              <a:buNone/>
            </a:pPr>
            <a:r>
              <a:rPr b="1" lang="en-US" sz="4000">
                <a:solidFill>
                  <a:schemeClr val="accent1"/>
                </a:solidFill>
              </a:rPr>
              <a:t>2</a:t>
            </a:r>
            <a:endParaRPr i="0" sz="40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24" name="Google Shape;324;p25"/>
          <p:cNvSpPr txBox="1"/>
          <p:nvPr/>
        </p:nvSpPr>
        <p:spPr>
          <a:xfrm>
            <a:off x="7728161" y="4928950"/>
            <a:ext cx="393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C0D4"/>
              </a:buClr>
              <a:buSzPts val="2500"/>
              <a:buFont typeface="Arial"/>
              <a:buNone/>
            </a:pPr>
            <a:r>
              <a:rPr i="0" lang="en-US" sz="2400" u="none" cap="none" strike="noStrike">
                <a:solidFill>
                  <a:schemeClr val="accent1"/>
                </a:solidFill>
              </a:rPr>
              <a:t>on </a:t>
            </a:r>
            <a:r>
              <a:rPr b="1" i="0" lang="en-US" sz="2400" u="none" cap="none" strike="noStrike">
                <a:solidFill>
                  <a:schemeClr val="accent1"/>
                </a:solidFill>
              </a:rPr>
              <a:t>Youth </a:t>
            </a:r>
            <a:r>
              <a:rPr b="1" lang="en-US" sz="2400">
                <a:solidFill>
                  <a:schemeClr val="accent1"/>
                </a:solidFill>
              </a:rPr>
              <a:t>Opportunities</a:t>
            </a:r>
            <a:r>
              <a:rPr lang="en-US" sz="2400">
                <a:solidFill>
                  <a:schemeClr val="accent1"/>
                </a:solidFill>
              </a:rPr>
              <a:t> </a:t>
            </a:r>
            <a:endParaRPr b="1" i="0" sz="2400" u="none" cap="none" strike="noStrike">
              <a:solidFill>
                <a:schemeClr val="accent1"/>
              </a:solidFill>
            </a:endParaRPr>
          </a:p>
        </p:txBody>
      </p:sp>
      <p:pic>
        <p:nvPicPr>
          <p:cNvPr id="325" name="Google Shape;325;p25"/>
          <p:cNvPicPr preferRelativeResize="0"/>
          <p:nvPr/>
        </p:nvPicPr>
        <p:blipFill rotWithShape="1">
          <a:blip r:embed="rId4">
            <a:alphaModFix/>
          </a:blip>
          <a:srcRect b="0" l="1923" r="1914" t="0"/>
          <a:stretch/>
        </p:blipFill>
        <p:spPr>
          <a:xfrm>
            <a:off x="6581737" y="3175299"/>
            <a:ext cx="355461" cy="351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5"/>
          <p:cNvPicPr preferRelativeResize="0"/>
          <p:nvPr/>
        </p:nvPicPr>
        <p:blipFill rotWithShape="1">
          <a:blip r:embed="rId5">
            <a:alphaModFix/>
          </a:blip>
          <a:srcRect b="0" l="6415" r="6424" t="0"/>
          <a:stretch/>
        </p:blipFill>
        <p:spPr>
          <a:xfrm>
            <a:off x="6562379" y="4124915"/>
            <a:ext cx="371316" cy="368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9386" y="4945898"/>
            <a:ext cx="337338" cy="335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"/>
          <p:cNvSpPr txBox="1"/>
          <p:nvPr>
            <p:ph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chemeClr val="accent3"/>
                </a:solidFill>
              </a:rPr>
              <a:t>Welcome to the AMALI Data Programme</a:t>
            </a:r>
            <a:endParaRPr sz="3500">
              <a:solidFill>
                <a:schemeClr val="accent3"/>
              </a:solidFill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968418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5" name="Google Shape;335;p26"/>
          <p:cNvSpPr txBox="1"/>
          <p:nvPr/>
        </p:nvSpPr>
        <p:spPr>
          <a:xfrm>
            <a:off x="1073416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6" name="Google Shape;336;p26"/>
          <p:cNvSpPr/>
          <p:nvPr/>
        </p:nvSpPr>
        <p:spPr>
          <a:xfrm>
            <a:off x="1917567" y="26354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7" name="Google Shape;337;p26"/>
          <p:cNvSpPr txBox="1"/>
          <p:nvPr/>
        </p:nvSpPr>
        <p:spPr>
          <a:xfrm>
            <a:off x="676667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</a:rPr>
              <a:t>1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2817943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9" name="Google Shape;339;p26"/>
          <p:cNvSpPr txBox="1"/>
          <p:nvPr/>
        </p:nvSpPr>
        <p:spPr>
          <a:xfrm>
            <a:off x="2922941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40" name="Google Shape;340;p26"/>
          <p:cNvSpPr txBox="1"/>
          <p:nvPr/>
        </p:nvSpPr>
        <p:spPr>
          <a:xfrm>
            <a:off x="2526192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2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4667593" y="223347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42" name="Google Shape;342;p26"/>
          <p:cNvSpPr txBox="1"/>
          <p:nvPr/>
        </p:nvSpPr>
        <p:spPr>
          <a:xfrm>
            <a:off x="4772591" y="244837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43" name="Google Shape;343;p26"/>
          <p:cNvSpPr txBox="1"/>
          <p:nvPr/>
        </p:nvSpPr>
        <p:spPr>
          <a:xfrm>
            <a:off x="4375842" y="232569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2"/>
                </a:solidFill>
              </a:rPr>
              <a:t>3</a:t>
            </a:r>
            <a:endParaRPr b="1" i="0" sz="3200" u="none" cap="none" strike="noStrike">
              <a:solidFill>
                <a:schemeClr val="accent2"/>
              </a:solidFill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6517531" y="223347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45" name="Google Shape;345;p26"/>
          <p:cNvSpPr txBox="1"/>
          <p:nvPr/>
        </p:nvSpPr>
        <p:spPr>
          <a:xfrm>
            <a:off x="6622528" y="244837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6225779" y="232569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4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8306318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48" name="Google Shape;348;p26"/>
          <p:cNvSpPr txBox="1"/>
          <p:nvPr/>
        </p:nvSpPr>
        <p:spPr>
          <a:xfrm>
            <a:off x="8411316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49" name="Google Shape;349;p26"/>
          <p:cNvSpPr txBox="1"/>
          <p:nvPr/>
        </p:nvSpPr>
        <p:spPr>
          <a:xfrm>
            <a:off x="8014567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5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10233718" y="2233490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51" name="Google Shape;351;p26"/>
          <p:cNvSpPr txBox="1"/>
          <p:nvPr/>
        </p:nvSpPr>
        <p:spPr>
          <a:xfrm>
            <a:off x="10338716" y="2448383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52" name="Google Shape;352;p26"/>
          <p:cNvSpPr txBox="1"/>
          <p:nvPr/>
        </p:nvSpPr>
        <p:spPr>
          <a:xfrm>
            <a:off x="9941967" y="2325705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6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3743054" y="26354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5625367" y="2635417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7417641" y="26190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9292567" y="26190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421375" y="3170650"/>
            <a:ext cx="1886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Introductions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242977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Welcome to 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the ADP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434802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2"/>
                </a:solidFill>
              </a:rPr>
              <a:t>The ADP journey</a:t>
            </a:r>
            <a:endParaRPr b="1" sz="19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2"/>
              </a:solidFill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6129475" y="31706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Partnership logistics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7918275" y="3191350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Preparing for the 1st site 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visit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994422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Discussion &amp; What’s Next?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7"/>
          <p:cNvSpPr/>
          <p:nvPr/>
        </p:nvSpPr>
        <p:spPr>
          <a:xfrm>
            <a:off x="8348375" y="437025"/>
            <a:ext cx="3529800" cy="5378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9" name="Google Shape;369;p27" title="2025-01-27 12.29.25.jpg"/>
          <p:cNvPicPr preferRelativeResize="0"/>
          <p:nvPr/>
        </p:nvPicPr>
        <p:blipFill rotWithShape="1">
          <a:blip r:embed="rId4">
            <a:alphaModFix/>
          </a:blip>
          <a:srcRect b="32219" l="22615" r="3431" t="8062"/>
          <a:stretch/>
        </p:blipFill>
        <p:spPr>
          <a:xfrm>
            <a:off x="226375" y="415663"/>
            <a:ext cx="8037776" cy="53788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70" name="Google Shape;370;p27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" name="Google Shape;371;p27"/>
          <p:cNvSpPr txBox="1"/>
          <p:nvPr>
            <p:ph type="title"/>
          </p:nvPr>
        </p:nvSpPr>
        <p:spPr>
          <a:xfrm>
            <a:off x="8463625" y="437025"/>
            <a:ext cx="3417600" cy="124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DEA5"/>
                </a:solidFill>
              </a:rPr>
              <a:t>Mayor</a:t>
            </a:r>
            <a:r>
              <a:rPr lang="en-US" sz="3500">
                <a:solidFill>
                  <a:srgbClr val="FFDEA5"/>
                </a:solidFill>
              </a:rPr>
              <a:t> Morero’s goal </a:t>
            </a:r>
            <a:endParaRPr sz="3500">
              <a:solidFill>
                <a:srgbClr val="FFDEA5"/>
              </a:solidFill>
            </a:endParaRPr>
          </a:p>
        </p:txBody>
      </p:sp>
      <p:sp>
        <p:nvSpPr>
          <p:cNvPr id="372" name="Google Shape;372;p27"/>
          <p:cNvSpPr txBox="1"/>
          <p:nvPr>
            <p:ph type="title"/>
          </p:nvPr>
        </p:nvSpPr>
        <p:spPr>
          <a:xfrm>
            <a:off x="8376425" y="2221950"/>
            <a:ext cx="3473700" cy="241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-US" sz="2950">
                <a:solidFill>
                  <a:schemeClr val="lt1"/>
                </a:solidFill>
              </a:rPr>
              <a:t>T</a:t>
            </a:r>
            <a:r>
              <a:rPr b="0" lang="en-US" sz="2950">
                <a:solidFill>
                  <a:schemeClr val="lt1"/>
                </a:solidFill>
              </a:rPr>
              <a:t>o reclaim, restore and rebuild the inner city of Johannesburg (city centre) by 2026</a:t>
            </a:r>
            <a:endParaRPr b="0" sz="29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"/>
          <p:cNvSpPr/>
          <p:nvPr/>
        </p:nvSpPr>
        <p:spPr>
          <a:xfrm>
            <a:off x="6338817" y="2334944"/>
            <a:ext cx="645352" cy="592491"/>
          </a:xfrm>
          <a:custGeom>
            <a:rect b="b" l="l" r="r" t="t"/>
            <a:pathLst>
              <a:path extrusionOk="0" h="524" w="588">
                <a:moveTo>
                  <a:pt x="559" y="431"/>
                </a:moveTo>
                <a:lnTo>
                  <a:pt x="559" y="431"/>
                </a:lnTo>
                <a:cubicBezTo>
                  <a:pt x="417" y="431"/>
                  <a:pt x="417" y="431"/>
                  <a:pt x="417" y="431"/>
                </a:cubicBezTo>
                <a:cubicBezTo>
                  <a:pt x="382" y="431"/>
                  <a:pt x="382" y="431"/>
                  <a:pt x="382" y="431"/>
                </a:cubicBezTo>
                <a:cubicBezTo>
                  <a:pt x="382" y="480"/>
                  <a:pt x="382" y="480"/>
                  <a:pt x="382" y="480"/>
                </a:cubicBezTo>
                <a:cubicBezTo>
                  <a:pt x="417" y="516"/>
                  <a:pt x="417" y="516"/>
                  <a:pt x="417" y="516"/>
                </a:cubicBezTo>
                <a:cubicBezTo>
                  <a:pt x="417" y="523"/>
                  <a:pt x="417" y="523"/>
                  <a:pt x="417" y="523"/>
                </a:cubicBezTo>
                <a:cubicBezTo>
                  <a:pt x="170" y="523"/>
                  <a:pt x="170" y="523"/>
                  <a:pt x="170" y="523"/>
                </a:cubicBezTo>
                <a:cubicBezTo>
                  <a:pt x="170" y="516"/>
                  <a:pt x="170" y="516"/>
                  <a:pt x="170" y="516"/>
                </a:cubicBezTo>
                <a:cubicBezTo>
                  <a:pt x="212" y="480"/>
                  <a:pt x="212" y="480"/>
                  <a:pt x="212" y="480"/>
                </a:cubicBezTo>
                <a:cubicBezTo>
                  <a:pt x="212" y="431"/>
                  <a:pt x="212" y="431"/>
                  <a:pt x="212" y="431"/>
                </a:cubicBezTo>
                <a:cubicBezTo>
                  <a:pt x="170" y="431"/>
                  <a:pt x="170" y="431"/>
                  <a:pt x="170" y="431"/>
                </a:cubicBezTo>
                <a:cubicBezTo>
                  <a:pt x="29" y="431"/>
                  <a:pt x="29" y="431"/>
                  <a:pt x="29" y="431"/>
                </a:cubicBezTo>
                <a:cubicBezTo>
                  <a:pt x="15" y="431"/>
                  <a:pt x="0" y="417"/>
                  <a:pt x="0" y="403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7"/>
                  <a:pt x="15" y="0"/>
                  <a:pt x="29" y="0"/>
                </a:cubicBezTo>
                <a:cubicBezTo>
                  <a:pt x="559" y="0"/>
                  <a:pt x="559" y="0"/>
                  <a:pt x="559" y="0"/>
                </a:cubicBezTo>
                <a:cubicBezTo>
                  <a:pt x="573" y="0"/>
                  <a:pt x="587" y="7"/>
                  <a:pt x="587" y="28"/>
                </a:cubicBezTo>
                <a:cubicBezTo>
                  <a:pt x="587" y="403"/>
                  <a:pt x="587" y="403"/>
                  <a:pt x="587" y="403"/>
                </a:cubicBezTo>
                <a:cubicBezTo>
                  <a:pt x="587" y="417"/>
                  <a:pt x="573" y="431"/>
                  <a:pt x="559" y="431"/>
                </a:cubicBezTo>
                <a:close/>
                <a:moveTo>
                  <a:pt x="552" y="35"/>
                </a:moveTo>
                <a:lnTo>
                  <a:pt x="552" y="35"/>
                </a:lnTo>
                <a:cubicBezTo>
                  <a:pt x="43" y="35"/>
                  <a:pt x="43" y="35"/>
                  <a:pt x="43" y="35"/>
                </a:cubicBezTo>
                <a:cubicBezTo>
                  <a:pt x="43" y="353"/>
                  <a:pt x="43" y="353"/>
                  <a:pt x="43" y="353"/>
                </a:cubicBezTo>
                <a:cubicBezTo>
                  <a:pt x="552" y="353"/>
                  <a:pt x="552" y="353"/>
                  <a:pt x="552" y="353"/>
                </a:cubicBezTo>
                <a:lnTo>
                  <a:pt x="552" y="35"/>
                </a:lnTo>
                <a:close/>
              </a:path>
            </a:pathLst>
          </a:custGeom>
          <a:noFill/>
          <a:ln cap="flat" cmpd="sng" w="9525">
            <a:solidFill>
              <a:srgbClr val="510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8"/>
          <p:cNvSpPr txBox="1"/>
          <p:nvPr>
            <p:ph type="title"/>
          </p:nvPr>
        </p:nvSpPr>
        <p:spPr>
          <a:xfrm>
            <a:off x="290900" y="365825"/>
            <a:ext cx="11734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>
                <a:solidFill>
                  <a:schemeClr val="accent3"/>
                </a:solidFill>
              </a:rPr>
              <a:t>Engagement journey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379" name="Google Shape;379;p28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" name="Google Shape;380;p28"/>
          <p:cNvSpPr/>
          <p:nvPr/>
        </p:nvSpPr>
        <p:spPr>
          <a:xfrm>
            <a:off x="2961649" y="3097321"/>
            <a:ext cx="667200" cy="636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81" name="Google Shape;381;p28"/>
          <p:cNvSpPr txBox="1"/>
          <p:nvPr/>
        </p:nvSpPr>
        <p:spPr>
          <a:xfrm>
            <a:off x="2873625" y="3101650"/>
            <a:ext cx="8295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</a:rPr>
              <a:t>April </a:t>
            </a:r>
            <a:endParaRPr b="1" i="0" sz="10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4077307" y="3097321"/>
            <a:ext cx="667200" cy="636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6325838" y="3097321"/>
            <a:ext cx="667200" cy="636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84" name="Google Shape;384;p28"/>
          <p:cNvSpPr txBox="1"/>
          <p:nvPr/>
        </p:nvSpPr>
        <p:spPr>
          <a:xfrm>
            <a:off x="6320125" y="3091921"/>
            <a:ext cx="6774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accent1"/>
                </a:solidFill>
              </a:rPr>
              <a:t>Aug </a:t>
            </a:r>
            <a:endParaRPr b="1" sz="1000">
              <a:solidFill>
                <a:schemeClr val="accent1"/>
              </a:solidFill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7432635" y="3097321"/>
            <a:ext cx="667200" cy="636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86" name="Google Shape;386;p28"/>
          <p:cNvSpPr txBox="1"/>
          <p:nvPr/>
        </p:nvSpPr>
        <p:spPr>
          <a:xfrm>
            <a:off x="7427788" y="3202171"/>
            <a:ext cx="6774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</a:rPr>
              <a:t>Sept </a:t>
            </a:r>
            <a:endParaRPr b="1" i="0" sz="10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1418415" y="3395671"/>
            <a:ext cx="340500" cy="39300"/>
          </a:xfrm>
          <a:prstGeom prst="roundRect">
            <a:avLst>
              <a:gd fmla="val 50000" name="adj"/>
            </a:avLst>
          </a:prstGeom>
          <a:solidFill>
            <a:srgbClr val="007479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689406" y="3097321"/>
            <a:ext cx="667200" cy="636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89" name="Google Shape;389;p28"/>
          <p:cNvSpPr txBox="1"/>
          <p:nvPr/>
        </p:nvSpPr>
        <p:spPr>
          <a:xfrm>
            <a:off x="700475" y="3102700"/>
            <a:ext cx="6447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</a:rPr>
              <a:t>Feb</a:t>
            </a:r>
            <a:endParaRPr b="1" i="0" sz="10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1820494" y="3097321"/>
            <a:ext cx="667200" cy="636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91" name="Google Shape;391;p28"/>
          <p:cNvSpPr txBox="1"/>
          <p:nvPr/>
        </p:nvSpPr>
        <p:spPr>
          <a:xfrm>
            <a:off x="1822425" y="3096850"/>
            <a:ext cx="6774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</a:rPr>
              <a:t>March </a:t>
            </a:r>
            <a:endParaRPr b="1" i="0" sz="10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92" name="Google Shape;392;p28"/>
          <p:cNvSpPr txBox="1"/>
          <p:nvPr/>
        </p:nvSpPr>
        <p:spPr>
          <a:xfrm>
            <a:off x="4003275" y="3119975"/>
            <a:ext cx="8295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</a:rPr>
              <a:t>May </a:t>
            </a:r>
            <a:endParaRPr b="1" i="0" sz="10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8540176" y="3097321"/>
            <a:ext cx="667200" cy="636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94" name="Google Shape;394;p28"/>
          <p:cNvSpPr txBox="1"/>
          <p:nvPr/>
        </p:nvSpPr>
        <p:spPr>
          <a:xfrm>
            <a:off x="8566013" y="3207121"/>
            <a:ext cx="6165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</a:rPr>
              <a:t>Oct</a:t>
            </a:r>
            <a:endParaRPr b="1" i="0" sz="10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9684993" y="3097321"/>
            <a:ext cx="667200" cy="636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96" name="Google Shape;396;p28"/>
          <p:cNvSpPr txBox="1"/>
          <p:nvPr/>
        </p:nvSpPr>
        <p:spPr>
          <a:xfrm>
            <a:off x="9680125" y="3119071"/>
            <a:ext cx="6774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</a:rPr>
              <a:t>Nov </a:t>
            </a:r>
            <a:endParaRPr b="1" i="0" sz="10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97" name="Google Shape;397;p28"/>
          <p:cNvSpPr/>
          <p:nvPr/>
        </p:nvSpPr>
        <p:spPr>
          <a:xfrm>
            <a:off x="2561390" y="3395671"/>
            <a:ext cx="340500" cy="39300"/>
          </a:xfrm>
          <a:prstGeom prst="roundRect">
            <a:avLst>
              <a:gd fmla="val 50000" name="adj"/>
            </a:avLst>
          </a:prstGeom>
          <a:solidFill>
            <a:srgbClr val="007479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8"/>
          <p:cNvSpPr/>
          <p:nvPr/>
        </p:nvSpPr>
        <p:spPr>
          <a:xfrm>
            <a:off x="3683965" y="3395671"/>
            <a:ext cx="340500" cy="39300"/>
          </a:xfrm>
          <a:prstGeom prst="roundRect">
            <a:avLst>
              <a:gd fmla="val 50000" name="adj"/>
            </a:avLst>
          </a:prstGeom>
          <a:solidFill>
            <a:srgbClr val="007479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8"/>
          <p:cNvSpPr/>
          <p:nvPr/>
        </p:nvSpPr>
        <p:spPr>
          <a:xfrm>
            <a:off x="5220751" y="3097321"/>
            <a:ext cx="667200" cy="636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00" name="Google Shape;400;p28"/>
          <p:cNvSpPr txBox="1"/>
          <p:nvPr/>
        </p:nvSpPr>
        <p:spPr>
          <a:xfrm>
            <a:off x="5220750" y="3092525"/>
            <a:ext cx="6672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accent1"/>
                </a:solidFill>
              </a:rPr>
              <a:t>Jun / Jul</a:t>
            </a:r>
            <a:r>
              <a:rPr b="1" i="0" lang="en-US" sz="1000" u="none" cap="none" strike="noStrike">
                <a:solidFill>
                  <a:schemeClr val="accent1"/>
                </a:solidFill>
              </a:rPr>
              <a:t> </a:t>
            </a:r>
            <a:endParaRPr b="1" i="0" sz="1000" u="none" cap="none" strike="noStrike">
              <a:solidFill>
                <a:schemeClr val="accent1"/>
              </a:solidFill>
            </a:endParaRPr>
          </a:p>
        </p:txBody>
      </p:sp>
      <p:sp>
        <p:nvSpPr>
          <p:cNvPr id="401" name="Google Shape;401;p28"/>
          <p:cNvSpPr/>
          <p:nvPr/>
        </p:nvSpPr>
        <p:spPr>
          <a:xfrm>
            <a:off x="4806565" y="3395671"/>
            <a:ext cx="340500" cy="39300"/>
          </a:xfrm>
          <a:prstGeom prst="roundRect">
            <a:avLst>
              <a:gd fmla="val 50000" name="adj"/>
            </a:avLst>
          </a:prstGeom>
          <a:solidFill>
            <a:srgbClr val="007479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8"/>
          <p:cNvSpPr/>
          <p:nvPr/>
        </p:nvSpPr>
        <p:spPr>
          <a:xfrm>
            <a:off x="5937115" y="3395671"/>
            <a:ext cx="340500" cy="39300"/>
          </a:xfrm>
          <a:prstGeom prst="roundRect">
            <a:avLst>
              <a:gd fmla="val 50000" name="adj"/>
            </a:avLst>
          </a:prstGeom>
          <a:solidFill>
            <a:srgbClr val="007479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8"/>
          <p:cNvSpPr/>
          <p:nvPr/>
        </p:nvSpPr>
        <p:spPr>
          <a:xfrm>
            <a:off x="7040027" y="3395671"/>
            <a:ext cx="340500" cy="39300"/>
          </a:xfrm>
          <a:prstGeom prst="roundRect">
            <a:avLst>
              <a:gd fmla="val 50000" name="adj"/>
            </a:avLst>
          </a:prstGeom>
          <a:solidFill>
            <a:srgbClr val="007479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8"/>
          <p:cNvSpPr/>
          <p:nvPr/>
        </p:nvSpPr>
        <p:spPr>
          <a:xfrm>
            <a:off x="8152427" y="3395671"/>
            <a:ext cx="340500" cy="39300"/>
          </a:xfrm>
          <a:prstGeom prst="roundRect">
            <a:avLst>
              <a:gd fmla="val 50000" name="adj"/>
            </a:avLst>
          </a:prstGeom>
          <a:solidFill>
            <a:srgbClr val="007479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8"/>
          <p:cNvSpPr/>
          <p:nvPr/>
        </p:nvSpPr>
        <p:spPr>
          <a:xfrm>
            <a:off x="9273502" y="3395671"/>
            <a:ext cx="340500" cy="39300"/>
          </a:xfrm>
          <a:prstGeom prst="roundRect">
            <a:avLst>
              <a:gd fmla="val 50000" name="adj"/>
            </a:avLst>
          </a:prstGeom>
          <a:solidFill>
            <a:srgbClr val="007479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8"/>
          <p:cNvSpPr/>
          <p:nvPr/>
        </p:nvSpPr>
        <p:spPr>
          <a:xfrm>
            <a:off x="10423652" y="3395671"/>
            <a:ext cx="340500" cy="39300"/>
          </a:xfrm>
          <a:prstGeom prst="roundRect">
            <a:avLst>
              <a:gd fmla="val 50000" name="adj"/>
            </a:avLst>
          </a:prstGeom>
          <a:solidFill>
            <a:srgbClr val="007479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8"/>
          <p:cNvSpPr/>
          <p:nvPr/>
        </p:nvSpPr>
        <p:spPr>
          <a:xfrm>
            <a:off x="10835143" y="3097321"/>
            <a:ext cx="667200" cy="636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08" name="Google Shape;408;p28"/>
          <p:cNvSpPr txBox="1"/>
          <p:nvPr/>
        </p:nvSpPr>
        <p:spPr>
          <a:xfrm>
            <a:off x="10830275" y="3136021"/>
            <a:ext cx="677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accent1"/>
                </a:solidFill>
              </a:rPr>
              <a:t>Dec</a:t>
            </a:r>
            <a:r>
              <a:rPr b="1" i="0" lang="en-US" sz="1000" u="none" cap="none" strike="noStrike">
                <a:solidFill>
                  <a:schemeClr val="accent1"/>
                </a:solidFill>
              </a:rPr>
              <a:t> </a:t>
            </a:r>
            <a:endParaRPr b="1" i="0" sz="1000" u="none" cap="none" strike="noStrike">
              <a:solidFill>
                <a:schemeClr val="accent1"/>
              </a:solidFill>
            </a:endParaRPr>
          </a:p>
        </p:txBody>
      </p:sp>
      <p:sp>
        <p:nvSpPr>
          <p:cNvPr id="409" name="Google Shape;409;p28"/>
          <p:cNvSpPr txBox="1"/>
          <p:nvPr/>
        </p:nvSpPr>
        <p:spPr>
          <a:xfrm>
            <a:off x="2715038" y="3660639"/>
            <a:ext cx="11604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000">
                <a:solidFill>
                  <a:schemeClr val="accent1"/>
                </a:solidFill>
              </a:rPr>
              <a:t>City selection and notification</a:t>
            </a:r>
            <a:endParaRPr b="1" sz="1000">
              <a:solidFill>
                <a:schemeClr val="accent1"/>
              </a:solidFill>
            </a:endParaRPr>
          </a:p>
        </p:txBody>
      </p:sp>
      <p:sp>
        <p:nvSpPr>
          <p:cNvPr id="410" name="Google Shape;410;p28"/>
          <p:cNvSpPr txBox="1"/>
          <p:nvPr/>
        </p:nvSpPr>
        <p:spPr>
          <a:xfrm>
            <a:off x="335863" y="3660639"/>
            <a:ext cx="13743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</a:rPr>
              <a:t>Application </a:t>
            </a:r>
            <a:endParaRPr b="1" i="0" sz="1000" u="none" cap="none" strike="noStrike">
              <a:solidFill>
                <a:schemeClr val="accent1"/>
              </a:solidFill>
            </a:endParaRPr>
          </a:p>
        </p:txBody>
      </p:sp>
      <p:sp>
        <p:nvSpPr>
          <p:cNvPr id="411" name="Google Shape;411;p28"/>
          <p:cNvSpPr txBox="1"/>
          <p:nvPr/>
        </p:nvSpPr>
        <p:spPr>
          <a:xfrm>
            <a:off x="1425500" y="3660639"/>
            <a:ext cx="14712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000">
                <a:solidFill>
                  <a:schemeClr val="accent1"/>
                </a:solidFill>
              </a:rPr>
              <a:t>Informational Interviews </a:t>
            </a:r>
            <a:endParaRPr b="1" i="0" sz="1000" u="none" cap="none" strike="noStrike">
              <a:solidFill>
                <a:schemeClr val="accent1"/>
              </a:solidFill>
            </a:endParaRPr>
          </a:p>
        </p:txBody>
      </p:sp>
      <p:sp>
        <p:nvSpPr>
          <p:cNvPr id="412" name="Google Shape;412;p28"/>
          <p:cNvSpPr txBox="1"/>
          <p:nvPr/>
        </p:nvSpPr>
        <p:spPr>
          <a:xfrm>
            <a:off x="3830725" y="3660639"/>
            <a:ext cx="11604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000">
                <a:solidFill>
                  <a:schemeClr val="accent1"/>
                </a:solidFill>
              </a:rPr>
              <a:t> City Welcome Calls + Coaching &amp; Technical Assistance  begins</a:t>
            </a:r>
            <a:endParaRPr b="1" sz="1000">
              <a:solidFill>
                <a:schemeClr val="accent1"/>
              </a:solidFill>
            </a:endParaRPr>
          </a:p>
        </p:txBody>
      </p:sp>
      <p:sp>
        <p:nvSpPr>
          <p:cNvPr id="413" name="Google Shape;413;p28"/>
          <p:cNvSpPr txBox="1"/>
          <p:nvPr/>
        </p:nvSpPr>
        <p:spPr>
          <a:xfrm>
            <a:off x="4958663" y="3660639"/>
            <a:ext cx="11604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accent1"/>
                </a:solidFill>
              </a:rPr>
              <a:t>Data Inventory launched</a:t>
            </a:r>
            <a:endParaRPr b="1" sz="10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US" sz="1000">
                <a:solidFill>
                  <a:schemeClr val="accent1"/>
                </a:solidFill>
              </a:rPr>
              <a:t>City visit 1</a:t>
            </a:r>
            <a:endParaRPr i="1" sz="1000">
              <a:solidFill>
                <a:schemeClr val="accent1"/>
              </a:solidFill>
            </a:endParaRPr>
          </a:p>
        </p:txBody>
      </p:sp>
      <p:sp>
        <p:nvSpPr>
          <p:cNvPr id="414" name="Google Shape;414;p28"/>
          <p:cNvSpPr txBox="1"/>
          <p:nvPr/>
        </p:nvSpPr>
        <p:spPr>
          <a:xfrm>
            <a:off x="8294063" y="3660639"/>
            <a:ext cx="11604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000">
                <a:solidFill>
                  <a:schemeClr val="accent1"/>
                </a:solidFill>
              </a:rPr>
              <a:t>AMALI Reunion</a:t>
            </a:r>
            <a:endParaRPr b="1" sz="1000">
              <a:solidFill>
                <a:schemeClr val="accent1"/>
              </a:solidFill>
            </a:endParaRPr>
          </a:p>
        </p:txBody>
      </p:sp>
      <p:sp>
        <p:nvSpPr>
          <p:cNvPr id="415" name="Google Shape;415;p28"/>
          <p:cNvSpPr txBox="1"/>
          <p:nvPr/>
        </p:nvSpPr>
        <p:spPr>
          <a:xfrm>
            <a:off x="6028695" y="3660639"/>
            <a:ext cx="12576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</a:rPr>
              <a:t>Reporting Tool Designed  and Launched </a:t>
            </a:r>
            <a:endParaRPr b="1" sz="1000">
              <a:solidFill>
                <a:schemeClr val="accent1"/>
              </a:solidFill>
            </a:endParaRPr>
          </a:p>
        </p:txBody>
      </p:sp>
      <p:sp>
        <p:nvSpPr>
          <p:cNvPr id="416" name="Google Shape;416;p28"/>
          <p:cNvSpPr txBox="1"/>
          <p:nvPr/>
        </p:nvSpPr>
        <p:spPr>
          <a:xfrm>
            <a:off x="7121124" y="3660639"/>
            <a:ext cx="13743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accent1"/>
                </a:solidFill>
              </a:rPr>
              <a:t>Performance Management Routine  Launch</a:t>
            </a:r>
            <a:endParaRPr b="1" sz="1000">
              <a:solidFill>
                <a:schemeClr val="accen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accent1"/>
                </a:solidFill>
              </a:rPr>
              <a:t>City visit 2</a:t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417" name="Google Shape;417;p28"/>
          <p:cNvSpPr txBox="1"/>
          <p:nvPr/>
        </p:nvSpPr>
        <p:spPr>
          <a:xfrm>
            <a:off x="9322858" y="3660639"/>
            <a:ext cx="13743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accent1"/>
                </a:solidFill>
              </a:rPr>
              <a:t>Wrap up</a:t>
            </a:r>
            <a:endParaRPr b="1" sz="1000">
              <a:solidFill>
                <a:schemeClr val="accen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1"/>
              </a:solidFill>
            </a:endParaRPr>
          </a:p>
        </p:txBody>
      </p:sp>
      <p:sp>
        <p:nvSpPr>
          <p:cNvPr id="418" name="Google Shape;418;p28"/>
          <p:cNvSpPr txBox="1"/>
          <p:nvPr/>
        </p:nvSpPr>
        <p:spPr>
          <a:xfrm>
            <a:off x="10460327" y="3660639"/>
            <a:ext cx="13743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accent1"/>
                </a:solidFill>
              </a:rPr>
              <a:t>Aftercare</a:t>
            </a:r>
            <a:endParaRPr b="1" sz="1000">
              <a:solidFill>
                <a:schemeClr val="accen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accent1"/>
              </a:solidFill>
            </a:endParaRPr>
          </a:p>
        </p:txBody>
      </p:sp>
      <p:sp>
        <p:nvSpPr>
          <p:cNvPr id="419" name="Google Shape;419;p28"/>
          <p:cNvSpPr/>
          <p:nvPr/>
        </p:nvSpPr>
        <p:spPr>
          <a:xfrm>
            <a:off x="809173" y="2351861"/>
            <a:ext cx="427311" cy="558658"/>
          </a:xfrm>
          <a:custGeom>
            <a:rect b="b" l="l" r="r" t="t"/>
            <a:pathLst>
              <a:path extrusionOk="0" h="959069" w="700510">
                <a:moveTo>
                  <a:pt x="700318" y="206166"/>
                </a:moveTo>
                <a:cubicBezTo>
                  <a:pt x="700241" y="205782"/>
                  <a:pt x="700107" y="205418"/>
                  <a:pt x="699972" y="205034"/>
                </a:cubicBezTo>
                <a:cubicBezTo>
                  <a:pt x="699896" y="204823"/>
                  <a:pt x="699857" y="204593"/>
                  <a:pt x="699761" y="204362"/>
                </a:cubicBezTo>
                <a:cubicBezTo>
                  <a:pt x="699588" y="203959"/>
                  <a:pt x="699358" y="203576"/>
                  <a:pt x="699146" y="203192"/>
                </a:cubicBezTo>
                <a:cubicBezTo>
                  <a:pt x="699050" y="203038"/>
                  <a:pt x="698993" y="202866"/>
                  <a:pt x="698878" y="202712"/>
                </a:cubicBezTo>
                <a:cubicBezTo>
                  <a:pt x="698532" y="202194"/>
                  <a:pt x="698128" y="201714"/>
                  <a:pt x="697686" y="201254"/>
                </a:cubicBezTo>
                <a:lnTo>
                  <a:pt x="498987" y="2801"/>
                </a:lnTo>
                <a:cubicBezTo>
                  <a:pt x="498545" y="2360"/>
                  <a:pt x="498065" y="1957"/>
                  <a:pt x="497527" y="1612"/>
                </a:cubicBezTo>
                <a:cubicBezTo>
                  <a:pt x="497373" y="1516"/>
                  <a:pt x="497219" y="1458"/>
                  <a:pt x="497066" y="1362"/>
                </a:cubicBezTo>
                <a:cubicBezTo>
                  <a:pt x="496682" y="1132"/>
                  <a:pt x="496297" y="902"/>
                  <a:pt x="495875" y="729"/>
                </a:cubicBezTo>
                <a:cubicBezTo>
                  <a:pt x="495663" y="652"/>
                  <a:pt x="495452" y="614"/>
                  <a:pt x="495241" y="537"/>
                </a:cubicBezTo>
                <a:cubicBezTo>
                  <a:pt x="494857" y="403"/>
                  <a:pt x="494472" y="269"/>
                  <a:pt x="494069" y="192"/>
                </a:cubicBezTo>
                <a:cubicBezTo>
                  <a:pt x="493454" y="58"/>
                  <a:pt x="492820" y="0"/>
                  <a:pt x="492167" y="0"/>
                </a:cubicBezTo>
                <a:lnTo>
                  <a:pt x="9606" y="0"/>
                </a:lnTo>
                <a:cubicBezTo>
                  <a:pt x="4303" y="-19"/>
                  <a:pt x="0" y="4279"/>
                  <a:pt x="0" y="9574"/>
                </a:cubicBezTo>
                <a:lnTo>
                  <a:pt x="0" y="949476"/>
                </a:lnTo>
                <a:cubicBezTo>
                  <a:pt x="0" y="954771"/>
                  <a:pt x="4303" y="959069"/>
                  <a:pt x="9606" y="959069"/>
                </a:cubicBezTo>
                <a:lnTo>
                  <a:pt x="690905" y="959069"/>
                </a:lnTo>
                <a:cubicBezTo>
                  <a:pt x="696207" y="959069"/>
                  <a:pt x="700510" y="954771"/>
                  <a:pt x="700510" y="949476"/>
                </a:cubicBezTo>
                <a:lnTo>
                  <a:pt x="700510" y="208046"/>
                </a:lnTo>
                <a:cubicBezTo>
                  <a:pt x="700510" y="207413"/>
                  <a:pt x="700453" y="206780"/>
                  <a:pt x="700318" y="206166"/>
                </a:cubicBezTo>
                <a:close/>
                <a:moveTo>
                  <a:pt x="501792" y="198453"/>
                </a:moveTo>
                <a:lnTo>
                  <a:pt x="501792" y="32733"/>
                </a:lnTo>
                <a:lnTo>
                  <a:pt x="667717" y="198453"/>
                </a:lnTo>
                <a:lnTo>
                  <a:pt x="501792" y="198453"/>
                </a:lnTo>
                <a:close/>
                <a:moveTo>
                  <a:pt x="19211" y="939882"/>
                </a:moveTo>
                <a:lnTo>
                  <a:pt x="19211" y="19168"/>
                </a:lnTo>
                <a:lnTo>
                  <a:pt x="482581" y="19168"/>
                </a:lnTo>
                <a:lnTo>
                  <a:pt x="482581" y="208046"/>
                </a:lnTo>
                <a:cubicBezTo>
                  <a:pt x="482581" y="213342"/>
                  <a:pt x="486884" y="217640"/>
                  <a:pt x="492186" y="217640"/>
                </a:cubicBezTo>
                <a:lnTo>
                  <a:pt x="681299" y="217640"/>
                </a:lnTo>
                <a:lnTo>
                  <a:pt x="681299" y="939863"/>
                </a:lnTo>
                <a:lnTo>
                  <a:pt x="19211" y="939863"/>
                </a:lnTo>
                <a:close/>
                <a:moveTo>
                  <a:pt x="120184" y="216182"/>
                </a:moveTo>
                <a:cubicBezTo>
                  <a:pt x="120184" y="210886"/>
                  <a:pt x="124487" y="206588"/>
                  <a:pt x="129790" y="206588"/>
                </a:cubicBezTo>
                <a:lnTo>
                  <a:pt x="321189" y="206588"/>
                </a:lnTo>
                <a:cubicBezTo>
                  <a:pt x="326491" y="206588"/>
                  <a:pt x="330794" y="210886"/>
                  <a:pt x="330794" y="216182"/>
                </a:cubicBezTo>
                <a:cubicBezTo>
                  <a:pt x="330794" y="221477"/>
                  <a:pt x="326491" y="225775"/>
                  <a:pt x="321189" y="225775"/>
                </a:cubicBezTo>
                <a:lnTo>
                  <a:pt x="129790" y="225775"/>
                </a:lnTo>
                <a:cubicBezTo>
                  <a:pt x="124487" y="225775"/>
                  <a:pt x="120184" y="221477"/>
                  <a:pt x="120184" y="216182"/>
                </a:cubicBezTo>
                <a:close/>
                <a:moveTo>
                  <a:pt x="330794" y="789685"/>
                </a:moveTo>
                <a:cubicBezTo>
                  <a:pt x="330794" y="794981"/>
                  <a:pt x="326491" y="799279"/>
                  <a:pt x="321189" y="799279"/>
                </a:cubicBezTo>
                <a:lnTo>
                  <a:pt x="129790" y="799279"/>
                </a:lnTo>
                <a:cubicBezTo>
                  <a:pt x="124487" y="799279"/>
                  <a:pt x="120184" y="794981"/>
                  <a:pt x="120184" y="789685"/>
                </a:cubicBezTo>
                <a:cubicBezTo>
                  <a:pt x="120184" y="784390"/>
                  <a:pt x="124487" y="780092"/>
                  <a:pt x="129790" y="780092"/>
                </a:cubicBezTo>
                <a:lnTo>
                  <a:pt x="321189" y="780092"/>
                </a:lnTo>
                <a:cubicBezTo>
                  <a:pt x="326510" y="780092"/>
                  <a:pt x="330794" y="784390"/>
                  <a:pt x="330794" y="789685"/>
                </a:cubicBezTo>
                <a:close/>
                <a:moveTo>
                  <a:pt x="580326" y="330882"/>
                </a:moveTo>
                <a:cubicBezTo>
                  <a:pt x="580326" y="336178"/>
                  <a:pt x="576023" y="340476"/>
                  <a:pt x="570721" y="340476"/>
                </a:cubicBezTo>
                <a:lnTo>
                  <a:pt x="129790" y="340476"/>
                </a:lnTo>
                <a:cubicBezTo>
                  <a:pt x="124487" y="340476"/>
                  <a:pt x="120184" y="336178"/>
                  <a:pt x="120184" y="330882"/>
                </a:cubicBezTo>
                <a:cubicBezTo>
                  <a:pt x="120184" y="325587"/>
                  <a:pt x="124487" y="321289"/>
                  <a:pt x="129790" y="321289"/>
                </a:cubicBezTo>
                <a:lnTo>
                  <a:pt x="570721" y="321289"/>
                </a:lnTo>
                <a:cubicBezTo>
                  <a:pt x="576023" y="321289"/>
                  <a:pt x="580326" y="325587"/>
                  <a:pt x="580326" y="330882"/>
                </a:cubicBezTo>
                <a:close/>
                <a:moveTo>
                  <a:pt x="580326" y="445583"/>
                </a:moveTo>
                <a:cubicBezTo>
                  <a:pt x="580326" y="450879"/>
                  <a:pt x="576023" y="455177"/>
                  <a:pt x="570721" y="455177"/>
                </a:cubicBezTo>
                <a:lnTo>
                  <a:pt x="129790" y="455177"/>
                </a:lnTo>
                <a:cubicBezTo>
                  <a:pt x="124487" y="455177"/>
                  <a:pt x="120184" y="450879"/>
                  <a:pt x="120184" y="445583"/>
                </a:cubicBezTo>
                <a:cubicBezTo>
                  <a:pt x="120184" y="440287"/>
                  <a:pt x="124487" y="435989"/>
                  <a:pt x="129790" y="435989"/>
                </a:cubicBezTo>
                <a:lnTo>
                  <a:pt x="570721" y="435989"/>
                </a:lnTo>
                <a:cubicBezTo>
                  <a:pt x="576023" y="435989"/>
                  <a:pt x="580326" y="440287"/>
                  <a:pt x="580326" y="445583"/>
                </a:cubicBezTo>
                <a:close/>
                <a:moveTo>
                  <a:pt x="580326" y="560284"/>
                </a:moveTo>
                <a:cubicBezTo>
                  <a:pt x="580326" y="565579"/>
                  <a:pt x="576023" y="569877"/>
                  <a:pt x="570721" y="569877"/>
                </a:cubicBezTo>
                <a:lnTo>
                  <a:pt x="129790" y="569877"/>
                </a:lnTo>
                <a:cubicBezTo>
                  <a:pt x="124487" y="569877"/>
                  <a:pt x="120184" y="565579"/>
                  <a:pt x="120184" y="560284"/>
                </a:cubicBezTo>
                <a:cubicBezTo>
                  <a:pt x="120184" y="554988"/>
                  <a:pt x="124487" y="550690"/>
                  <a:pt x="129790" y="550690"/>
                </a:cubicBezTo>
                <a:lnTo>
                  <a:pt x="570721" y="550690"/>
                </a:lnTo>
                <a:cubicBezTo>
                  <a:pt x="576023" y="550690"/>
                  <a:pt x="580326" y="554988"/>
                  <a:pt x="580326" y="560284"/>
                </a:cubicBezTo>
                <a:close/>
                <a:moveTo>
                  <a:pt x="580326" y="674984"/>
                </a:moveTo>
                <a:cubicBezTo>
                  <a:pt x="580326" y="680280"/>
                  <a:pt x="576023" y="684578"/>
                  <a:pt x="570721" y="684578"/>
                </a:cubicBezTo>
                <a:lnTo>
                  <a:pt x="129790" y="684578"/>
                </a:lnTo>
                <a:cubicBezTo>
                  <a:pt x="124487" y="684578"/>
                  <a:pt x="120184" y="680280"/>
                  <a:pt x="120184" y="674984"/>
                </a:cubicBezTo>
                <a:cubicBezTo>
                  <a:pt x="120184" y="669689"/>
                  <a:pt x="124487" y="665391"/>
                  <a:pt x="129790" y="665391"/>
                </a:cubicBezTo>
                <a:lnTo>
                  <a:pt x="570721" y="665391"/>
                </a:lnTo>
                <a:cubicBezTo>
                  <a:pt x="576023" y="665391"/>
                  <a:pt x="580326" y="669689"/>
                  <a:pt x="580326" y="674984"/>
                </a:cubicBezTo>
                <a:close/>
              </a:path>
            </a:pathLst>
          </a:custGeom>
          <a:solidFill>
            <a:srgbClr val="A1006B"/>
          </a:solidFill>
          <a:ln cap="flat" cmpd="sng" w="9525">
            <a:solidFill>
              <a:srgbClr val="510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82D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8"/>
          <p:cNvSpPr/>
          <p:nvPr/>
        </p:nvSpPr>
        <p:spPr>
          <a:xfrm>
            <a:off x="2947525" y="2334917"/>
            <a:ext cx="645374" cy="592545"/>
          </a:xfrm>
          <a:custGeom>
            <a:rect b="b" l="l" r="r" t="t"/>
            <a:pathLst>
              <a:path extrusionOk="0" h="959587" w="959664">
                <a:moveTo>
                  <a:pt x="939057" y="382918"/>
                </a:moveTo>
                <a:lnTo>
                  <a:pt x="832530" y="382918"/>
                </a:lnTo>
                <a:cubicBezTo>
                  <a:pt x="831916" y="382918"/>
                  <a:pt x="831360" y="382534"/>
                  <a:pt x="831206" y="381958"/>
                </a:cubicBezTo>
                <a:cubicBezTo>
                  <a:pt x="823320" y="353638"/>
                  <a:pt x="811961" y="326258"/>
                  <a:pt x="797456" y="300586"/>
                </a:cubicBezTo>
                <a:cubicBezTo>
                  <a:pt x="797168" y="300068"/>
                  <a:pt x="797264" y="299396"/>
                  <a:pt x="797705" y="298955"/>
                </a:cubicBezTo>
                <a:lnTo>
                  <a:pt x="873053" y="223607"/>
                </a:lnTo>
                <a:cubicBezTo>
                  <a:pt x="876948" y="219712"/>
                  <a:pt x="879097" y="214551"/>
                  <a:pt x="879097" y="209044"/>
                </a:cubicBezTo>
                <a:cubicBezTo>
                  <a:pt x="879097" y="203537"/>
                  <a:pt x="876948" y="198357"/>
                  <a:pt x="873053" y="194462"/>
                </a:cubicBezTo>
                <a:lnTo>
                  <a:pt x="765183" y="86611"/>
                </a:lnTo>
                <a:cubicBezTo>
                  <a:pt x="757144" y="78591"/>
                  <a:pt x="744077" y="78591"/>
                  <a:pt x="736038" y="86611"/>
                </a:cubicBezTo>
                <a:lnTo>
                  <a:pt x="660671" y="161939"/>
                </a:lnTo>
                <a:cubicBezTo>
                  <a:pt x="660230" y="162381"/>
                  <a:pt x="659558" y="162496"/>
                  <a:pt x="659040" y="162208"/>
                </a:cubicBezTo>
                <a:cubicBezTo>
                  <a:pt x="633310" y="147645"/>
                  <a:pt x="605911" y="136286"/>
                  <a:pt x="577667" y="128439"/>
                </a:cubicBezTo>
                <a:cubicBezTo>
                  <a:pt x="577092" y="128285"/>
                  <a:pt x="576708" y="127729"/>
                  <a:pt x="576708" y="127115"/>
                </a:cubicBezTo>
                <a:lnTo>
                  <a:pt x="576708" y="20607"/>
                </a:lnTo>
                <a:cubicBezTo>
                  <a:pt x="576708" y="9229"/>
                  <a:pt x="567460" y="0"/>
                  <a:pt x="556101" y="0"/>
                </a:cubicBezTo>
                <a:lnTo>
                  <a:pt x="403563" y="0"/>
                </a:lnTo>
                <a:cubicBezTo>
                  <a:pt x="392204" y="0"/>
                  <a:pt x="382956" y="9229"/>
                  <a:pt x="382956" y="20607"/>
                </a:cubicBezTo>
                <a:lnTo>
                  <a:pt x="382956" y="127115"/>
                </a:lnTo>
                <a:cubicBezTo>
                  <a:pt x="382956" y="127748"/>
                  <a:pt x="382572" y="128285"/>
                  <a:pt x="381997" y="128439"/>
                </a:cubicBezTo>
                <a:cubicBezTo>
                  <a:pt x="353734" y="136305"/>
                  <a:pt x="326335" y="147664"/>
                  <a:pt x="300605" y="162227"/>
                </a:cubicBezTo>
                <a:cubicBezTo>
                  <a:pt x="300106" y="162515"/>
                  <a:pt x="299435" y="162400"/>
                  <a:pt x="298993" y="161959"/>
                </a:cubicBezTo>
                <a:lnTo>
                  <a:pt x="223626" y="86611"/>
                </a:lnTo>
                <a:cubicBezTo>
                  <a:pt x="215587" y="78591"/>
                  <a:pt x="202520" y="78591"/>
                  <a:pt x="194481" y="86611"/>
                </a:cubicBezTo>
                <a:lnTo>
                  <a:pt x="86592" y="194481"/>
                </a:lnTo>
                <a:cubicBezTo>
                  <a:pt x="82697" y="198376"/>
                  <a:pt x="80548" y="203556"/>
                  <a:pt x="80548" y="209063"/>
                </a:cubicBezTo>
                <a:cubicBezTo>
                  <a:pt x="80548" y="214570"/>
                  <a:pt x="82697" y="219750"/>
                  <a:pt x="86592" y="223645"/>
                </a:cubicBezTo>
                <a:lnTo>
                  <a:pt x="161959" y="298955"/>
                </a:lnTo>
                <a:cubicBezTo>
                  <a:pt x="162400" y="299396"/>
                  <a:pt x="162496" y="300068"/>
                  <a:pt x="162208" y="300586"/>
                </a:cubicBezTo>
                <a:cubicBezTo>
                  <a:pt x="147664" y="326354"/>
                  <a:pt x="136305" y="353734"/>
                  <a:pt x="128458" y="381958"/>
                </a:cubicBezTo>
                <a:cubicBezTo>
                  <a:pt x="128304" y="382534"/>
                  <a:pt x="127748" y="382918"/>
                  <a:pt x="127115" y="382918"/>
                </a:cubicBezTo>
                <a:lnTo>
                  <a:pt x="20607" y="382918"/>
                </a:lnTo>
                <a:cubicBezTo>
                  <a:pt x="9248" y="382918"/>
                  <a:pt x="0" y="392166"/>
                  <a:pt x="0" y="403525"/>
                </a:cubicBezTo>
                <a:lnTo>
                  <a:pt x="0" y="556101"/>
                </a:lnTo>
                <a:cubicBezTo>
                  <a:pt x="0" y="567479"/>
                  <a:pt x="9248" y="576708"/>
                  <a:pt x="20607" y="576708"/>
                </a:cubicBezTo>
                <a:lnTo>
                  <a:pt x="127134" y="576708"/>
                </a:lnTo>
                <a:cubicBezTo>
                  <a:pt x="127748" y="576708"/>
                  <a:pt x="128304" y="577111"/>
                  <a:pt x="128458" y="577667"/>
                </a:cubicBezTo>
                <a:cubicBezTo>
                  <a:pt x="136344" y="605968"/>
                  <a:pt x="147703" y="633348"/>
                  <a:pt x="162208" y="659059"/>
                </a:cubicBezTo>
                <a:cubicBezTo>
                  <a:pt x="162515" y="659577"/>
                  <a:pt x="162400" y="660230"/>
                  <a:pt x="161959" y="660690"/>
                </a:cubicBezTo>
                <a:lnTo>
                  <a:pt x="86611" y="736019"/>
                </a:lnTo>
                <a:cubicBezTo>
                  <a:pt x="82716" y="739914"/>
                  <a:pt x="80567" y="745094"/>
                  <a:pt x="80567" y="750601"/>
                </a:cubicBezTo>
                <a:cubicBezTo>
                  <a:pt x="80567" y="756108"/>
                  <a:pt x="82716" y="761288"/>
                  <a:pt x="86611" y="765164"/>
                </a:cubicBezTo>
                <a:lnTo>
                  <a:pt x="194500" y="872996"/>
                </a:lnTo>
                <a:cubicBezTo>
                  <a:pt x="202539" y="881035"/>
                  <a:pt x="215625" y="881035"/>
                  <a:pt x="223645" y="872996"/>
                </a:cubicBezTo>
                <a:lnTo>
                  <a:pt x="298993" y="797648"/>
                </a:lnTo>
                <a:cubicBezTo>
                  <a:pt x="299435" y="797206"/>
                  <a:pt x="300106" y="797111"/>
                  <a:pt x="300605" y="797398"/>
                </a:cubicBezTo>
                <a:cubicBezTo>
                  <a:pt x="326258" y="811904"/>
                  <a:pt x="353638" y="823263"/>
                  <a:pt x="381997" y="831168"/>
                </a:cubicBezTo>
                <a:cubicBezTo>
                  <a:pt x="382572" y="831321"/>
                  <a:pt x="382956" y="831878"/>
                  <a:pt x="382956" y="832492"/>
                </a:cubicBezTo>
                <a:lnTo>
                  <a:pt x="382956" y="938980"/>
                </a:lnTo>
                <a:cubicBezTo>
                  <a:pt x="382956" y="950339"/>
                  <a:pt x="392204" y="959587"/>
                  <a:pt x="403563" y="959587"/>
                </a:cubicBezTo>
                <a:lnTo>
                  <a:pt x="556120" y="959587"/>
                </a:lnTo>
                <a:cubicBezTo>
                  <a:pt x="567479" y="959587"/>
                  <a:pt x="576727" y="950339"/>
                  <a:pt x="576727" y="938980"/>
                </a:cubicBezTo>
                <a:lnTo>
                  <a:pt x="576727" y="832492"/>
                </a:lnTo>
                <a:cubicBezTo>
                  <a:pt x="576727" y="831878"/>
                  <a:pt x="577130" y="831321"/>
                  <a:pt x="577686" y="831168"/>
                </a:cubicBezTo>
                <a:cubicBezTo>
                  <a:pt x="606045" y="823263"/>
                  <a:pt x="633425" y="811904"/>
                  <a:pt x="659078" y="797398"/>
                </a:cubicBezTo>
                <a:cubicBezTo>
                  <a:pt x="659577" y="797111"/>
                  <a:pt x="660249" y="797206"/>
                  <a:pt x="660709" y="797648"/>
                </a:cubicBezTo>
                <a:lnTo>
                  <a:pt x="736038" y="872996"/>
                </a:lnTo>
                <a:cubicBezTo>
                  <a:pt x="744077" y="881035"/>
                  <a:pt x="757144" y="881035"/>
                  <a:pt x="765183" y="872996"/>
                </a:cubicBezTo>
                <a:lnTo>
                  <a:pt x="873072" y="765183"/>
                </a:lnTo>
                <a:cubicBezTo>
                  <a:pt x="876967" y="761288"/>
                  <a:pt x="879116" y="756108"/>
                  <a:pt x="879116" y="750601"/>
                </a:cubicBezTo>
                <a:cubicBezTo>
                  <a:pt x="879116" y="745094"/>
                  <a:pt x="876967" y="739914"/>
                  <a:pt x="873072" y="736019"/>
                </a:cubicBezTo>
                <a:lnTo>
                  <a:pt x="797744" y="660690"/>
                </a:lnTo>
                <a:cubicBezTo>
                  <a:pt x="797283" y="660230"/>
                  <a:pt x="797187" y="659577"/>
                  <a:pt x="797475" y="659059"/>
                </a:cubicBezTo>
                <a:cubicBezTo>
                  <a:pt x="804747" y="646185"/>
                  <a:pt x="811232" y="632888"/>
                  <a:pt x="816854" y="619284"/>
                </a:cubicBezTo>
                <a:cubicBezTo>
                  <a:pt x="822495" y="605700"/>
                  <a:pt x="827311" y="591789"/>
                  <a:pt x="831225" y="577667"/>
                </a:cubicBezTo>
                <a:cubicBezTo>
                  <a:pt x="831379" y="577111"/>
                  <a:pt x="831935" y="576708"/>
                  <a:pt x="832568" y="576708"/>
                </a:cubicBezTo>
                <a:lnTo>
                  <a:pt x="939057" y="576708"/>
                </a:lnTo>
                <a:cubicBezTo>
                  <a:pt x="950416" y="576708"/>
                  <a:pt x="959664" y="567479"/>
                  <a:pt x="959664" y="556101"/>
                </a:cubicBezTo>
                <a:lnTo>
                  <a:pt x="959664" y="403525"/>
                </a:lnTo>
                <a:cubicBezTo>
                  <a:pt x="959664" y="392166"/>
                  <a:pt x="950416" y="382918"/>
                  <a:pt x="939057" y="382918"/>
                </a:cubicBezTo>
                <a:close/>
                <a:moveTo>
                  <a:pt x="940477" y="556101"/>
                </a:moveTo>
                <a:cubicBezTo>
                  <a:pt x="940477" y="556888"/>
                  <a:pt x="939825" y="557521"/>
                  <a:pt x="939057" y="557521"/>
                </a:cubicBezTo>
                <a:lnTo>
                  <a:pt x="832568" y="557521"/>
                </a:lnTo>
                <a:cubicBezTo>
                  <a:pt x="823359" y="557521"/>
                  <a:pt x="815204" y="563699"/>
                  <a:pt x="812748" y="572544"/>
                </a:cubicBezTo>
                <a:cubicBezTo>
                  <a:pt x="805303" y="599272"/>
                  <a:pt x="794559" y="625213"/>
                  <a:pt x="780763" y="649619"/>
                </a:cubicBezTo>
                <a:cubicBezTo>
                  <a:pt x="776254" y="657601"/>
                  <a:pt x="777655" y="667732"/>
                  <a:pt x="784178" y="674255"/>
                </a:cubicBezTo>
                <a:lnTo>
                  <a:pt x="859507" y="749584"/>
                </a:lnTo>
                <a:cubicBezTo>
                  <a:pt x="859853" y="749929"/>
                  <a:pt x="859929" y="750332"/>
                  <a:pt x="859929" y="750601"/>
                </a:cubicBezTo>
                <a:cubicBezTo>
                  <a:pt x="859929" y="750870"/>
                  <a:pt x="859853" y="751253"/>
                  <a:pt x="859507" y="751599"/>
                </a:cubicBezTo>
                <a:lnTo>
                  <a:pt x="751618" y="859430"/>
                </a:lnTo>
                <a:cubicBezTo>
                  <a:pt x="751061" y="859987"/>
                  <a:pt x="750160" y="859987"/>
                  <a:pt x="749603" y="859430"/>
                </a:cubicBezTo>
                <a:lnTo>
                  <a:pt x="674275" y="784082"/>
                </a:lnTo>
                <a:cubicBezTo>
                  <a:pt x="667751" y="777559"/>
                  <a:pt x="657620" y="776177"/>
                  <a:pt x="649619" y="780686"/>
                </a:cubicBezTo>
                <a:cubicBezTo>
                  <a:pt x="625347" y="794444"/>
                  <a:pt x="599406" y="805208"/>
                  <a:pt x="572544" y="812671"/>
                </a:cubicBezTo>
                <a:cubicBezTo>
                  <a:pt x="563718" y="815127"/>
                  <a:pt x="557540" y="823282"/>
                  <a:pt x="557540" y="832492"/>
                </a:cubicBezTo>
                <a:lnTo>
                  <a:pt x="557540" y="938980"/>
                </a:lnTo>
                <a:cubicBezTo>
                  <a:pt x="557540" y="939767"/>
                  <a:pt x="556907" y="940400"/>
                  <a:pt x="556120" y="940400"/>
                </a:cubicBezTo>
                <a:lnTo>
                  <a:pt x="403563" y="940400"/>
                </a:lnTo>
                <a:cubicBezTo>
                  <a:pt x="402776" y="940400"/>
                  <a:pt x="402143" y="939767"/>
                  <a:pt x="402143" y="938980"/>
                </a:cubicBezTo>
                <a:lnTo>
                  <a:pt x="402143" y="832492"/>
                </a:lnTo>
                <a:cubicBezTo>
                  <a:pt x="402143" y="823282"/>
                  <a:pt x="395984" y="815127"/>
                  <a:pt x="387139" y="812671"/>
                </a:cubicBezTo>
                <a:cubicBezTo>
                  <a:pt x="360277" y="805208"/>
                  <a:pt x="334355" y="794444"/>
                  <a:pt x="310064" y="780686"/>
                </a:cubicBezTo>
                <a:cubicBezTo>
                  <a:pt x="306937" y="778921"/>
                  <a:pt x="303464" y="778058"/>
                  <a:pt x="300010" y="778058"/>
                </a:cubicBezTo>
                <a:cubicBezTo>
                  <a:pt x="294676" y="778058"/>
                  <a:pt x="289380" y="780130"/>
                  <a:pt x="285409" y="784082"/>
                </a:cubicBezTo>
                <a:lnTo>
                  <a:pt x="210080" y="859430"/>
                </a:lnTo>
                <a:cubicBezTo>
                  <a:pt x="209524" y="859987"/>
                  <a:pt x="208622" y="859987"/>
                  <a:pt x="208065" y="859430"/>
                </a:cubicBezTo>
                <a:lnTo>
                  <a:pt x="100176" y="751599"/>
                </a:lnTo>
                <a:cubicBezTo>
                  <a:pt x="99831" y="751253"/>
                  <a:pt x="99754" y="750870"/>
                  <a:pt x="99754" y="750601"/>
                </a:cubicBezTo>
                <a:cubicBezTo>
                  <a:pt x="99754" y="750332"/>
                  <a:pt x="99831" y="749929"/>
                  <a:pt x="100176" y="749584"/>
                </a:cubicBezTo>
                <a:lnTo>
                  <a:pt x="175524" y="674255"/>
                </a:lnTo>
                <a:cubicBezTo>
                  <a:pt x="182028" y="667732"/>
                  <a:pt x="183429" y="657601"/>
                  <a:pt x="178920" y="649619"/>
                </a:cubicBezTo>
                <a:cubicBezTo>
                  <a:pt x="165163" y="625251"/>
                  <a:pt x="154418" y="599330"/>
                  <a:pt x="146954" y="572525"/>
                </a:cubicBezTo>
                <a:cubicBezTo>
                  <a:pt x="144498" y="563699"/>
                  <a:pt x="136344" y="557521"/>
                  <a:pt x="127134" y="557521"/>
                </a:cubicBezTo>
                <a:lnTo>
                  <a:pt x="20607" y="557521"/>
                </a:lnTo>
                <a:cubicBezTo>
                  <a:pt x="19840" y="557521"/>
                  <a:pt x="19187" y="556888"/>
                  <a:pt x="19187" y="556101"/>
                </a:cubicBezTo>
                <a:lnTo>
                  <a:pt x="19187" y="403525"/>
                </a:lnTo>
                <a:cubicBezTo>
                  <a:pt x="19187" y="402738"/>
                  <a:pt x="19840" y="402105"/>
                  <a:pt x="20607" y="402105"/>
                </a:cubicBezTo>
                <a:lnTo>
                  <a:pt x="127115" y="402105"/>
                </a:lnTo>
                <a:cubicBezTo>
                  <a:pt x="136344" y="402105"/>
                  <a:pt x="144498" y="395927"/>
                  <a:pt x="146935" y="387101"/>
                </a:cubicBezTo>
                <a:cubicBezTo>
                  <a:pt x="154361" y="360373"/>
                  <a:pt x="165125" y="334451"/>
                  <a:pt x="178920" y="310026"/>
                </a:cubicBezTo>
                <a:cubicBezTo>
                  <a:pt x="183429" y="302025"/>
                  <a:pt x="182028" y="291894"/>
                  <a:pt x="175524" y="285390"/>
                </a:cubicBezTo>
                <a:lnTo>
                  <a:pt x="100157" y="210061"/>
                </a:lnTo>
                <a:cubicBezTo>
                  <a:pt x="99812" y="209715"/>
                  <a:pt x="99735" y="209332"/>
                  <a:pt x="99735" y="209063"/>
                </a:cubicBezTo>
                <a:cubicBezTo>
                  <a:pt x="99735" y="208794"/>
                  <a:pt x="99812" y="208411"/>
                  <a:pt x="100157" y="208065"/>
                </a:cubicBezTo>
                <a:lnTo>
                  <a:pt x="208046" y="100176"/>
                </a:lnTo>
                <a:cubicBezTo>
                  <a:pt x="208603" y="99639"/>
                  <a:pt x="209504" y="99639"/>
                  <a:pt x="210061" y="100176"/>
                </a:cubicBezTo>
                <a:lnTo>
                  <a:pt x="285428" y="175524"/>
                </a:lnTo>
                <a:cubicBezTo>
                  <a:pt x="291952" y="182048"/>
                  <a:pt x="302082" y="183448"/>
                  <a:pt x="310064" y="178920"/>
                </a:cubicBezTo>
                <a:cubicBezTo>
                  <a:pt x="334432" y="165125"/>
                  <a:pt x="360373" y="154361"/>
                  <a:pt x="387139" y="146935"/>
                </a:cubicBezTo>
                <a:cubicBezTo>
                  <a:pt x="395965" y="144479"/>
                  <a:pt x="402143" y="136325"/>
                  <a:pt x="402143" y="127115"/>
                </a:cubicBezTo>
                <a:lnTo>
                  <a:pt x="402143" y="20607"/>
                </a:lnTo>
                <a:cubicBezTo>
                  <a:pt x="402143" y="19820"/>
                  <a:pt x="402776" y="19187"/>
                  <a:pt x="403563" y="19187"/>
                </a:cubicBezTo>
                <a:lnTo>
                  <a:pt x="556101" y="19187"/>
                </a:lnTo>
                <a:cubicBezTo>
                  <a:pt x="556888" y="19187"/>
                  <a:pt x="557521" y="19820"/>
                  <a:pt x="557521" y="20607"/>
                </a:cubicBezTo>
                <a:lnTo>
                  <a:pt x="557521" y="127115"/>
                </a:lnTo>
                <a:cubicBezTo>
                  <a:pt x="557521" y="136325"/>
                  <a:pt x="563699" y="144479"/>
                  <a:pt x="572525" y="146935"/>
                </a:cubicBezTo>
                <a:cubicBezTo>
                  <a:pt x="599291" y="154361"/>
                  <a:pt x="625213" y="165125"/>
                  <a:pt x="649600" y="178901"/>
                </a:cubicBezTo>
                <a:cubicBezTo>
                  <a:pt x="657601" y="183429"/>
                  <a:pt x="667713" y="182028"/>
                  <a:pt x="674236" y="175505"/>
                </a:cubicBezTo>
                <a:lnTo>
                  <a:pt x="749603" y="100176"/>
                </a:lnTo>
                <a:cubicBezTo>
                  <a:pt x="750160" y="99639"/>
                  <a:pt x="751061" y="99639"/>
                  <a:pt x="751618" y="100176"/>
                </a:cubicBezTo>
                <a:lnTo>
                  <a:pt x="859488" y="208027"/>
                </a:lnTo>
                <a:cubicBezTo>
                  <a:pt x="859833" y="208372"/>
                  <a:pt x="859910" y="208775"/>
                  <a:pt x="859910" y="209044"/>
                </a:cubicBezTo>
                <a:cubicBezTo>
                  <a:pt x="859910" y="209313"/>
                  <a:pt x="859833" y="209696"/>
                  <a:pt x="859488" y="210042"/>
                </a:cubicBezTo>
                <a:lnTo>
                  <a:pt x="784140" y="285390"/>
                </a:lnTo>
                <a:cubicBezTo>
                  <a:pt x="777636" y="291894"/>
                  <a:pt x="776235" y="302025"/>
                  <a:pt x="780744" y="310026"/>
                </a:cubicBezTo>
                <a:cubicBezTo>
                  <a:pt x="794501" y="334336"/>
                  <a:pt x="805246" y="360277"/>
                  <a:pt x="812710" y="387101"/>
                </a:cubicBezTo>
                <a:cubicBezTo>
                  <a:pt x="815166" y="395946"/>
                  <a:pt x="823320" y="402105"/>
                  <a:pt x="832530" y="402105"/>
                </a:cubicBezTo>
                <a:lnTo>
                  <a:pt x="939057" y="402105"/>
                </a:lnTo>
                <a:cubicBezTo>
                  <a:pt x="939825" y="402105"/>
                  <a:pt x="940477" y="402738"/>
                  <a:pt x="940477" y="403525"/>
                </a:cubicBezTo>
                <a:lnTo>
                  <a:pt x="940477" y="556101"/>
                </a:lnTo>
                <a:close/>
                <a:moveTo>
                  <a:pt x="479832" y="271018"/>
                </a:moveTo>
                <a:cubicBezTo>
                  <a:pt x="364709" y="271018"/>
                  <a:pt x="271057" y="364671"/>
                  <a:pt x="271057" y="479794"/>
                </a:cubicBezTo>
                <a:cubicBezTo>
                  <a:pt x="271057" y="594916"/>
                  <a:pt x="364709" y="688569"/>
                  <a:pt x="479832" y="688569"/>
                </a:cubicBezTo>
                <a:cubicBezTo>
                  <a:pt x="594955" y="688569"/>
                  <a:pt x="688607" y="594916"/>
                  <a:pt x="688607" y="479794"/>
                </a:cubicBezTo>
                <a:cubicBezTo>
                  <a:pt x="688607" y="364671"/>
                  <a:pt x="594955" y="271018"/>
                  <a:pt x="479832" y="271018"/>
                </a:cubicBezTo>
                <a:close/>
                <a:moveTo>
                  <a:pt x="479832" y="669382"/>
                </a:moveTo>
                <a:cubicBezTo>
                  <a:pt x="375281" y="669382"/>
                  <a:pt x="290244" y="584344"/>
                  <a:pt x="290244" y="479794"/>
                </a:cubicBezTo>
                <a:cubicBezTo>
                  <a:pt x="290244" y="375243"/>
                  <a:pt x="375281" y="290206"/>
                  <a:pt x="479832" y="290206"/>
                </a:cubicBezTo>
                <a:cubicBezTo>
                  <a:pt x="584383" y="290206"/>
                  <a:pt x="669420" y="375243"/>
                  <a:pt x="669420" y="479794"/>
                </a:cubicBezTo>
                <a:cubicBezTo>
                  <a:pt x="669420" y="584344"/>
                  <a:pt x="584383" y="669382"/>
                  <a:pt x="479832" y="669382"/>
                </a:cubicBezTo>
                <a:close/>
              </a:path>
            </a:pathLst>
          </a:custGeom>
          <a:solidFill>
            <a:srgbClr val="E88236"/>
          </a:solidFill>
          <a:ln cap="flat" cmpd="sng" w="9525">
            <a:solidFill>
              <a:srgbClr val="510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82D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1" name="Google Shape;421;p28"/>
          <p:cNvGrpSpPr/>
          <p:nvPr/>
        </p:nvGrpSpPr>
        <p:grpSpPr>
          <a:xfrm>
            <a:off x="5186179" y="2367787"/>
            <a:ext cx="677391" cy="526806"/>
            <a:chOff x="14175118" y="6660747"/>
            <a:chExt cx="911574" cy="719188"/>
          </a:xfrm>
        </p:grpSpPr>
        <p:sp>
          <p:nvSpPr>
            <p:cNvPr id="422" name="Google Shape;422;p28"/>
            <p:cNvSpPr/>
            <p:nvPr/>
          </p:nvSpPr>
          <p:spPr>
            <a:xfrm>
              <a:off x="14175118" y="6660747"/>
              <a:ext cx="911574" cy="719188"/>
            </a:xfrm>
            <a:custGeom>
              <a:rect b="b" l="l" r="r" t="t"/>
              <a:pathLst>
                <a:path extrusionOk="0" h="958918" w="1215432">
                  <a:moveTo>
                    <a:pt x="1215433" y="12102"/>
                  </a:moveTo>
                  <a:cubicBezTo>
                    <a:pt x="1215433" y="12126"/>
                    <a:pt x="1215433" y="12150"/>
                    <a:pt x="1215433" y="12175"/>
                  </a:cubicBezTo>
                  <a:lnTo>
                    <a:pt x="1215433" y="769336"/>
                  </a:lnTo>
                  <a:cubicBezTo>
                    <a:pt x="1215433" y="769409"/>
                    <a:pt x="1215433" y="769458"/>
                    <a:pt x="1215433" y="769531"/>
                  </a:cubicBezTo>
                  <a:lnTo>
                    <a:pt x="1215433" y="769653"/>
                  </a:lnTo>
                  <a:cubicBezTo>
                    <a:pt x="1215433" y="769799"/>
                    <a:pt x="1215384" y="769921"/>
                    <a:pt x="1215384" y="770067"/>
                  </a:cubicBezTo>
                  <a:cubicBezTo>
                    <a:pt x="1215360" y="770724"/>
                    <a:pt x="1215311" y="771357"/>
                    <a:pt x="1215189" y="771990"/>
                  </a:cubicBezTo>
                  <a:cubicBezTo>
                    <a:pt x="1215141" y="772234"/>
                    <a:pt x="1215043" y="772477"/>
                    <a:pt x="1214994" y="772745"/>
                  </a:cubicBezTo>
                  <a:cubicBezTo>
                    <a:pt x="1214848" y="773256"/>
                    <a:pt x="1214726" y="773768"/>
                    <a:pt x="1214531" y="774255"/>
                  </a:cubicBezTo>
                  <a:cubicBezTo>
                    <a:pt x="1214410" y="774498"/>
                    <a:pt x="1214263" y="774742"/>
                    <a:pt x="1214142" y="774985"/>
                  </a:cubicBezTo>
                  <a:cubicBezTo>
                    <a:pt x="1213922" y="775448"/>
                    <a:pt x="1213703" y="775910"/>
                    <a:pt x="1213411" y="776324"/>
                  </a:cubicBezTo>
                  <a:cubicBezTo>
                    <a:pt x="1213289" y="776544"/>
                    <a:pt x="1213118" y="776738"/>
                    <a:pt x="1212972" y="776933"/>
                  </a:cubicBezTo>
                  <a:cubicBezTo>
                    <a:pt x="1212655" y="777347"/>
                    <a:pt x="1212314" y="777785"/>
                    <a:pt x="1211949" y="778175"/>
                  </a:cubicBezTo>
                  <a:cubicBezTo>
                    <a:pt x="1211778" y="778345"/>
                    <a:pt x="1211583" y="778491"/>
                    <a:pt x="1211413" y="778638"/>
                  </a:cubicBezTo>
                  <a:cubicBezTo>
                    <a:pt x="1210999" y="779003"/>
                    <a:pt x="1210609" y="779368"/>
                    <a:pt x="1210146" y="779685"/>
                  </a:cubicBezTo>
                  <a:cubicBezTo>
                    <a:pt x="1209902" y="779855"/>
                    <a:pt x="1209634" y="779952"/>
                    <a:pt x="1209391" y="780099"/>
                  </a:cubicBezTo>
                  <a:cubicBezTo>
                    <a:pt x="1209001" y="780342"/>
                    <a:pt x="1208635" y="780585"/>
                    <a:pt x="1208221" y="780780"/>
                  </a:cubicBezTo>
                  <a:lnTo>
                    <a:pt x="811206" y="957847"/>
                  </a:lnTo>
                  <a:cubicBezTo>
                    <a:pt x="811182" y="957872"/>
                    <a:pt x="811133" y="957872"/>
                    <a:pt x="811109" y="957896"/>
                  </a:cubicBezTo>
                  <a:cubicBezTo>
                    <a:pt x="810963" y="957945"/>
                    <a:pt x="810841" y="957993"/>
                    <a:pt x="810695" y="958042"/>
                  </a:cubicBezTo>
                  <a:cubicBezTo>
                    <a:pt x="810378" y="958164"/>
                    <a:pt x="810086" y="958286"/>
                    <a:pt x="809769" y="958383"/>
                  </a:cubicBezTo>
                  <a:cubicBezTo>
                    <a:pt x="809647" y="958407"/>
                    <a:pt x="809525" y="958432"/>
                    <a:pt x="809403" y="958480"/>
                  </a:cubicBezTo>
                  <a:cubicBezTo>
                    <a:pt x="809208" y="958529"/>
                    <a:pt x="808989" y="958602"/>
                    <a:pt x="808794" y="958651"/>
                  </a:cubicBezTo>
                  <a:cubicBezTo>
                    <a:pt x="808697" y="958651"/>
                    <a:pt x="808599" y="958675"/>
                    <a:pt x="808526" y="958700"/>
                  </a:cubicBezTo>
                  <a:cubicBezTo>
                    <a:pt x="808404" y="958700"/>
                    <a:pt x="808307" y="958724"/>
                    <a:pt x="808185" y="958748"/>
                  </a:cubicBezTo>
                  <a:cubicBezTo>
                    <a:pt x="808063" y="958773"/>
                    <a:pt x="807942" y="958773"/>
                    <a:pt x="807795" y="958797"/>
                  </a:cubicBezTo>
                  <a:cubicBezTo>
                    <a:pt x="807308" y="958870"/>
                    <a:pt x="806821" y="958894"/>
                    <a:pt x="806334" y="958919"/>
                  </a:cubicBezTo>
                  <a:cubicBezTo>
                    <a:pt x="806285" y="958919"/>
                    <a:pt x="806260" y="958919"/>
                    <a:pt x="806236" y="958919"/>
                  </a:cubicBezTo>
                  <a:cubicBezTo>
                    <a:pt x="806212" y="958919"/>
                    <a:pt x="806187" y="958919"/>
                    <a:pt x="806139" y="958919"/>
                  </a:cubicBezTo>
                  <a:cubicBezTo>
                    <a:pt x="805651" y="958894"/>
                    <a:pt x="805164" y="958870"/>
                    <a:pt x="804677" y="958797"/>
                  </a:cubicBezTo>
                  <a:cubicBezTo>
                    <a:pt x="804531" y="958773"/>
                    <a:pt x="804409" y="958773"/>
                    <a:pt x="804287" y="958748"/>
                  </a:cubicBezTo>
                  <a:cubicBezTo>
                    <a:pt x="804165" y="958724"/>
                    <a:pt x="804068" y="958700"/>
                    <a:pt x="803946" y="958700"/>
                  </a:cubicBezTo>
                  <a:cubicBezTo>
                    <a:pt x="803873" y="958675"/>
                    <a:pt x="803775" y="958651"/>
                    <a:pt x="803678" y="958651"/>
                  </a:cubicBezTo>
                  <a:cubicBezTo>
                    <a:pt x="803483" y="958602"/>
                    <a:pt x="803264" y="958529"/>
                    <a:pt x="803069" y="958480"/>
                  </a:cubicBezTo>
                  <a:cubicBezTo>
                    <a:pt x="802947" y="958432"/>
                    <a:pt x="802825" y="958407"/>
                    <a:pt x="802703" y="958383"/>
                  </a:cubicBezTo>
                  <a:cubicBezTo>
                    <a:pt x="802386" y="958286"/>
                    <a:pt x="802094" y="958164"/>
                    <a:pt x="801777" y="958042"/>
                  </a:cubicBezTo>
                  <a:cubicBezTo>
                    <a:pt x="801631" y="957993"/>
                    <a:pt x="801509" y="957945"/>
                    <a:pt x="801363" y="957896"/>
                  </a:cubicBezTo>
                  <a:cubicBezTo>
                    <a:pt x="801339" y="957872"/>
                    <a:pt x="801290" y="957872"/>
                    <a:pt x="801266" y="957847"/>
                  </a:cubicBezTo>
                  <a:lnTo>
                    <a:pt x="409221" y="782996"/>
                  </a:lnTo>
                  <a:lnTo>
                    <a:pt x="17152" y="957847"/>
                  </a:lnTo>
                  <a:cubicBezTo>
                    <a:pt x="17104" y="957872"/>
                    <a:pt x="17079" y="957896"/>
                    <a:pt x="17031" y="957896"/>
                  </a:cubicBezTo>
                  <a:cubicBezTo>
                    <a:pt x="16909" y="957945"/>
                    <a:pt x="16811" y="957993"/>
                    <a:pt x="16689" y="958042"/>
                  </a:cubicBezTo>
                  <a:cubicBezTo>
                    <a:pt x="16032" y="958286"/>
                    <a:pt x="15374" y="958505"/>
                    <a:pt x="14692" y="958651"/>
                  </a:cubicBezTo>
                  <a:cubicBezTo>
                    <a:pt x="14619" y="958675"/>
                    <a:pt x="14545" y="958675"/>
                    <a:pt x="14497" y="958675"/>
                  </a:cubicBezTo>
                  <a:cubicBezTo>
                    <a:pt x="13741" y="958821"/>
                    <a:pt x="13010" y="958919"/>
                    <a:pt x="12255" y="958919"/>
                  </a:cubicBezTo>
                  <a:cubicBezTo>
                    <a:pt x="12231" y="958919"/>
                    <a:pt x="12206" y="958919"/>
                    <a:pt x="12182" y="958919"/>
                  </a:cubicBezTo>
                  <a:cubicBezTo>
                    <a:pt x="12109" y="958919"/>
                    <a:pt x="12036" y="958894"/>
                    <a:pt x="11987" y="958894"/>
                  </a:cubicBezTo>
                  <a:cubicBezTo>
                    <a:pt x="11329" y="958894"/>
                    <a:pt x="10720" y="958821"/>
                    <a:pt x="10087" y="958700"/>
                  </a:cubicBezTo>
                  <a:cubicBezTo>
                    <a:pt x="9819" y="958651"/>
                    <a:pt x="9551" y="958602"/>
                    <a:pt x="9283" y="958529"/>
                  </a:cubicBezTo>
                  <a:cubicBezTo>
                    <a:pt x="8844" y="958432"/>
                    <a:pt x="8430" y="958286"/>
                    <a:pt x="7991" y="958140"/>
                  </a:cubicBezTo>
                  <a:cubicBezTo>
                    <a:pt x="7748" y="958042"/>
                    <a:pt x="7480" y="957969"/>
                    <a:pt x="7236" y="957847"/>
                  </a:cubicBezTo>
                  <a:cubicBezTo>
                    <a:pt x="6651" y="957604"/>
                    <a:pt x="6091" y="957287"/>
                    <a:pt x="5555" y="956946"/>
                  </a:cubicBezTo>
                  <a:cubicBezTo>
                    <a:pt x="5336" y="956800"/>
                    <a:pt x="5141" y="956630"/>
                    <a:pt x="4922" y="956484"/>
                  </a:cubicBezTo>
                  <a:cubicBezTo>
                    <a:pt x="4580" y="956216"/>
                    <a:pt x="4239" y="955924"/>
                    <a:pt x="3898" y="955632"/>
                  </a:cubicBezTo>
                  <a:cubicBezTo>
                    <a:pt x="3703" y="955437"/>
                    <a:pt x="3508" y="955242"/>
                    <a:pt x="3314" y="955047"/>
                  </a:cubicBezTo>
                  <a:cubicBezTo>
                    <a:pt x="2997" y="954706"/>
                    <a:pt x="2729" y="954365"/>
                    <a:pt x="2461" y="954025"/>
                  </a:cubicBezTo>
                  <a:cubicBezTo>
                    <a:pt x="2315" y="953805"/>
                    <a:pt x="2144" y="953611"/>
                    <a:pt x="1998" y="953367"/>
                  </a:cubicBezTo>
                  <a:cubicBezTo>
                    <a:pt x="1632" y="952856"/>
                    <a:pt x="1340" y="952296"/>
                    <a:pt x="1072" y="951711"/>
                  </a:cubicBezTo>
                  <a:cubicBezTo>
                    <a:pt x="1072" y="951687"/>
                    <a:pt x="1048" y="951687"/>
                    <a:pt x="1048" y="951663"/>
                  </a:cubicBezTo>
                  <a:cubicBezTo>
                    <a:pt x="755" y="951005"/>
                    <a:pt x="536" y="950299"/>
                    <a:pt x="365" y="949593"/>
                  </a:cubicBezTo>
                  <a:cubicBezTo>
                    <a:pt x="341" y="949496"/>
                    <a:pt x="317" y="949423"/>
                    <a:pt x="292" y="949325"/>
                  </a:cubicBezTo>
                  <a:cubicBezTo>
                    <a:pt x="171" y="948838"/>
                    <a:pt x="146" y="948327"/>
                    <a:pt x="97" y="947791"/>
                  </a:cubicBezTo>
                  <a:cubicBezTo>
                    <a:pt x="73" y="947499"/>
                    <a:pt x="24" y="947207"/>
                    <a:pt x="24" y="946890"/>
                  </a:cubicBezTo>
                  <a:cubicBezTo>
                    <a:pt x="24" y="946842"/>
                    <a:pt x="0" y="946793"/>
                    <a:pt x="0" y="946744"/>
                  </a:cubicBezTo>
                  <a:lnTo>
                    <a:pt x="0" y="189242"/>
                  </a:lnTo>
                  <a:cubicBezTo>
                    <a:pt x="0" y="188828"/>
                    <a:pt x="73" y="188438"/>
                    <a:pt x="122" y="188049"/>
                  </a:cubicBezTo>
                  <a:cubicBezTo>
                    <a:pt x="146" y="187708"/>
                    <a:pt x="171" y="187367"/>
                    <a:pt x="219" y="187026"/>
                  </a:cubicBezTo>
                  <a:cubicBezTo>
                    <a:pt x="317" y="186515"/>
                    <a:pt x="463" y="186052"/>
                    <a:pt x="633" y="185589"/>
                  </a:cubicBezTo>
                  <a:cubicBezTo>
                    <a:pt x="707" y="185297"/>
                    <a:pt x="780" y="185029"/>
                    <a:pt x="877" y="184761"/>
                  </a:cubicBezTo>
                  <a:cubicBezTo>
                    <a:pt x="1048" y="184299"/>
                    <a:pt x="1291" y="183885"/>
                    <a:pt x="1535" y="183447"/>
                  </a:cubicBezTo>
                  <a:cubicBezTo>
                    <a:pt x="1681" y="183179"/>
                    <a:pt x="1803" y="182911"/>
                    <a:pt x="1949" y="182667"/>
                  </a:cubicBezTo>
                  <a:cubicBezTo>
                    <a:pt x="2217" y="182278"/>
                    <a:pt x="2510" y="181937"/>
                    <a:pt x="2802" y="181572"/>
                  </a:cubicBezTo>
                  <a:cubicBezTo>
                    <a:pt x="2997" y="181304"/>
                    <a:pt x="3192" y="181036"/>
                    <a:pt x="3435" y="180817"/>
                  </a:cubicBezTo>
                  <a:cubicBezTo>
                    <a:pt x="3752" y="180476"/>
                    <a:pt x="4118" y="180184"/>
                    <a:pt x="4459" y="179892"/>
                  </a:cubicBezTo>
                  <a:cubicBezTo>
                    <a:pt x="4727" y="179697"/>
                    <a:pt x="4946" y="179453"/>
                    <a:pt x="5214" y="179283"/>
                  </a:cubicBezTo>
                  <a:cubicBezTo>
                    <a:pt x="5677" y="178942"/>
                    <a:pt x="6164" y="178699"/>
                    <a:pt x="6676" y="178431"/>
                  </a:cubicBezTo>
                  <a:cubicBezTo>
                    <a:pt x="6871" y="178333"/>
                    <a:pt x="7017" y="178212"/>
                    <a:pt x="7236" y="178114"/>
                  </a:cubicBezTo>
                  <a:lnTo>
                    <a:pt x="7407" y="178041"/>
                  </a:lnTo>
                  <a:cubicBezTo>
                    <a:pt x="7431" y="178041"/>
                    <a:pt x="7455" y="178017"/>
                    <a:pt x="7480" y="178017"/>
                  </a:cubicBezTo>
                  <a:lnTo>
                    <a:pt x="404251" y="1047"/>
                  </a:lnTo>
                  <a:cubicBezTo>
                    <a:pt x="404300" y="1023"/>
                    <a:pt x="404373" y="1023"/>
                    <a:pt x="404422" y="998"/>
                  </a:cubicBezTo>
                  <a:cubicBezTo>
                    <a:pt x="404470" y="974"/>
                    <a:pt x="404543" y="950"/>
                    <a:pt x="404616" y="925"/>
                  </a:cubicBezTo>
                  <a:cubicBezTo>
                    <a:pt x="405006" y="755"/>
                    <a:pt x="405396" y="657"/>
                    <a:pt x="405810" y="536"/>
                  </a:cubicBezTo>
                  <a:cubicBezTo>
                    <a:pt x="406127" y="438"/>
                    <a:pt x="406444" y="317"/>
                    <a:pt x="406760" y="243"/>
                  </a:cubicBezTo>
                  <a:cubicBezTo>
                    <a:pt x="406785" y="243"/>
                    <a:pt x="406834" y="243"/>
                    <a:pt x="406858" y="243"/>
                  </a:cubicBezTo>
                  <a:cubicBezTo>
                    <a:pt x="407272" y="170"/>
                    <a:pt x="407662" y="146"/>
                    <a:pt x="408076" y="97"/>
                  </a:cubicBezTo>
                  <a:cubicBezTo>
                    <a:pt x="408442" y="73"/>
                    <a:pt x="408807" y="0"/>
                    <a:pt x="409173" y="0"/>
                  </a:cubicBezTo>
                  <a:cubicBezTo>
                    <a:pt x="409197" y="0"/>
                    <a:pt x="409197" y="0"/>
                    <a:pt x="409221" y="0"/>
                  </a:cubicBezTo>
                  <a:lnTo>
                    <a:pt x="409246" y="0"/>
                  </a:lnTo>
                  <a:cubicBezTo>
                    <a:pt x="409635" y="0"/>
                    <a:pt x="410001" y="73"/>
                    <a:pt x="410366" y="97"/>
                  </a:cubicBezTo>
                  <a:cubicBezTo>
                    <a:pt x="410781" y="146"/>
                    <a:pt x="411170" y="170"/>
                    <a:pt x="411536" y="243"/>
                  </a:cubicBezTo>
                  <a:cubicBezTo>
                    <a:pt x="411609" y="243"/>
                    <a:pt x="411658" y="243"/>
                    <a:pt x="411706" y="268"/>
                  </a:cubicBezTo>
                  <a:cubicBezTo>
                    <a:pt x="412023" y="317"/>
                    <a:pt x="412316" y="438"/>
                    <a:pt x="412632" y="536"/>
                  </a:cubicBezTo>
                  <a:cubicBezTo>
                    <a:pt x="413022" y="657"/>
                    <a:pt x="413412" y="755"/>
                    <a:pt x="413777" y="901"/>
                  </a:cubicBezTo>
                  <a:cubicBezTo>
                    <a:pt x="413875" y="950"/>
                    <a:pt x="413948" y="974"/>
                    <a:pt x="414045" y="998"/>
                  </a:cubicBezTo>
                  <a:cubicBezTo>
                    <a:pt x="414094" y="1023"/>
                    <a:pt x="414143" y="1023"/>
                    <a:pt x="414167" y="1047"/>
                  </a:cubicBezTo>
                  <a:lnTo>
                    <a:pt x="806236" y="175898"/>
                  </a:lnTo>
                  <a:lnTo>
                    <a:pt x="1198305" y="1047"/>
                  </a:lnTo>
                  <a:cubicBezTo>
                    <a:pt x="1198329" y="1023"/>
                    <a:pt x="1198378" y="1023"/>
                    <a:pt x="1198427" y="998"/>
                  </a:cubicBezTo>
                  <a:cubicBezTo>
                    <a:pt x="1198719" y="877"/>
                    <a:pt x="1199060" y="804"/>
                    <a:pt x="1199353" y="682"/>
                  </a:cubicBezTo>
                  <a:cubicBezTo>
                    <a:pt x="1199840" y="536"/>
                    <a:pt x="1200303" y="365"/>
                    <a:pt x="1200766" y="268"/>
                  </a:cubicBezTo>
                  <a:cubicBezTo>
                    <a:pt x="1200863" y="243"/>
                    <a:pt x="1200961" y="243"/>
                    <a:pt x="1201058" y="219"/>
                  </a:cubicBezTo>
                  <a:cubicBezTo>
                    <a:pt x="1201789" y="97"/>
                    <a:pt x="1202496" y="0"/>
                    <a:pt x="1203227" y="0"/>
                  </a:cubicBezTo>
                  <a:lnTo>
                    <a:pt x="1203251" y="0"/>
                  </a:lnTo>
                  <a:cubicBezTo>
                    <a:pt x="1203348" y="0"/>
                    <a:pt x="1203421" y="24"/>
                    <a:pt x="1203519" y="24"/>
                  </a:cubicBezTo>
                  <a:cubicBezTo>
                    <a:pt x="1204225" y="49"/>
                    <a:pt x="1204932" y="97"/>
                    <a:pt x="1205614" y="243"/>
                  </a:cubicBezTo>
                  <a:cubicBezTo>
                    <a:pt x="1205833" y="292"/>
                    <a:pt x="1206028" y="365"/>
                    <a:pt x="1206248" y="414"/>
                  </a:cubicBezTo>
                  <a:cubicBezTo>
                    <a:pt x="1206784" y="560"/>
                    <a:pt x="1207344" y="706"/>
                    <a:pt x="1207856" y="925"/>
                  </a:cubicBezTo>
                  <a:cubicBezTo>
                    <a:pt x="1208099" y="998"/>
                    <a:pt x="1208294" y="1144"/>
                    <a:pt x="1208514" y="1242"/>
                  </a:cubicBezTo>
                  <a:cubicBezTo>
                    <a:pt x="1209001" y="1485"/>
                    <a:pt x="1209488" y="1729"/>
                    <a:pt x="1209951" y="2021"/>
                  </a:cubicBezTo>
                  <a:cubicBezTo>
                    <a:pt x="1210146" y="2143"/>
                    <a:pt x="1210292" y="2289"/>
                    <a:pt x="1210487" y="2411"/>
                  </a:cubicBezTo>
                  <a:cubicBezTo>
                    <a:pt x="1210926" y="2751"/>
                    <a:pt x="1211389" y="3092"/>
                    <a:pt x="1211778" y="3506"/>
                  </a:cubicBezTo>
                  <a:cubicBezTo>
                    <a:pt x="1211949" y="3652"/>
                    <a:pt x="1212071" y="3823"/>
                    <a:pt x="1212217" y="3993"/>
                  </a:cubicBezTo>
                  <a:cubicBezTo>
                    <a:pt x="1212582" y="4407"/>
                    <a:pt x="1212972" y="4821"/>
                    <a:pt x="1213289" y="5284"/>
                  </a:cubicBezTo>
                  <a:cubicBezTo>
                    <a:pt x="1213459" y="5527"/>
                    <a:pt x="1213557" y="5771"/>
                    <a:pt x="1213703" y="6039"/>
                  </a:cubicBezTo>
                  <a:cubicBezTo>
                    <a:pt x="1213947" y="6404"/>
                    <a:pt x="1214190" y="6769"/>
                    <a:pt x="1214385" y="7207"/>
                  </a:cubicBezTo>
                  <a:cubicBezTo>
                    <a:pt x="1214410" y="7256"/>
                    <a:pt x="1214410" y="7305"/>
                    <a:pt x="1214434" y="7378"/>
                  </a:cubicBezTo>
                  <a:cubicBezTo>
                    <a:pt x="1214556" y="7621"/>
                    <a:pt x="1214605" y="7889"/>
                    <a:pt x="1214702" y="8157"/>
                  </a:cubicBezTo>
                  <a:cubicBezTo>
                    <a:pt x="1214873" y="8668"/>
                    <a:pt x="1215067" y="9180"/>
                    <a:pt x="1215165" y="9691"/>
                  </a:cubicBezTo>
                  <a:cubicBezTo>
                    <a:pt x="1215189" y="9813"/>
                    <a:pt x="1215189" y="9934"/>
                    <a:pt x="1215214" y="10056"/>
                  </a:cubicBezTo>
                  <a:cubicBezTo>
                    <a:pt x="1215336" y="10738"/>
                    <a:pt x="1215433" y="11420"/>
                    <a:pt x="1215433" y="12102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510E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282D6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28"/>
            <p:cNvSpPr/>
            <p:nvPr/>
          </p:nvSpPr>
          <p:spPr>
            <a:xfrm>
              <a:off x="14193391" y="6683939"/>
              <a:ext cx="875028" cy="672785"/>
            </a:xfrm>
            <a:custGeom>
              <a:rect b="b" l="l" r="r" t="t"/>
              <a:pathLst>
                <a:path extrusionOk="0" h="897047" w="1166704">
                  <a:moveTo>
                    <a:pt x="1149235" y="626821"/>
                  </a:moveTo>
                  <a:cubicBezTo>
                    <a:pt x="1154474" y="628135"/>
                    <a:pt x="1159809" y="629012"/>
                    <a:pt x="1165145" y="629402"/>
                  </a:cubicBezTo>
                  <a:cubicBezTo>
                    <a:pt x="1165681" y="629426"/>
                    <a:pt x="1166193" y="629572"/>
                    <a:pt x="1166705" y="629669"/>
                  </a:cubicBezTo>
                  <a:lnTo>
                    <a:pt x="1166705" y="0"/>
                  </a:lnTo>
                  <a:lnTo>
                    <a:pt x="794054" y="166207"/>
                  </a:lnTo>
                  <a:lnTo>
                    <a:pt x="794054" y="360441"/>
                  </a:lnTo>
                  <a:cubicBezTo>
                    <a:pt x="797806" y="358103"/>
                    <a:pt x="801509" y="355936"/>
                    <a:pt x="805188" y="353964"/>
                  </a:cubicBezTo>
                  <a:cubicBezTo>
                    <a:pt x="811133" y="350798"/>
                    <a:pt x="818491" y="353039"/>
                    <a:pt x="821683" y="358955"/>
                  </a:cubicBezTo>
                  <a:cubicBezTo>
                    <a:pt x="824850" y="364897"/>
                    <a:pt x="822609" y="372274"/>
                    <a:pt x="816688" y="375440"/>
                  </a:cubicBezTo>
                  <a:cubicBezTo>
                    <a:pt x="809428" y="379311"/>
                    <a:pt x="801972" y="384084"/>
                    <a:pt x="794054" y="389903"/>
                  </a:cubicBezTo>
                  <a:lnTo>
                    <a:pt x="794054" y="897047"/>
                  </a:lnTo>
                  <a:lnTo>
                    <a:pt x="1166705" y="730840"/>
                  </a:lnTo>
                  <a:lnTo>
                    <a:pt x="1166705" y="653459"/>
                  </a:lnTo>
                  <a:cubicBezTo>
                    <a:pt x="1165925" y="653629"/>
                    <a:pt x="1165097" y="653726"/>
                    <a:pt x="1164268" y="653726"/>
                  </a:cubicBezTo>
                  <a:cubicBezTo>
                    <a:pt x="1163976" y="653726"/>
                    <a:pt x="1163683" y="653702"/>
                    <a:pt x="1163367" y="653678"/>
                  </a:cubicBezTo>
                  <a:cubicBezTo>
                    <a:pt x="1156642" y="653191"/>
                    <a:pt x="1149869" y="652095"/>
                    <a:pt x="1143242" y="650415"/>
                  </a:cubicBezTo>
                  <a:cubicBezTo>
                    <a:pt x="1136737" y="648759"/>
                    <a:pt x="1132790" y="642136"/>
                    <a:pt x="1134446" y="635635"/>
                  </a:cubicBezTo>
                  <a:cubicBezTo>
                    <a:pt x="1136079" y="629109"/>
                    <a:pt x="1142706" y="625165"/>
                    <a:pt x="1149235" y="626821"/>
                  </a:cubicBezTo>
                  <a:close/>
                  <a:moveTo>
                    <a:pt x="905764" y="356545"/>
                  </a:moveTo>
                  <a:cubicBezTo>
                    <a:pt x="904278" y="361950"/>
                    <a:pt x="899356" y="365481"/>
                    <a:pt x="894020" y="365481"/>
                  </a:cubicBezTo>
                  <a:cubicBezTo>
                    <a:pt x="892948" y="365481"/>
                    <a:pt x="891852" y="365359"/>
                    <a:pt x="890780" y="365043"/>
                  </a:cubicBezTo>
                  <a:cubicBezTo>
                    <a:pt x="883446" y="363046"/>
                    <a:pt x="875991" y="361950"/>
                    <a:pt x="868633" y="361829"/>
                  </a:cubicBezTo>
                  <a:cubicBezTo>
                    <a:pt x="865392" y="361780"/>
                    <a:pt x="861884" y="361877"/>
                    <a:pt x="858546" y="362169"/>
                  </a:cubicBezTo>
                  <a:cubicBezTo>
                    <a:pt x="851821" y="362827"/>
                    <a:pt x="845925" y="357860"/>
                    <a:pt x="845316" y="351139"/>
                  </a:cubicBezTo>
                  <a:cubicBezTo>
                    <a:pt x="844707" y="344443"/>
                    <a:pt x="849653" y="338526"/>
                    <a:pt x="856353" y="337942"/>
                  </a:cubicBezTo>
                  <a:cubicBezTo>
                    <a:pt x="860568" y="337552"/>
                    <a:pt x="864808" y="337406"/>
                    <a:pt x="869047" y="337479"/>
                  </a:cubicBezTo>
                  <a:cubicBezTo>
                    <a:pt x="878476" y="337650"/>
                    <a:pt x="887954" y="339038"/>
                    <a:pt x="897236" y="341570"/>
                  </a:cubicBezTo>
                  <a:cubicBezTo>
                    <a:pt x="903717" y="343348"/>
                    <a:pt x="907542" y="350044"/>
                    <a:pt x="905764" y="356545"/>
                  </a:cubicBezTo>
                  <a:close/>
                  <a:moveTo>
                    <a:pt x="972351" y="409991"/>
                  </a:moveTo>
                  <a:cubicBezTo>
                    <a:pt x="970037" y="412012"/>
                    <a:pt x="967186" y="412986"/>
                    <a:pt x="964360" y="412986"/>
                  </a:cubicBezTo>
                  <a:cubicBezTo>
                    <a:pt x="960949" y="412986"/>
                    <a:pt x="957562" y="411574"/>
                    <a:pt x="955150" y="408822"/>
                  </a:cubicBezTo>
                  <a:cubicBezTo>
                    <a:pt x="947280" y="399765"/>
                    <a:pt x="938875" y="391827"/>
                    <a:pt x="930177" y="385204"/>
                  </a:cubicBezTo>
                  <a:cubicBezTo>
                    <a:pt x="924817" y="381137"/>
                    <a:pt x="923793" y="373492"/>
                    <a:pt x="927862" y="368159"/>
                  </a:cubicBezTo>
                  <a:cubicBezTo>
                    <a:pt x="931931" y="362803"/>
                    <a:pt x="939581" y="361756"/>
                    <a:pt x="944941" y="365846"/>
                  </a:cubicBezTo>
                  <a:cubicBezTo>
                    <a:pt x="954955" y="373467"/>
                    <a:pt x="964579" y="382550"/>
                    <a:pt x="973521" y="392825"/>
                  </a:cubicBezTo>
                  <a:cubicBezTo>
                    <a:pt x="977955" y="397890"/>
                    <a:pt x="977419" y="405584"/>
                    <a:pt x="972351" y="409991"/>
                  </a:cubicBezTo>
                  <a:close/>
                  <a:moveTo>
                    <a:pt x="1009166" y="486180"/>
                  </a:moveTo>
                  <a:cubicBezTo>
                    <a:pt x="1004609" y="486180"/>
                    <a:pt x="1000224" y="483599"/>
                    <a:pt x="998153" y="479216"/>
                  </a:cubicBezTo>
                  <a:cubicBezTo>
                    <a:pt x="992086" y="466433"/>
                    <a:pt x="986872" y="456255"/>
                    <a:pt x="981731" y="447148"/>
                  </a:cubicBezTo>
                  <a:cubicBezTo>
                    <a:pt x="978442" y="441304"/>
                    <a:pt x="980513" y="433878"/>
                    <a:pt x="986361" y="430566"/>
                  </a:cubicBezTo>
                  <a:cubicBezTo>
                    <a:pt x="992232" y="427255"/>
                    <a:pt x="999639" y="429324"/>
                    <a:pt x="1002953" y="435193"/>
                  </a:cubicBezTo>
                  <a:cubicBezTo>
                    <a:pt x="1008386" y="444786"/>
                    <a:pt x="1013843" y="455475"/>
                    <a:pt x="1020178" y="468770"/>
                  </a:cubicBezTo>
                  <a:cubicBezTo>
                    <a:pt x="1023053" y="474857"/>
                    <a:pt x="1020446" y="482113"/>
                    <a:pt x="1014379" y="484987"/>
                  </a:cubicBezTo>
                  <a:cubicBezTo>
                    <a:pt x="1012698" y="485790"/>
                    <a:pt x="1010920" y="486180"/>
                    <a:pt x="1009166" y="486180"/>
                  </a:cubicBezTo>
                  <a:close/>
                  <a:moveTo>
                    <a:pt x="1052778" y="561979"/>
                  </a:moveTo>
                  <a:cubicBezTo>
                    <a:pt x="1050877" y="563074"/>
                    <a:pt x="1048806" y="563586"/>
                    <a:pt x="1046760" y="563586"/>
                  </a:cubicBezTo>
                  <a:cubicBezTo>
                    <a:pt x="1042520" y="563586"/>
                    <a:pt x="1038403" y="561370"/>
                    <a:pt x="1036161" y="557425"/>
                  </a:cubicBezTo>
                  <a:cubicBezTo>
                    <a:pt x="1030655" y="547783"/>
                    <a:pt x="1025173" y="537094"/>
                    <a:pt x="1018862" y="523848"/>
                  </a:cubicBezTo>
                  <a:cubicBezTo>
                    <a:pt x="1015963" y="517785"/>
                    <a:pt x="1018546" y="510505"/>
                    <a:pt x="1024612" y="507631"/>
                  </a:cubicBezTo>
                  <a:cubicBezTo>
                    <a:pt x="1030704" y="504734"/>
                    <a:pt x="1037964" y="507315"/>
                    <a:pt x="1040863" y="513402"/>
                  </a:cubicBezTo>
                  <a:cubicBezTo>
                    <a:pt x="1046906" y="526088"/>
                    <a:pt x="1052144" y="536266"/>
                    <a:pt x="1057334" y="545373"/>
                  </a:cubicBezTo>
                  <a:cubicBezTo>
                    <a:pt x="1060672" y="551216"/>
                    <a:pt x="1058625" y="558643"/>
                    <a:pt x="1052778" y="561979"/>
                  </a:cubicBezTo>
                  <a:close/>
                  <a:moveTo>
                    <a:pt x="1111641" y="624045"/>
                  </a:moveTo>
                  <a:cubicBezTo>
                    <a:pt x="1109254" y="627234"/>
                    <a:pt x="1105599" y="628915"/>
                    <a:pt x="1101896" y="628915"/>
                  </a:cubicBezTo>
                  <a:cubicBezTo>
                    <a:pt x="1099337" y="628915"/>
                    <a:pt x="1096779" y="628111"/>
                    <a:pt x="1094587" y="626480"/>
                  </a:cubicBezTo>
                  <a:cubicBezTo>
                    <a:pt x="1084573" y="618956"/>
                    <a:pt x="1074900" y="609922"/>
                    <a:pt x="1065837" y="599622"/>
                  </a:cubicBezTo>
                  <a:cubicBezTo>
                    <a:pt x="1061402" y="594558"/>
                    <a:pt x="1061890" y="586864"/>
                    <a:pt x="1066958" y="582432"/>
                  </a:cubicBezTo>
                  <a:cubicBezTo>
                    <a:pt x="1072001" y="578000"/>
                    <a:pt x="1079700" y="578487"/>
                    <a:pt x="1084134" y="583552"/>
                  </a:cubicBezTo>
                  <a:cubicBezTo>
                    <a:pt x="1092101" y="592586"/>
                    <a:pt x="1100531" y="600499"/>
                    <a:pt x="1109229" y="607000"/>
                  </a:cubicBezTo>
                  <a:cubicBezTo>
                    <a:pt x="1114590" y="611042"/>
                    <a:pt x="1115686" y="618664"/>
                    <a:pt x="1111641" y="624045"/>
                  </a:cubicBezTo>
                  <a:close/>
                  <a:moveTo>
                    <a:pt x="397039" y="730840"/>
                  </a:moveTo>
                  <a:lnTo>
                    <a:pt x="769690" y="897047"/>
                  </a:lnTo>
                  <a:lnTo>
                    <a:pt x="769690" y="391096"/>
                  </a:lnTo>
                  <a:cubicBezTo>
                    <a:pt x="767521" y="387273"/>
                    <a:pt x="767570" y="382671"/>
                    <a:pt x="769690" y="378995"/>
                  </a:cubicBezTo>
                  <a:lnTo>
                    <a:pt x="769690" y="166207"/>
                  </a:lnTo>
                  <a:lnTo>
                    <a:pt x="397039" y="0"/>
                  </a:lnTo>
                  <a:lnTo>
                    <a:pt x="397039" y="730840"/>
                  </a:lnTo>
                  <a:close/>
                  <a:moveTo>
                    <a:pt x="543590" y="487787"/>
                  </a:moveTo>
                  <a:cubicBezTo>
                    <a:pt x="533308" y="495286"/>
                    <a:pt x="522393" y="502226"/>
                    <a:pt x="511137" y="508386"/>
                  </a:cubicBezTo>
                  <a:cubicBezTo>
                    <a:pt x="509285" y="509409"/>
                    <a:pt x="507263" y="509896"/>
                    <a:pt x="505289" y="509896"/>
                  </a:cubicBezTo>
                  <a:cubicBezTo>
                    <a:pt x="500977" y="509896"/>
                    <a:pt x="496811" y="507607"/>
                    <a:pt x="494593" y="503589"/>
                  </a:cubicBezTo>
                  <a:cubicBezTo>
                    <a:pt x="491353" y="497697"/>
                    <a:pt x="493497" y="490295"/>
                    <a:pt x="499418" y="487056"/>
                  </a:cubicBezTo>
                  <a:cubicBezTo>
                    <a:pt x="509748" y="481383"/>
                    <a:pt x="519786" y="475003"/>
                    <a:pt x="529215" y="468113"/>
                  </a:cubicBezTo>
                  <a:cubicBezTo>
                    <a:pt x="534648" y="464144"/>
                    <a:pt x="542274" y="465337"/>
                    <a:pt x="546246" y="470767"/>
                  </a:cubicBezTo>
                  <a:cubicBezTo>
                    <a:pt x="550217" y="476197"/>
                    <a:pt x="549023" y="483818"/>
                    <a:pt x="543590" y="487787"/>
                  </a:cubicBezTo>
                  <a:close/>
                  <a:moveTo>
                    <a:pt x="596679" y="509141"/>
                  </a:moveTo>
                  <a:cubicBezTo>
                    <a:pt x="596290" y="509141"/>
                    <a:pt x="595900" y="509117"/>
                    <a:pt x="595534" y="509092"/>
                  </a:cubicBezTo>
                  <a:cubicBezTo>
                    <a:pt x="582134" y="507826"/>
                    <a:pt x="568880" y="504125"/>
                    <a:pt x="556089" y="498062"/>
                  </a:cubicBezTo>
                  <a:cubicBezTo>
                    <a:pt x="550022" y="495189"/>
                    <a:pt x="547439" y="487933"/>
                    <a:pt x="550314" y="481846"/>
                  </a:cubicBezTo>
                  <a:cubicBezTo>
                    <a:pt x="553189" y="475783"/>
                    <a:pt x="560474" y="473177"/>
                    <a:pt x="566541" y="476075"/>
                  </a:cubicBezTo>
                  <a:cubicBezTo>
                    <a:pt x="576750" y="480896"/>
                    <a:pt x="587251" y="483867"/>
                    <a:pt x="597800" y="484841"/>
                  </a:cubicBezTo>
                  <a:cubicBezTo>
                    <a:pt x="604500" y="485474"/>
                    <a:pt x="609422" y="491415"/>
                    <a:pt x="608788" y="498111"/>
                  </a:cubicBezTo>
                  <a:cubicBezTo>
                    <a:pt x="608204" y="504417"/>
                    <a:pt x="602892" y="509141"/>
                    <a:pt x="596679" y="509141"/>
                  </a:cubicBezTo>
                  <a:close/>
                  <a:moveTo>
                    <a:pt x="707805" y="433318"/>
                  </a:moveTo>
                  <a:cubicBezTo>
                    <a:pt x="714602" y="427230"/>
                    <a:pt x="721522" y="420802"/>
                    <a:pt x="728198" y="414593"/>
                  </a:cubicBezTo>
                  <a:lnTo>
                    <a:pt x="734800" y="408457"/>
                  </a:lnTo>
                  <a:cubicBezTo>
                    <a:pt x="739746" y="403880"/>
                    <a:pt x="747445" y="404172"/>
                    <a:pt x="752026" y="409090"/>
                  </a:cubicBezTo>
                  <a:cubicBezTo>
                    <a:pt x="756606" y="414033"/>
                    <a:pt x="756314" y="421727"/>
                    <a:pt x="751368" y="426305"/>
                  </a:cubicBezTo>
                  <a:lnTo>
                    <a:pt x="744790" y="432417"/>
                  </a:lnTo>
                  <a:cubicBezTo>
                    <a:pt x="738016" y="438723"/>
                    <a:pt x="731024" y="445224"/>
                    <a:pt x="724056" y="451458"/>
                  </a:cubicBezTo>
                  <a:cubicBezTo>
                    <a:pt x="721717" y="453552"/>
                    <a:pt x="718817" y="454575"/>
                    <a:pt x="715918" y="454575"/>
                  </a:cubicBezTo>
                  <a:cubicBezTo>
                    <a:pt x="712580" y="454575"/>
                    <a:pt x="709266" y="453211"/>
                    <a:pt x="706854" y="450533"/>
                  </a:cubicBezTo>
                  <a:cubicBezTo>
                    <a:pt x="702371" y="445517"/>
                    <a:pt x="702786" y="437822"/>
                    <a:pt x="707805" y="433318"/>
                  </a:cubicBezTo>
                  <a:close/>
                  <a:moveTo>
                    <a:pt x="687582" y="466262"/>
                  </a:moveTo>
                  <a:cubicBezTo>
                    <a:pt x="691310" y="471862"/>
                    <a:pt x="689799" y="479411"/>
                    <a:pt x="684196" y="483160"/>
                  </a:cubicBezTo>
                  <a:cubicBezTo>
                    <a:pt x="672135" y="491196"/>
                    <a:pt x="660660" y="497210"/>
                    <a:pt x="649136" y="501520"/>
                  </a:cubicBezTo>
                  <a:cubicBezTo>
                    <a:pt x="647747" y="502055"/>
                    <a:pt x="646285" y="502299"/>
                    <a:pt x="644872" y="502299"/>
                  </a:cubicBezTo>
                  <a:cubicBezTo>
                    <a:pt x="639926" y="502299"/>
                    <a:pt x="635297" y="499280"/>
                    <a:pt x="633469" y="494410"/>
                  </a:cubicBezTo>
                  <a:cubicBezTo>
                    <a:pt x="631106" y="488103"/>
                    <a:pt x="634298" y="481091"/>
                    <a:pt x="640584" y="478729"/>
                  </a:cubicBezTo>
                  <a:cubicBezTo>
                    <a:pt x="650354" y="475077"/>
                    <a:pt x="660197" y="469890"/>
                    <a:pt x="670698" y="462902"/>
                  </a:cubicBezTo>
                  <a:cubicBezTo>
                    <a:pt x="676277" y="459152"/>
                    <a:pt x="683855" y="460686"/>
                    <a:pt x="687582" y="466262"/>
                  </a:cubicBezTo>
                  <a:close/>
                  <a:moveTo>
                    <a:pt x="642874" y="340669"/>
                  </a:moveTo>
                  <a:cubicBezTo>
                    <a:pt x="641169" y="353233"/>
                    <a:pt x="637611" y="366163"/>
                    <a:pt x="632324" y="379116"/>
                  </a:cubicBezTo>
                  <a:cubicBezTo>
                    <a:pt x="630400" y="383816"/>
                    <a:pt x="625843" y="386689"/>
                    <a:pt x="621044" y="386689"/>
                  </a:cubicBezTo>
                  <a:cubicBezTo>
                    <a:pt x="619509" y="386689"/>
                    <a:pt x="617949" y="386397"/>
                    <a:pt x="616439" y="385788"/>
                  </a:cubicBezTo>
                  <a:cubicBezTo>
                    <a:pt x="610226" y="383231"/>
                    <a:pt x="607229" y="376122"/>
                    <a:pt x="609787" y="369912"/>
                  </a:cubicBezTo>
                  <a:cubicBezTo>
                    <a:pt x="614295" y="358858"/>
                    <a:pt x="617292" y="347925"/>
                    <a:pt x="618729" y="337406"/>
                  </a:cubicBezTo>
                  <a:cubicBezTo>
                    <a:pt x="619631" y="330735"/>
                    <a:pt x="625746" y="326060"/>
                    <a:pt x="632422" y="326961"/>
                  </a:cubicBezTo>
                  <a:cubicBezTo>
                    <a:pt x="639098" y="327862"/>
                    <a:pt x="643776" y="333997"/>
                    <a:pt x="642874" y="340669"/>
                  </a:cubicBezTo>
                  <a:close/>
                  <a:moveTo>
                    <a:pt x="599920" y="249725"/>
                  </a:moveTo>
                  <a:cubicBezTo>
                    <a:pt x="604939" y="245245"/>
                    <a:pt x="612662" y="245707"/>
                    <a:pt x="617121" y="250723"/>
                  </a:cubicBezTo>
                  <a:cubicBezTo>
                    <a:pt x="626136" y="260853"/>
                    <a:pt x="633348" y="273222"/>
                    <a:pt x="637977" y="286492"/>
                  </a:cubicBezTo>
                  <a:cubicBezTo>
                    <a:pt x="640194" y="292847"/>
                    <a:pt x="636856" y="299787"/>
                    <a:pt x="630497" y="302003"/>
                  </a:cubicBezTo>
                  <a:cubicBezTo>
                    <a:pt x="629181" y="302465"/>
                    <a:pt x="627817" y="302684"/>
                    <a:pt x="626477" y="302684"/>
                  </a:cubicBezTo>
                  <a:cubicBezTo>
                    <a:pt x="621458" y="302684"/>
                    <a:pt x="616731" y="299543"/>
                    <a:pt x="614977" y="294527"/>
                  </a:cubicBezTo>
                  <a:cubicBezTo>
                    <a:pt x="611371" y="284228"/>
                    <a:pt x="605816" y="274683"/>
                    <a:pt x="598921" y="266916"/>
                  </a:cubicBezTo>
                  <a:cubicBezTo>
                    <a:pt x="594438" y="261875"/>
                    <a:pt x="594901" y="254181"/>
                    <a:pt x="599920" y="249725"/>
                  </a:cubicBezTo>
                  <a:close/>
                  <a:moveTo>
                    <a:pt x="604062" y="407386"/>
                  </a:moveTo>
                  <a:cubicBezTo>
                    <a:pt x="609519" y="411306"/>
                    <a:pt x="610786" y="418903"/>
                    <a:pt x="606864" y="424357"/>
                  </a:cubicBezTo>
                  <a:cubicBezTo>
                    <a:pt x="599433" y="434706"/>
                    <a:pt x="591149" y="444689"/>
                    <a:pt x="582207" y="454039"/>
                  </a:cubicBezTo>
                  <a:cubicBezTo>
                    <a:pt x="579819" y="456547"/>
                    <a:pt x="576603" y="457789"/>
                    <a:pt x="573412" y="457789"/>
                  </a:cubicBezTo>
                  <a:cubicBezTo>
                    <a:pt x="570366" y="457789"/>
                    <a:pt x="567345" y="456669"/>
                    <a:pt x="564982" y="454428"/>
                  </a:cubicBezTo>
                  <a:cubicBezTo>
                    <a:pt x="560109" y="449778"/>
                    <a:pt x="559938" y="442059"/>
                    <a:pt x="564592" y="437214"/>
                  </a:cubicBezTo>
                  <a:cubicBezTo>
                    <a:pt x="572729" y="428691"/>
                    <a:pt x="580307" y="419585"/>
                    <a:pt x="587056" y="410162"/>
                  </a:cubicBezTo>
                  <a:cubicBezTo>
                    <a:pt x="590978" y="404707"/>
                    <a:pt x="598604" y="403466"/>
                    <a:pt x="604062" y="407386"/>
                  </a:cubicBezTo>
                  <a:close/>
                  <a:moveTo>
                    <a:pt x="525682" y="227129"/>
                  </a:moveTo>
                  <a:cubicBezTo>
                    <a:pt x="535428" y="223477"/>
                    <a:pt x="545393" y="221626"/>
                    <a:pt x="555309" y="221626"/>
                  </a:cubicBezTo>
                  <a:cubicBezTo>
                    <a:pt x="559548" y="221602"/>
                    <a:pt x="564007" y="221991"/>
                    <a:pt x="568271" y="222697"/>
                  </a:cubicBezTo>
                  <a:cubicBezTo>
                    <a:pt x="574898" y="223818"/>
                    <a:pt x="579357" y="230100"/>
                    <a:pt x="578236" y="236747"/>
                  </a:cubicBezTo>
                  <a:cubicBezTo>
                    <a:pt x="577115" y="243370"/>
                    <a:pt x="570829" y="247850"/>
                    <a:pt x="564202" y="246706"/>
                  </a:cubicBezTo>
                  <a:cubicBezTo>
                    <a:pt x="561278" y="246219"/>
                    <a:pt x="558306" y="245975"/>
                    <a:pt x="555333" y="245975"/>
                  </a:cubicBezTo>
                  <a:lnTo>
                    <a:pt x="555309" y="245975"/>
                  </a:lnTo>
                  <a:cubicBezTo>
                    <a:pt x="548341" y="245975"/>
                    <a:pt x="541251" y="247290"/>
                    <a:pt x="534234" y="249920"/>
                  </a:cubicBezTo>
                  <a:cubicBezTo>
                    <a:pt x="532821" y="250455"/>
                    <a:pt x="531383" y="250723"/>
                    <a:pt x="529946" y="250723"/>
                  </a:cubicBezTo>
                  <a:cubicBezTo>
                    <a:pt x="525024" y="250723"/>
                    <a:pt x="520395" y="247704"/>
                    <a:pt x="518543" y="242810"/>
                  </a:cubicBezTo>
                  <a:cubicBezTo>
                    <a:pt x="516180" y="236528"/>
                    <a:pt x="519372" y="229491"/>
                    <a:pt x="525682" y="227129"/>
                  </a:cubicBezTo>
                  <a:close/>
                  <a:moveTo>
                    <a:pt x="509285" y="422726"/>
                  </a:moveTo>
                  <a:cubicBezTo>
                    <a:pt x="515595" y="432636"/>
                    <a:pt x="522734" y="441718"/>
                    <a:pt x="530506" y="449705"/>
                  </a:cubicBezTo>
                  <a:cubicBezTo>
                    <a:pt x="535209" y="454526"/>
                    <a:pt x="535111" y="462220"/>
                    <a:pt x="530287" y="466920"/>
                  </a:cubicBezTo>
                  <a:cubicBezTo>
                    <a:pt x="527924" y="469233"/>
                    <a:pt x="524854" y="470377"/>
                    <a:pt x="521784" y="470377"/>
                  </a:cubicBezTo>
                  <a:cubicBezTo>
                    <a:pt x="518617" y="470377"/>
                    <a:pt x="515449" y="469135"/>
                    <a:pt x="513062" y="466700"/>
                  </a:cubicBezTo>
                  <a:cubicBezTo>
                    <a:pt x="504095" y="457521"/>
                    <a:pt x="495909" y="447099"/>
                    <a:pt x="488722" y="435777"/>
                  </a:cubicBezTo>
                  <a:cubicBezTo>
                    <a:pt x="485116" y="430104"/>
                    <a:pt x="486797" y="422580"/>
                    <a:pt x="492474" y="418976"/>
                  </a:cubicBezTo>
                  <a:cubicBezTo>
                    <a:pt x="498151" y="415372"/>
                    <a:pt x="505679" y="417052"/>
                    <a:pt x="509285" y="422726"/>
                  </a:cubicBezTo>
                  <a:close/>
                  <a:moveTo>
                    <a:pt x="462506" y="296719"/>
                  </a:moveTo>
                  <a:cubicBezTo>
                    <a:pt x="463480" y="293334"/>
                    <a:pt x="464625" y="289974"/>
                    <a:pt x="465892" y="286736"/>
                  </a:cubicBezTo>
                  <a:cubicBezTo>
                    <a:pt x="469596" y="277215"/>
                    <a:pt x="474810" y="268206"/>
                    <a:pt x="481364" y="259952"/>
                  </a:cubicBezTo>
                  <a:cubicBezTo>
                    <a:pt x="485554" y="254692"/>
                    <a:pt x="493205" y="253791"/>
                    <a:pt x="498492" y="257979"/>
                  </a:cubicBezTo>
                  <a:cubicBezTo>
                    <a:pt x="503754" y="262143"/>
                    <a:pt x="504631" y="269813"/>
                    <a:pt x="500465" y="275072"/>
                  </a:cubicBezTo>
                  <a:cubicBezTo>
                    <a:pt x="495422" y="281428"/>
                    <a:pt x="491426" y="288343"/>
                    <a:pt x="488600" y="295574"/>
                  </a:cubicBezTo>
                  <a:cubicBezTo>
                    <a:pt x="487601" y="298155"/>
                    <a:pt x="486675" y="300834"/>
                    <a:pt x="485895" y="303537"/>
                  </a:cubicBezTo>
                  <a:cubicBezTo>
                    <a:pt x="484336" y="308845"/>
                    <a:pt x="479488" y="312302"/>
                    <a:pt x="474201" y="312302"/>
                  </a:cubicBezTo>
                  <a:cubicBezTo>
                    <a:pt x="473080" y="312302"/>
                    <a:pt x="471935" y="312156"/>
                    <a:pt x="470790" y="311815"/>
                  </a:cubicBezTo>
                  <a:cubicBezTo>
                    <a:pt x="464333" y="309941"/>
                    <a:pt x="460605" y="303171"/>
                    <a:pt x="462506" y="296719"/>
                  </a:cubicBezTo>
                  <a:close/>
                  <a:moveTo>
                    <a:pt x="469084" y="336749"/>
                  </a:moveTo>
                  <a:cubicBezTo>
                    <a:pt x="475784" y="336043"/>
                    <a:pt x="481753" y="340913"/>
                    <a:pt x="482460" y="347584"/>
                  </a:cubicBezTo>
                  <a:cubicBezTo>
                    <a:pt x="483581" y="358444"/>
                    <a:pt x="486042" y="369718"/>
                    <a:pt x="489745" y="381064"/>
                  </a:cubicBezTo>
                  <a:cubicBezTo>
                    <a:pt x="491816" y="387444"/>
                    <a:pt x="488332" y="394335"/>
                    <a:pt x="481924" y="396404"/>
                  </a:cubicBezTo>
                  <a:cubicBezTo>
                    <a:pt x="480681" y="396818"/>
                    <a:pt x="479415" y="397013"/>
                    <a:pt x="478148" y="397013"/>
                  </a:cubicBezTo>
                  <a:cubicBezTo>
                    <a:pt x="473031" y="397013"/>
                    <a:pt x="468256" y="393750"/>
                    <a:pt x="466575" y="388613"/>
                  </a:cubicBezTo>
                  <a:cubicBezTo>
                    <a:pt x="462335" y="375635"/>
                    <a:pt x="459533" y="362681"/>
                    <a:pt x="458218" y="350117"/>
                  </a:cubicBezTo>
                  <a:cubicBezTo>
                    <a:pt x="457535" y="343421"/>
                    <a:pt x="462384" y="337431"/>
                    <a:pt x="469084" y="336749"/>
                  </a:cubicBezTo>
                  <a:close/>
                  <a:moveTo>
                    <a:pt x="422305" y="515520"/>
                  </a:moveTo>
                  <a:cubicBezTo>
                    <a:pt x="433756" y="513134"/>
                    <a:pt x="445207" y="509993"/>
                    <a:pt x="456366" y="506146"/>
                  </a:cubicBezTo>
                  <a:cubicBezTo>
                    <a:pt x="462725" y="503930"/>
                    <a:pt x="469644" y="507315"/>
                    <a:pt x="471862" y="513670"/>
                  </a:cubicBezTo>
                  <a:cubicBezTo>
                    <a:pt x="474054" y="520025"/>
                    <a:pt x="470668" y="526940"/>
                    <a:pt x="464309" y="529156"/>
                  </a:cubicBezTo>
                  <a:cubicBezTo>
                    <a:pt x="452175" y="533344"/>
                    <a:pt x="439725" y="536777"/>
                    <a:pt x="427251" y="539358"/>
                  </a:cubicBezTo>
                  <a:cubicBezTo>
                    <a:pt x="426422" y="539529"/>
                    <a:pt x="425594" y="539602"/>
                    <a:pt x="424766" y="539602"/>
                  </a:cubicBezTo>
                  <a:cubicBezTo>
                    <a:pt x="419113" y="539602"/>
                    <a:pt x="414045" y="535657"/>
                    <a:pt x="412852" y="529911"/>
                  </a:cubicBezTo>
                  <a:cubicBezTo>
                    <a:pt x="411487" y="523312"/>
                    <a:pt x="415727" y="516884"/>
                    <a:pt x="422305" y="515520"/>
                  </a:cubicBezTo>
                  <a:close/>
                  <a:moveTo>
                    <a:pt x="0" y="570282"/>
                  </a:moveTo>
                  <a:cubicBezTo>
                    <a:pt x="4093" y="572814"/>
                    <a:pt x="6481" y="577635"/>
                    <a:pt x="5628" y="582651"/>
                  </a:cubicBezTo>
                  <a:cubicBezTo>
                    <a:pt x="4751" y="587813"/>
                    <a:pt x="4459" y="593000"/>
                    <a:pt x="4751" y="598137"/>
                  </a:cubicBezTo>
                  <a:cubicBezTo>
                    <a:pt x="4995" y="602325"/>
                    <a:pt x="3094" y="606124"/>
                    <a:pt x="0" y="608510"/>
                  </a:cubicBezTo>
                  <a:lnTo>
                    <a:pt x="0" y="897047"/>
                  </a:lnTo>
                  <a:lnTo>
                    <a:pt x="372675" y="730840"/>
                  </a:lnTo>
                  <a:lnTo>
                    <a:pt x="372675" y="545348"/>
                  </a:lnTo>
                  <a:cubicBezTo>
                    <a:pt x="371432" y="545348"/>
                    <a:pt x="370214" y="545397"/>
                    <a:pt x="368972" y="545397"/>
                  </a:cubicBezTo>
                  <a:cubicBezTo>
                    <a:pt x="358958" y="545397"/>
                    <a:pt x="348895" y="544837"/>
                    <a:pt x="339052" y="543766"/>
                  </a:cubicBezTo>
                  <a:lnTo>
                    <a:pt x="337761" y="543619"/>
                  </a:lnTo>
                  <a:cubicBezTo>
                    <a:pt x="331085" y="542865"/>
                    <a:pt x="326261" y="536826"/>
                    <a:pt x="327016" y="530154"/>
                  </a:cubicBezTo>
                  <a:cubicBezTo>
                    <a:pt x="327772" y="523483"/>
                    <a:pt x="333790" y="518662"/>
                    <a:pt x="340490" y="519416"/>
                  </a:cubicBezTo>
                  <a:lnTo>
                    <a:pt x="341757" y="519562"/>
                  </a:lnTo>
                  <a:cubicBezTo>
                    <a:pt x="351892" y="520682"/>
                    <a:pt x="362320" y="521145"/>
                    <a:pt x="372675" y="520975"/>
                  </a:cubicBezTo>
                  <a:lnTo>
                    <a:pt x="372675" y="0"/>
                  </a:lnTo>
                  <a:lnTo>
                    <a:pt x="0" y="166207"/>
                  </a:lnTo>
                  <a:lnTo>
                    <a:pt x="0" y="570282"/>
                  </a:lnTo>
                  <a:close/>
                  <a:moveTo>
                    <a:pt x="243472" y="509360"/>
                  </a:moveTo>
                  <a:cubicBezTo>
                    <a:pt x="245323" y="502908"/>
                    <a:pt x="252072" y="499158"/>
                    <a:pt x="258553" y="501008"/>
                  </a:cubicBezTo>
                  <a:cubicBezTo>
                    <a:pt x="269785" y="504247"/>
                    <a:pt x="281821" y="507631"/>
                    <a:pt x="293735" y="510602"/>
                  </a:cubicBezTo>
                  <a:cubicBezTo>
                    <a:pt x="300265" y="512209"/>
                    <a:pt x="304236" y="518808"/>
                    <a:pt x="302628" y="525333"/>
                  </a:cubicBezTo>
                  <a:cubicBezTo>
                    <a:pt x="301239" y="530885"/>
                    <a:pt x="296269" y="534586"/>
                    <a:pt x="290811" y="534586"/>
                  </a:cubicBezTo>
                  <a:cubicBezTo>
                    <a:pt x="289837" y="534586"/>
                    <a:pt x="288838" y="534464"/>
                    <a:pt x="287863" y="534221"/>
                  </a:cubicBezTo>
                  <a:cubicBezTo>
                    <a:pt x="275584" y="531177"/>
                    <a:pt x="263280" y="527719"/>
                    <a:pt x="251804" y="524432"/>
                  </a:cubicBezTo>
                  <a:cubicBezTo>
                    <a:pt x="245348" y="522557"/>
                    <a:pt x="241620" y="515813"/>
                    <a:pt x="243472" y="509360"/>
                  </a:cubicBezTo>
                  <a:close/>
                  <a:moveTo>
                    <a:pt x="159659" y="489832"/>
                  </a:moveTo>
                  <a:cubicBezTo>
                    <a:pt x="160779" y="483209"/>
                    <a:pt x="167017" y="478705"/>
                    <a:pt x="173668" y="479800"/>
                  </a:cubicBezTo>
                  <a:cubicBezTo>
                    <a:pt x="184949" y="481675"/>
                    <a:pt x="196644" y="484134"/>
                    <a:pt x="209483" y="487373"/>
                  </a:cubicBezTo>
                  <a:lnTo>
                    <a:pt x="210677" y="487689"/>
                  </a:lnTo>
                  <a:cubicBezTo>
                    <a:pt x="217183" y="489345"/>
                    <a:pt x="221178" y="495992"/>
                    <a:pt x="219522" y="502518"/>
                  </a:cubicBezTo>
                  <a:cubicBezTo>
                    <a:pt x="218108" y="508021"/>
                    <a:pt x="213187" y="511698"/>
                    <a:pt x="207778" y="511698"/>
                  </a:cubicBezTo>
                  <a:cubicBezTo>
                    <a:pt x="206779" y="511698"/>
                    <a:pt x="205780" y="511552"/>
                    <a:pt x="204757" y="511308"/>
                  </a:cubicBezTo>
                  <a:lnTo>
                    <a:pt x="203539" y="510992"/>
                  </a:lnTo>
                  <a:cubicBezTo>
                    <a:pt x="191357" y="507924"/>
                    <a:pt x="180295" y="505586"/>
                    <a:pt x="169697" y="503833"/>
                  </a:cubicBezTo>
                  <a:cubicBezTo>
                    <a:pt x="163070" y="502737"/>
                    <a:pt x="158562" y="496479"/>
                    <a:pt x="159659" y="489832"/>
                  </a:cubicBezTo>
                  <a:close/>
                  <a:moveTo>
                    <a:pt x="83374" y="480482"/>
                  </a:moveTo>
                  <a:cubicBezTo>
                    <a:pt x="95630" y="477682"/>
                    <a:pt x="108762" y="476099"/>
                    <a:pt x="122430" y="475783"/>
                  </a:cubicBezTo>
                  <a:cubicBezTo>
                    <a:pt x="129155" y="475588"/>
                    <a:pt x="134734" y="480969"/>
                    <a:pt x="134880" y="487689"/>
                  </a:cubicBezTo>
                  <a:cubicBezTo>
                    <a:pt x="135026" y="494410"/>
                    <a:pt x="129691" y="499986"/>
                    <a:pt x="122966" y="500132"/>
                  </a:cubicBezTo>
                  <a:cubicBezTo>
                    <a:pt x="110955" y="500400"/>
                    <a:pt x="99479" y="501788"/>
                    <a:pt x="88856" y="504222"/>
                  </a:cubicBezTo>
                  <a:cubicBezTo>
                    <a:pt x="87930" y="504442"/>
                    <a:pt x="87005" y="504539"/>
                    <a:pt x="86103" y="504539"/>
                  </a:cubicBezTo>
                  <a:cubicBezTo>
                    <a:pt x="80548" y="504539"/>
                    <a:pt x="75553" y="500716"/>
                    <a:pt x="74238" y="495092"/>
                  </a:cubicBezTo>
                  <a:cubicBezTo>
                    <a:pt x="72727" y="488542"/>
                    <a:pt x="76820" y="481992"/>
                    <a:pt x="83374" y="480482"/>
                  </a:cubicBezTo>
                  <a:close/>
                  <a:moveTo>
                    <a:pt x="4556" y="528888"/>
                  </a:moveTo>
                  <a:cubicBezTo>
                    <a:pt x="12889" y="518491"/>
                    <a:pt x="22878" y="509287"/>
                    <a:pt x="34305" y="501520"/>
                  </a:cubicBezTo>
                  <a:cubicBezTo>
                    <a:pt x="39860" y="497746"/>
                    <a:pt x="47437" y="499207"/>
                    <a:pt x="51214" y="504758"/>
                  </a:cubicBezTo>
                  <a:cubicBezTo>
                    <a:pt x="54990" y="510310"/>
                    <a:pt x="53553" y="517882"/>
                    <a:pt x="47997" y="521656"/>
                  </a:cubicBezTo>
                  <a:cubicBezTo>
                    <a:pt x="38593" y="528036"/>
                    <a:pt x="30407" y="535584"/>
                    <a:pt x="23609" y="544082"/>
                  </a:cubicBezTo>
                  <a:cubicBezTo>
                    <a:pt x="21197" y="547101"/>
                    <a:pt x="17664" y="548660"/>
                    <a:pt x="14083" y="548660"/>
                  </a:cubicBezTo>
                  <a:cubicBezTo>
                    <a:pt x="11402" y="548660"/>
                    <a:pt x="8722" y="547783"/>
                    <a:pt x="6481" y="546006"/>
                  </a:cubicBezTo>
                  <a:cubicBezTo>
                    <a:pt x="1218" y="541793"/>
                    <a:pt x="365" y="534148"/>
                    <a:pt x="4556" y="528888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510E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282D6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8"/>
            <p:cNvSpPr/>
            <p:nvPr/>
          </p:nvSpPr>
          <p:spPr>
            <a:xfrm>
              <a:off x="14832586" y="7085828"/>
              <a:ext cx="192196" cy="249329"/>
            </a:xfrm>
            <a:custGeom>
              <a:rect b="b" l="l" r="r" t="t"/>
              <a:pathLst>
                <a:path extrusionOk="0" h="332439" w="256262">
                  <a:moveTo>
                    <a:pt x="256263" y="128052"/>
                  </a:moveTo>
                  <a:cubicBezTo>
                    <a:pt x="256263" y="220896"/>
                    <a:pt x="164580" y="305558"/>
                    <a:pt x="136318" y="329444"/>
                  </a:cubicBezTo>
                  <a:cubicBezTo>
                    <a:pt x="131591" y="333437"/>
                    <a:pt x="124672" y="333437"/>
                    <a:pt x="119945" y="329444"/>
                  </a:cubicBezTo>
                  <a:cubicBezTo>
                    <a:pt x="91683" y="305558"/>
                    <a:pt x="0" y="220896"/>
                    <a:pt x="0" y="128052"/>
                  </a:cubicBezTo>
                  <a:cubicBezTo>
                    <a:pt x="0" y="57318"/>
                    <a:pt x="57378" y="0"/>
                    <a:pt x="128131" y="0"/>
                  </a:cubicBezTo>
                  <a:cubicBezTo>
                    <a:pt x="198885" y="0"/>
                    <a:pt x="256263" y="57342"/>
                    <a:pt x="256263" y="128052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510E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282D6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8"/>
            <p:cNvSpPr/>
            <p:nvPr/>
          </p:nvSpPr>
          <p:spPr>
            <a:xfrm>
              <a:off x="14823450" y="7076697"/>
              <a:ext cx="210470" cy="267609"/>
            </a:xfrm>
            <a:custGeom>
              <a:rect b="b" l="l" r="r" t="t"/>
              <a:pathLst>
                <a:path extrusionOk="0" h="356812" w="280627">
                  <a:moveTo>
                    <a:pt x="140314" y="0"/>
                  </a:moveTo>
                  <a:cubicBezTo>
                    <a:pt x="62933" y="0"/>
                    <a:pt x="0" y="62894"/>
                    <a:pt x="0" y="140227"/>
                  </a:cubicBezTo>
                  <a:cubicBezTo>
                    <a:pt x="0" y="238257"/>
                    <a:pt x="95118" y="326279"/>
                    <a:pt x="124257" y="350920"/>
                  </a:cubicBezTo>
                  <a:cubicBezTo>
                    <a:pt x="128911" y="354840"/>
                    <a:pt x="134612" y="356813"/>
                    <a:pt x="140314" y="356813"/>
                  </a:cubicBezTo>
                  <a:cubicBezTo>
                    <a:pt x="146015" y="356813"/>
                    <a:pt x="151716" y="354840"/>
                    <a:pt x="156370" y="350920"/>
                  </a:cubicBezTo>
                  <a:cubicBezTo>
                    <a:pt x="185509" y="326279"/>
                    <a:pt x="280627" y="238257"/>
                    <a:pt x="280627" y="140227"/>
                  </a:cubicBezTo>
                  <a:cubicBezTo>
                    <a:pt x="280627" y="62918"/>
                    <a:pt x="217670" y="0"/>
                    <a:pt x="140314" y="0"/>
                  </a:cubicBezTo>
                  <a:close/>
                  <a:moveTo>
                    <a:pt x="140630" y="332317"/>
                  </a:moveTo>
                  <a:cubicBezTo>
                    <a:pt x="140435" y="332488"/>
                    <a:pt x="140167" y="332488"/>
                    <a:pt x="139997" y="332317"/>
                  </a:cubicBezTo>
                  <a:cubicBezTo>
                    <a:pt x="125256" y="319851"/>
                    <a:pt x="96702" y="293797"/>
                    <a:pt x="71363" y="259538"/>
                  </a:cubicBezTo>
                  <a:cubicBezTo>
                    <a:pt x="40177" y="217389"/>
                    <a:pt x="24364" y="177262"/>
                    <a:pt x="24364" y="140227"/>
                  </a:cubicBezTo>
                  <a:cubicBezTo>
                    <a:pt x="24364" y="76335"/>
                    <a:pt x="76382" y="24349"/>
                    <a:pt x="140314" y="24349"/>
                  </a:cubicBezTo>
                  <a:cubicBezTo>
                    <a:pt x="204245" y="24349"/>
                    <a:pt x="256263" y="76335"/>
                    <a:pt x="256263" y="140227"/>
                  </a:cubicBezTo>
                  <a:cubicBezTo>
                    <a:pt x="256263" y="227786"/>
                    <a:pt x="167748" y="309405"/>
                    <a:pt x="140630" y="332317"/>
                  </a:cubicBezTo>
                  <a:close/>
                  <a:moveTo>
                    <a:pt x="140314" y="78331"/>
                  </a:moveTo>
                  <a:cubicBezTo>
                    <a:pt x="105789" y="78331"/>
                    <a:pt x="77698" y="106406"/>
                    <a:pt x="77698" y="140909"/>
                  </a:cubicBezTo>
                  <a:cubicBezTo>
                    <a:pt x="77698" y="175411"/>
                    <a:pt x="105789" y="203486"/>
                    <a:pt x="140314" y="203486"/>
                  </a:cubicBezTo>
                  <a:cubicBezTo>
                    <a:pt x="174838" y="203486"/>
                    <a:pt x="202930" y="175411"/>
                    <a:pt x="202930" y="140909"/>
                  </a:cubicBezTo>
                  <a:cubicBezTo>
                    <a:pt x="202930" y="106406"/>
                    <a:pt x="174838" y="78331"/>
                    <a:pt x="140314" y="78331"/>
                  </a:cubicBezTo>
                  <a:close/>
                  <a:moveTo>
                    <a:pt x="140314" y="179112"/>
                  </a:moveTo>
                  <a:cubicBezTo>
                    <a:pt x="119214" y="179112"/>
                    <a:pt x="102062" y="161971"/>
                    <a:pt x="102062" y="140884"/>
                  </a:cubicBezTo>
                  <a:cubicBezTo>
                    <a:pt x="102062" y="119798"/>
                    <a:pt x="119214" y="102656"/>
                    <a:pt x="140314" y="102656"/>
                  </a:cubicBezTo>
                  <a:cubicBezTo>
                    <a:pt x="161413" y="102656"/>
                    <a:pt x="178565" y="119798"/>
                    <a:pt x="178565" y="140884"/>
                  </a:cubicBezTo>
                  <a:cubicBezTo>
                    <a:pt x="178565" y="161971"/>
                    <a:pt x="161389" y="179112"/>
                    <a:pt x="140314" y="179112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510E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282D6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6" name="Google Shape;426;p28"/>
          <p:cNvSpPr/>
          <p:nvPr/>
        </p:nvSpPr>
        <p:spPr>
          <a:xfrm>
            <a:off x="7515837" y="2349198"/>
            <a:ext cx="501322" cy="563983"/>
          </a:xfrm>
          <a:custGeom>
            <a:rect b="b" l="l" r="r" t="t"/>
            <a:pathLst>
              <a:path extrusionOk="0" h="1064118" w="864349">
                <a:moveTo>
                  <a:pt x="864350" y="870296"/>
                </a:moveTo>
                <a:lnTo>
                  <a:pt x="864350" y="908989"/>
                </a:lnTo>
                <a:cubicBezTo>
                  <a:pt x="864350" y="917642"/>
                  <a:pt x="859491" y="923677"/>
                  <a:pt x="855120" y="923677"/>
                </a:cubicBezTo>
                <a:lnTo>
                  <a:pt x="623802" y="923677"/>
                </a:lnTo>
                <a:cubicBezTo>
                  <a:pt x="631012" y="905861"/>
                  <a:pt x="637646" y="888067"/>
                  <a:pt x="643703" y="870296"/>
                </a:cubicBezTo>
                <a:lnTo>
                  <a:pt x="864350" y="870296"/>
                </a:lnTo>
                <a:close/>
                <a:moveTo>
                  <a:pt x="651002" y="848109"/>
                </a:moveTo>
                <a:lnTo>
                  <a:pt x="862908" y="848109"/>
                </a:lnTo>
                <a:cubicBezTo>
                  <a:pt x="861887" y="844293"/>
                  <a:pt x="860356" y="840698"/>
                  <a:pt x="858337" y="837592"/>
                </a:cubicBezTo>
                <a:lnTo>
                  <a:pt x="691671" y="580382"/>
                </a:lnTo>
                <a:cubicBezTo>
                  <a:pt x="691759" y="585085"/>
                  <a:pt x="691804" y="589767"/>
                  <a:pt x="691804" y="594448"/>
                </a:cubicBezTo>
                <a:cubicBezTo>
                  <a:pt x="691804" y="677293"/>
                  <a:pt x="678092" y="762180"/>
                  <a:pt x="651002" y="848109"/>
                </a:cubicBezTo>
                <a:close/>
                <a:moveTo>
                  <a:pt x="669617" y="594448"/>
                </a:moveTo>
                <a:cubicBezTo>
                  <a:pt x="669617" y="719404"/>
                  <a:pt x="637535" y="849373"/>
                  <a:pt x="574303" y="980763"/>
                </a:cubicBezTo>
                <a:cubicBezTo>
                  <a:pt x="573282" y="982871"/>
                  <a:pt x="571818" y="984779"/>
                  <a:pt x="569888" y="986421"/>
                </a:cubicBezTo>
                <a:cubicBezTo>
                  <a:pt x="565717" y="990037"/>
                  <a:pt x="559837" y="992123"/>
                  <a:pt x="553758" y="992123"/>
                </a:cubicBezTo>
                <a:lnTo>
                  <a:pt x="545371" y="992123"/>
                </a:lnTo>
                <a:lnTo>
                  <a:pt x="318978" y="992123"/>
                </a:lnTo>
                <a:lnTo>
                  <a:pt x="310592" y="992123"/>
                </a:lnTo>
                <a:cubicBezTo>
                  <a:pt x="301562" y="992123"/>
                  <a:pt x="293308" y="987552"/>
                  <a:pt x="290025" y="980763"/>
                </a:cubicBezTo>
                <a:cubicBezTo>
                  <a:pt x="281949" y="963990"/>
                  <a:pt x="274405" y="947217"/>
                  <a:pt x="267350" y="930488"/>
                </a:cubicBezTo>
                <a:cubicBezTo>
                  <a:pt x="267328" y="930466"/>
                  <a:pt x="267328" y="930444"/>
                  <a:pt x="267305" y="930421"/>
                </a:cubicBezTo>
                <a:cubicBezTo>
                  <a:pt x="219138" y="816204"/>
                  <a:pt x="194733" y="703407"/>
                  <a:pt x="194733" y="594448"/>
                </a:cubicBezTo>
                <a:cubicBezTo>
                  <a:pt x="194733" y="520456"/>
                  <a:pt x="206248" y="443601"/>
                  <a:pt x="228967" y="365970"/>
                </a:cubicBezTo>
                <a:cubicBezTo>
                  <a:pt x="247093" y="304024"/>
                  <a:pt x="272364" y="241436"/>
                  <a:pt x="304091" y="179912"/>
                </a:cubicBezTo>
                <a:cubicBezTo>
                  <a:pt x="357960" y="75501"/>
                  <a:pt x="411608" y="10605"/>
                  <a:pt x="413849" y="7898"/>
                </a:cubicBezTo>
                <a:cubicBezTo>
                  <a:pt x="417998" y="2951"/>
                  <a:pt x="424831" y="0"/>
                  <a:pt x="432175" y="0"/>
                </a:cubicBezTo>
                <a:cubicBezTo>
                  <a:pt x="439519" y="0"/>
                  <a:pt x="446352" y="2951"/>
                  <a:pt x="450479" y="7921"/>
                </a:cubicBezTo>
                <a:cubicBezTo>
                  <a:pt x="451034" y="8564"/>
                  <a:pt x="505790" y="74348"/>
                  <a:pt x="560259" y="179912"/>
                </a:cubicBezTo>
                <a:cubicBezTo>
                  <a:pt x="591986" y="241436"/>
                  <a:pt x="617256" y="304047"/>
                  <a:pt x="635383" y="365970"/>
                </a:cubicBezTo>
                <a:cubicBezTo>
                  <a:pt x="658102" y="443601"/>
                  <a:pt x="669617" y="520456"/>
                  <a:pt x="669617" y="594448"/>
                </a:cubicBezTo>
                <a:close/>
                <a:moveTo>
                  <a:pt x="531727" y="745562"/>
                </a:moveTo>
                <a:cubicBezTo>
                  <a:pt x="531727" y="690672"/>
                  <a:pt x="487065" y="646032"/>
                  <a:pt x="432175" y="646032"/>
                </a:cubicBezTo>
                <a:cubicBezTo>
                  <a:pt x="377285" y="646032"/>
                  <a:pt x="332623" y="690672"/>
                  <a:pt x="332623" y="745562"/>
                </a:cubicBezTo>
                <a:cubicBezTo>
                  <a:pt x="332623" y="800452"/>
                  <a:pt x="377285" y="845114"/>
                  <a:pt x="432175" y="845114"/>
                </a:cubicBezTo>
                <a:cubicBezTo>
                  <a:pt x="487065" y="845114"/>
                  <a:pt x="531727" y="800452"/>
                  <a:pt x="531727" y="745562"/>
                </a:cubicBezTo>
                <a:close/>
                <a:moveTo>
                  <a:pt x="585019" y="448083"/>
                </a:moveTo>
                <a:cubicBezTo>
                  <a:pt x="585019" y="363818"/>
                  <a:pt x="516440" y="295261"/>
                  <a:pt x="432175" y="295261"/>
                </a:cubicBezTo>
                <a:cubicBezTo>
                  <a:pt x="347910" y="295261"/>
                  <a:pt x="279331" y="363818"/>
                  <a:pt x="279331" y="448083"/>
                </a:cubicBezTo>
                <a:cubicBezTo>
                  <a:pt x="279331" y="532370"/>
                  <a:pt x="347910" y="600927"/>
                  <a:pt x="432175" y="600927"/>
                </a:cubicBezTo>
                <a:cubicBezTo>
                  <a:pt x="516440" y="600927"/>
                  <a:pt x="585019" y="532370"/>
                  <a:pt x="585019" y="448083"/>
                </a:cubicBezTo>
                <a:close/>
                <a:moveTo>
                  <a:pt x="330072" y="1063586"/>
                </a:moveTo>
                <a:cubicBezTo>
                  <a:pt x="330072" y="1063875"/>
                  <a:pt x="330316" y="1064119"/>
                  <a:pt x="330604" y="1064119"/>
                </a:cubicBezTo>
                <a:lnTo>
                  <a:pt x="533746" y="1064119"/>
                </a:lnTo>
                <a:cubicBezTo>
                  <a:pt x="534034" y="1064119"/>
                  <a:pt x="534278" y="1063875"/>
                  <a:pt x="534278" y="1063586"/>
                </a:cubicBezTo>
                <a:lnTo>
                  <a:pt x="534278" y="1014309"/>
                </a:lnTo>
                <a:lnTo>
                  <a:pt x="330072" y="1014309"/>
                </a:lnTo>
                <a:lnTo>
                  <a:pt x="330072" y="1063586"/>
                </a:lnTo>
                <a:close/>
                <a:moveTo>
                  <a:pt x="432175" y="317447"/>
                </a:moveTo>
                <a:cubicBezTo>
                  <a:pt x="360135" y="317447"/>
                  <a:pt x="301517" y="376042"/>
                  <a:pt x="301517" y="448083"/>
                </a:cubicBezTo>
                <a:cubicBezTo>
                  <a:pt x="301517" y="520123"/>
                  <a:pt x="360135" y="578740"/>
                  <a:pt x="432175" y="578740"/>
                </a:cubicBezTo>
                <a:cubicBezTo>
                  <a:pt x="504215" y="578740"/>
                  <a:pt x="562832" y="520123"/>
                  <a:pt x="562832" y="448083"/>
                </a:cubicBezTo>
                <a:cubicBezTo>
                  <a:pt x="562832" y="376042"/>
                  <a:pt x="504215" y="317447"/>
                  <a:pt x="432175" y="317447"/>
                </a:cubicBezTo>
                <a:close/>
                <a:moveTo>
                  <a:pt x="432175" y="668219"/>
                </a:moveTo>
                <a:cubicBezTo>
                  <a:pt x="389510" y="668219"/>
                  <a:pt x="354810" y="702919"/>
                  <a:pt x="354810" y="745562"/>
                </a:cubicBezTo>
                <a:cubicBezTo>
                  <a:pt x="354810" y="788227"/>
                  <a:pt x="389510" y="822927"/>
                  <a:pt x="432175" y="822927"/>
                </a:cubicBezTo>
                <a:cubicBezTo>
                  <a:pt x="474840" y="822927"/>
                  <a:pt x="509540" y="788227"/>
                  <a:pt x="509540" y="745562"/>
                </a:cubicBezTo>
                <a:cubicBezTo>
                  <a:pt x="509540" y="702919"/>
                  <a:pt x="474840" y="668219"/>
                  <a:pt x="432175" y="668219"/>
                </a:cubicBezTo>
                <a:close/>
                <a:moveTo>
                  <a:pt x="0" y="870296"/>
                </a:moveTo>
                <a:lnTo>
                  <a:pt x="0" y="908989"/>
                </a:lnTo>
                <a:cubicBezTo>
                  <a:pt x="0" y="917642"/>
                  <a:pt x="4859" y="923677"/>
                  <a:pt x="9230" y="923677"/>
                </a:cubicBezTo>
                <a:lnTo>
                  <a:pt x="240526" y="923677"/>
                </a:lnTo>
                <a:cubicBezTo>
                  <a:pt x="233338" y="905861"/>
                  <a:pt x="226704" y="888067"/>
                  <a:pt x="220647" y="870296"/>
                </a:cubicBezTo>
                <a:lnTo>
                  <a:pt x="0" y="870296"/>
                </a:lnTo>
                <a:close/>
                <a:moveTo>
                  <a:pt x="172546" y="594448"/>
                </a:moveTo>
                <a:cubicBezTo>
                  <a:pt x="172546" y="589767"/>
                  <a:pt x="172590" y="585085"/>
                  <a:pt x="172679" y="580382"/>
                </a:cubicBezTo>
                <a:lnTo>
                  <a:pt x="6035" y="837592"/>
                </a:lnTo>
                <a:cubicBezTo>
                  <a:pt x="4016" y="840698"/>
                  <a:pt x="2463" y="844293"/>
                  <a:pt x="1442" y="848109"/>
                </a:cubicBezTo>
                <a:lnTo>
                  <a:pt x="213347" y="848109"/>
                </a:lnTo>
                <a:cubicBezTo>
                  <a:pt x="186235" y="762180"/>
                  <a:pt x="172546" y="677293"/>
                  <a:pt x="172546" y="5944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5025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82D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8"/>
          <p:cNvSpPr/>
          <p:nvPr/>
        </p:nvSpPr>
        <p:spPr>
          <a:xfrm>
            <a:off x="8599573" y="2349595"/>
            <a:ext cx="528486" cy="563189"/>
          </a:xfrm>
          <a:custGeom>
            <a:rect b="b" l="l" r="r" t="t"/>
            <a:pathLst>
              <a:path extrusionOk="0" h="1098905" w="1031193">
                <a:moveTo>
                  <a:pt x="998412" y="179694"/>
                </a:moveTo>
                <a:lnTo>
                  <a:pt x="838812" y="179694"/>
                </a:lnTo>
                <a:lnTo>
                  <a:pt x="838812" y="25228"/>
                </a:lnTo>
                <a:cubicBezTo>
                  <a:pt x="838812" y="11327"/>
                  <a:pt x="827482" y="0"/>
                  <a:pt x="813579" y="0"/>
                </a:cubicBezTo>
                <a:lnTo>
                  <a:pt x="217548" y="0"/>
                </a:lnTo>
                <a:cubicBezTo>
                  <a:pt x="203623" y="0"/>
                  <a:pt x="192316" y="11327"/>
                  <a:pt x="192316" y="25228"/>
                </a:cubicBezTo>
                <a:lnTo>
                  <a:pt x="192316" y="179694"/>
                </a:lnTo>
                <a:lnTo>
                  <a:pt x="32694" y="179694"/>
                </a:lnTo>
                <a:cubicBezTo>
                  <a:pt x="14699" y="179694"/>
                  <a:pt x="48" y="194342"/>
                  <a:pt x="4" y="212356"/>
                </a:cubicBezTo>
                <a:cubicBezTo>
                  <a:pt x="-480" y="469624"/>
                  <a:pt x="47125" y="626532"/>
                  <a:pt x="141499" y="678769"/>
                </a:cubicBezTo>
                <a:cubicBezTo>
                  <a:pt x="166093" y="692383"/>
                  <a:pt x="190886" y="697178"/>
                  <a:pt x="213588" y="697178"/>
                </a:cubicBezTo>
                <a:cubicBezTo>
                  <a:pt x="254880" y="697178"/>
                  <a:pt x="289242" y="681342"/>
                  <a:pt x="303079" y="673930"/>
                </a:cubicBezTo>
                <a:cubicBezTo>
                  <a:pt x="338959" y="705294"/>
                  <a:pt x="381812" y="728872"/>
                  <a:pt x="428977" y="742002"/>
                </a:cubicBezTo>
                <a:lnTo>
                  <a:pt x="401919" y="939490"/>
                </a:lnTo>
                <a:lnTo>
                  <a:pt x="358141" y="939490"/>
                </a:lnTo>
                <a:cubicBezTo>
                  <a:pt x="338959" y="939490"/>
                  <a:pt x="323362" y="955084"/>
                  <a:pt x="323362" y="974263"/>
                </a:cubicBezTo>
                <a:lnTo>
                  <a:pt x="323362" y="1064132"/>
                </a:lnTo>
                <a:cubicBezTo>
                  <a:pt x="323362" y="1083311"/>
                  <a:pt x="338959" y="1098905"/>
                  <a:pt x="358141" y="1098905"/>
                </a:cubicBezTo>
                <a:lnTo>
                  <a:pt x="673052" y="1098905"/>
                </a:lnTo>
                <a:cubicBezTo>
                  <a:pt x="692235" y="1098905"/>
                  <a:pt x="707832" y="1083311"/>
                  <a:pt x="707832" y="1064132"/>
                </a:cubicBezTo>
                <a:lnTo>
                  <a:pt x="707832" y="974263"/>
                </a:lnTo>
                <a:cubicBezTo>
                  <a:pt x="707832" y="955084"/>
                  <a:pt x="692235" y="939490"/>
                  <a:pt x="673052" y="939490"/>
                </a:cubicBezTo>
                <a:lnTo>
                  <a:pt x="629275" y="939490"/>
                </a:lnTo>
                <a:lnTo>
                  <a:pt x="602216" y="742002"/>
                </a:lnTo>
                <a:cubicBezTo>
                  <a:pt x="649381" y="728872"/>
                  <a:pt x="692235" y="705294"/>
                  <a:pt x="728115" y="673930"/>
                </a:cubicBezTo>
                <a:cubicBezTo>
                  <a:pt x="741952" y="681342"/>
                  <a:pt x="776314" y="697178"/>
                  <a:pt x="817605" y="697178"/>
                </a:cubicBezTo>
                <a:cubicBezTo>
                  <a:pt x="840308" y="697178"/>
                  <a:pt x="865078" y="692383"/>
                  <a:pt x="889694" y="678769"/>
                </a:cubicBezTo>
                <a:cubicBezTo>
                  <a:pt x="984069" y="626554"/>
                  <a:pt x="1031674" y="469624"/>
                  <a:pt x="1031190" y="212356"/>
                </a:cubicBezTo>
                <a:cubicBezTo>
                  <a:pt x="1031080" y="194342"/>
                  <a:pt x="1016407" y="179694"/>
                  <a:pt x="998412" y="179694"/>
                </a:cubicBezTo>
                <a:close/>
                <a:moveTo>
                  <a:pt x="685789" y="974263"/>
                </a:moveTo>
                <a:lnTo>
                  <a:pt x="685789" y="1064132"/>
                </a:lnTo>
                <a:cubicBezTo>
                  <a:pt x="685789" y="1071192"/>
                  <a:pt x="680048" y="1076911"/>
                  <a:pt x="673008" y="1076911"/>
                </a:cubicBezTo>
                <a:lnTo>
                  <a:pt x="358119" y="1076911"/>
                </a:lnTo>
                <a:cubicBezTo>
                  <a:pt x="351058" y="1076911"/>
                  <a:pt x="345338" y="1071170"/>
                  <a:pt x="345338" y="1064132"/>
                </a:cubicBezTo>
                <a:lnTo>
                  <a:pt x="345338" y="974263"/>
                </a:lnTo>
                <a:cubicBezTo>
                  <a:pt x="345338" y="967203"/>
                  <a:pt x="351080" y="961484"/>
                  <a:pt x="358119" y="961484"/>
                </a:cubicBezTo>
                <a:lnTo>
                  <a:pt x="673030" y="961484"/>
                </a:lnTo>
                <a:cubicBezTo>
                  <a:pt x="680070" y="961462"/>
                  <a:pt x="685789" y="967203"/>
                  <a:pt x="685789" y="974263"/>
                </a:cubicBezTo>
                <a:close/>
                <a:moveTo>
                  <a:pt x="217548" y="21994"/>
                </a:moveTo>
                <a:lnTo>
                  <a:pt x="813579" y="21994"/>
                </a:lnTo>
                <a:cubicBezTo>
                  <a:pt x="815361" y="21994"/>
                  <a:pt x="816813" y="23446"/>
                  <a:pt x="816813" y="25228"/>
                </a:cubicBezTo>
                <a:lnTo>
                  <a:pt x="816813" y="190625"/>
                </a:lnTo>
                <a:cubicBezTo>
                  <a:pt x="816813" y="190647"/>
                  <a:pt x="816813" y="190647"/>
                  <a:pt x="816813" y="190669"/>
                </a:cubicBezTo>
                <a:cubicBezTo>
                  <a:pt x="816813" y="190691"/>
                  <a:pt x="816813" y="190691"/>
                  <a:pt x="816813" y="190713"/>
                </a:cubicBezTo>
                <a:lnTo>
                  <a:pt x="816813" y="430584"/>
                </a:lnTo>
                <a:cubicBezTo>
                  <a:pt x="816813" y="596664"/>
                  <a:pt x="681675" y="731775"/>
                  <a:pt x="515564" y="731775"/>
                </a:cubicBezTo>
                <a:cubicBezTo>
                  <a:pt x="349452" y="731775"/>
                  <a:pt x="214314" y="596664"/>
                  <a:pt x="214314" y="430584"/>
                </a:cubicBezTo>
                <a:lnTo>
                  <a:pt x="214314" y="190735"/>
                </a:lnTo>
                <a:cubicBezTo>
                  <a:pt x="214314" y="190713"/>
                  <a:pt x="214314" y="190713"/>
                  <a:pt x="214314" y="190691"/>
                </a:cubicBezTo>
                <a:cubicBezTo>
                  <a:pt x="214314" y="190669"/>
                  <a:pt x="214314" y="190669"/>
                  <a:pt x="214314" y="190647"/>
                </a:cubicBezTo>
                <a:lnTo>
                  <a:pt x="214314" y="25250"/>
                </a:lnTo>
                <a:cubicBezTo>
                  <a:pt x="214314" y="23446"/>
                  <a:pt x="215766" y="21994"/>
                  <a:pt x="217548" y="21994"/>
                </a:cubicBezTo>
                <a:close/>
                <a:moveTo>
                  <a:pt x="151970" y="659414"/>
                </a:moveTo>
                <a:cubicBezTo>
                  <a:pt x="43979" y="599435"/>
                  <a:pt x="21694" y="383208"/>
                  <a:pt x="22002" y="212400"/>
                </a:cubicBezTo>
                <a:cubicBezTo>
                  <a:pt x="22002" y="206483"/>
                  <a:pt x="26820" y="201688"/>
                  <a:pt x="32694" y="201688"/>
                </a:cubicBezTo>
                <a:lnTo>
                  <a:pt x="192294" y="201688"/>
                </a:lnTo>
                <a:lnTo>
                  <a:pt x="192294" y="430606"/>
                </a:lnTo>
                <a:cubicBezTo>
                  <a:pt x="192294" y="519111"/>
                  <a:pt x="228064" y="599413"/>
                  <a:pt x="285898" y="657830"/>
                </a:cubicBezTo>
                <a:cubicBezTo>
                  <a:pt x="261941" y="669069"/>
                  <a:pt x="205339" y="689062"/>
                  <a:pt x="151970" y="659414"/>
                </a:cubicBezTo>
                <a:close/>
                <a:moveTo>
                  <a:pt x="607034" y="939468"/>
                </a:moveTo>
                <a:lnTo>
                  <a:pt x="424093" y="939468"/>
                </a:lnTo>
                <a:lnTo>
                  <a:pt x="450448" y="747193"/>
                </a:lnTo>
                <a:cubicBezTo>
                  <a:pt x="471478" y="751504"/>
                  <a:pt x="493279" y="753791"/>
                  <a:pt x="515564" y="753791"/>
                </a:cubicBezTo>
                <a:cubicBezTo>
                  <a:pt x="537870" y="753791"/>
                  <a:pt x="559649" y="751526"/>
                  <a:pt x="580680" y="747193"/>
                </a:cubicBezTo>
                <a:lnTo>
                  <a:pt x="607034" y="939468"/>
                </a:lnTo>
                <a:close/>
                <a:moveTo>
                  <a:pt x="879157" y="659414"/>
                </a:moveTo>
                <a:cubicBezTo>
                  <a:pt x="858544" y="670873"/>
                  <a:pt x="837448" y="674898"/>
                  <a:pt x="817913" y="674898"/>
                </a:cubicBezTo>
                <a:cubicBezTo>
                  <a:pt x="786917" y="674898"/>
                  <a:pt x="759925" y="664692"/>
                  <a:pt x="745185" y="657808"/>
                </a:cubicBezTo>
                <a:cubicBezTo>
                  <a:pt x="803020" y="599391"/>
                  <a:pt x="838812" y="519089"/>
                  <a:pt x="838812" y="430584"/>
                </a:cubicBezTo>
                <a:lnTo>
                  <a:pt x="838812" y="201688"/>
                </a:lnTo>
                <a:lnTo>
                  <a:pt x="998412" y="201688"/>
                </a:lnTo>
                <a:cubicBezTo>
                  <a:pt x="1004307" y="201688"/>
                  <a:pt x="1009103" y="206505"/>
                  <a:pt x="1009103" y="212400"/>
                </a:cubicBezTo>
                <a:cubicBezTo>
                  <a:pt x="1009433" y="383208"/>
                  <a:pt x="987148" y="599435"/>
                  <a:pt x="879157" y="659414"/>
                </a:cubicBezTo>
                <a:close/>
                <a:moveTo>
                  <a:pt x="451768" y="1019198"/>
                </a:moveTo>
                <a:cubicBezTo>
                  <a:pt x="451768" y="1013127"/>
                  <a:pt x="456695" y="1008200"/>
                  <a:pt x="462767" y="1008200"/>
                </a:cubicBezTo>
                <a:lnTo>
                  <a:pt x="568360" y="1008200"/>
                </a:lnTo>
                <a:cubicBezTo>
                  <a:pt x="574432" y="1008200"/>
                  <a:pt x="579360" y="1013127"/>
                  <a:pt x="579360" y="1019198"/>
                </a:cubicBezTo>
                <a:cubicBezTo>
                  <a:pt x="579360" y="1025268"/>
                  <a:pt x="574432" y="1030195"/>
                  <a:pt x="568360" y="1030195"/>
                </a:cubicBezTo>
                <a:lnTo>
                  <a:pt x="462767" y="1030195"/>
                </a:lnTo>
                <a:cubicBezTo>
                  <a:pt x="456695" y="1030195"/>
                  <a:pt x="451768" y="1025268"/>
                  <a:pt x="451768" y="1019198"/>
                </a:cubicBezTo>
                <a:close/>
                <a:moveTo>
                  <a:pt x="425897" y="379843"/>
                </a:moveTo>
                <a:lnTo>
                  <a:pt x="410278" y="470944"/>
                </a:lnTo>
                <a:cubicBezTo>
                  <a:pt x="409222" y="477058"/>
                  <a:pt x="411686" y="483107"/>
                  <a:pt x="416702" y="486758"/>
                </a:cubicBezTo>
                <a:cubicBezTo>
                  <a:pt x="419540" y="488825"/>
                  <a:pt x="422861" y="489859"/>
                  <a:pt x="426183" y="489859"/>
                </a:cubicBezTo>
                <a:cubicBezTo>
                  <a:pt x="428757" y="489859"/>
                  <a:pt x="431331" y="489243"/>
                  <a:pt x="433729" y="487989"/>
                </a:cubicBezTo>
                <a:lnTo>
                  <a:pt x="515542" y="444990"/>
                </a:lnTo>
                <a:lnTo>
                  <a:pt x="597355" y="487989"/>
                </a:lnTo>
                <a:cubicBezTo>
                  <a:pt x="602832" y="490871"/>
                  <a:pt x="609366" y="490409"/>
                  <a:pt x="614382" y="486758"/>
                </a:cubicBezTo>
                <a:cubicBezTo>
                  <a:pt x="619397" y="483107"/>
                  <a:pt x="621861" y="477058"/>
                  <a:pt x="620805" y="470944"/>
                </a:cubicBezTo>
                <a:lnTo>
                  <a:pt x="605186" y="379843"/>
                </a:lnTo>
                <a:lnTo>
                  <a:pt x="671380" y="315333"/>
                </a:lnTo>
                <a:cubicBezTo>
                  <a:pt x="675824" y="311001"/>
                  <a:pt x="677386" y="304666"/>
                  <a:pt x="675472" y="298772"/>
                </a:cubicBezTo>
                <a:cubicBezTo>
                  <a:pt x="673558" y="292877"/>
                  <a:pt x="668564" y="288654"/>
                  <a:pt x="662427" y="287774"/>
                </a:cubicBezTo>
                <a:lnTo>
                  <a:pt x="570956" y="274490"/>
                </a:lnTo>
                <a:lnTo>
                  <a:pt x="530039" y="191615"/>
                </a:lnTo>
                <a:cubicBezTo>
                  <a:pt x="530039" y="191615"/>
                  <a:pt x="530039" y="191615"/>
                  <a:pt x="530039" y="191615"/>
                </a:cubicBezTo>
                <a:cubicBezTo>
                  <a:pt x="527289" y="186050"/>
                  <a:pt x="521745" y="182597"/>
                  <a:pt x="515542" y="182597"/>
                </a:cubicBezTo>
                <a:cubicBezTo>
                  <a:pt x="509338" y="182597"/>
                  <a:pt x="503794" y="186050"/>
                  <a:pt x="501045" y="191615"/>
                </a:cubicBezTo>
                <a:lnTo>
                  <a:pt x="460127" y="274490"/>
                </a:lnTo>
                <a:lnTo>
                  <a:pt x="368635" y="287774"/>
                </a:lnTo>
                <a:cubicBezTo>
                  <a:pt x="362497" y="288676"/>
                  <a:pt x="357503" y="292877"/>
                  <a:pt x="355590" y="298772"/>
                </a:cubicBezTo>
                <a:cubicBezTo>
                  <a:pt x="353676" y="304666"/>
                  <a:pt x="355238" y="311023"/>
                  <a:pt x="359681" y="315333"/>
                </a:cubicBezTo>
                <a:lnTo>
                  <a:pt x="425897" y="379843"/>
                </a:lnTo>
                <a:close/>
                <a:moveTo>
                  <a:pt x="469037" y="295407"/>
                </a:moveTo>
                <a:cubicBezTo>
                  <a:pt x="472622" y="294879"/>
                  <a:pt x="475724" y="292635"/>
                  <a:pt x="477330" y="289380"/>
                </a:cubicBezTo>
                <a:lnTo>
                  <a:pt x="515564" y="211916"/>
                </a:lnTo>
                <a:lnTo>
                  <a:pt x="553797" y="289380"/>
                </a:lnTo>
                <a:cubicBezTo>
                  <a:pt x="555403" y="292635"/>
                  <a:pt x="558505" y="294879"/>
                  <a:pt x="562069" y="295407"/>
                </a:cubicBezTo>
                <a:lnTo>
                  <a:pt x="647578" y="307833"/>
                </a:lnTo>
                <a:lnTo>
                  <a:pt x="585695" y="368142"/>
                </a:lnTo>
                <a:cubicBezTo>
                  <a:pt x="583100" y="370671"/>
                  <a:pt x="581912" y="374300"/>
                  <a:pt x="582528" y="377885"/>
                </a:cubicBezTo>
                <a:lnTo>
                  <a:pt x="597135" y="463026"/>
                </a:lnTo>
                <a:lnTo>
                  <a:pt x="520645" y="422820"/>
                </a:lnTo>
                <a:cubicBezTo>
                  <a:pt x="517434" y="421126"/>
                  <a:pt x="513606" y="421126"/>
                  <a:pt x="510416" y="422820"/>
                </a:cubicBezTo>
                <a:lnTo>
                  <a:pt x="433927" y="463026"/>
                </a:lnTo>
                <a:lnTo>
                  <a:pt x="448534" y="377885"/>
                </a:lnTo>
                <a:cubicBezTo>
                  <a:pt x="449150" y="374322"/>
                  <a:pt x="447962" y="370671"/>
                  <a:pt x="445366" y="368142"/>
                </a:cubicBezTo>
                <a:lnTo>
                  <a:pt x="383484" y="307833"/>
                </a:lnTo>
                <a:lnTo>
                  <a:pt x="469037" y="295407"/>
                </a:lnTo>
                <a:close/>
              </a:path>
            </a:pathLst>
          </a:custGeom>
          <a:noFill/>
          <a:ln cap="flat" cmpd="sng" w="9525">
            <a:solidFill>
              <a:srgbClr val="5025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82D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8"/>
          <p:cNvSpPr/>
          <p:nvPr/>
        </p:nvSpPr>
        <p:spPr>
          <a:xfrm>
            <a:off x="9761399" y="2351861"/>
            <a:ext cx="427311" cy="558658"/>
          </a:xfrm>
          <a:custGeom>
            <a:rect b="b" l="l" r="r" t="t"/>
            <a:pathLst>
              <a:path extrusionOk="0" h="959069" w="700510">
                <a:moveTo>
                  <a:pt x="700318" y="206166"/>
                </a:moveTo>
                <a:cubicBezTo>
                  <a:pt x="700241" y="205782"/>
                  <a:pt x="700107" y="205418"/>
                  <a:pt x="699972" y="205034"/>
                </a:cubicBezTo>
                <a:cubicBezTo>
                  <a:pt x="699896" y="204823"/>
                  <a:pt x="699857" y="204593"/>
                  <a:pt x="699761" y="204362"/>
                </a:cubicBezTo>
                <a:cubicBezTo>
                  <a:pt x="699588" y="203959"/>
                  <a:pt x="699358" y="203576"/>
                  <a:pt x="699146" y="203192"/>
                </a:cubicBezTo>
                <a:cubicBezTo>
                  <a:pt x="699050" y="203038"/>
                  <a:pt x="698993" y="202866"/>
                  <a:pt x="698878" y="202712"/>
                </a:cubicBezTo>
                <a:cubicBezTo>
                  <a:pt x="698532" y="202194"/>
                  <a:pt x="698128" y="201714"/>
                  <a:pt x="697686" y="201254"/>
                </a:cubicBezTo>
                <a:lnTo>
                  <a:pt x="498987" y="2801"/>
                </a:lnTo>
                <a:cubicBezTo>
                  <a:pt x="498545" y="2360"/>
                  <a:pt x="498065" y="1957"/>
                  <a:pt x="497527" y="1612"/>
                </a:cubicBezTo>
                <a:cubicBezTo>
                  <a:pt x="497373" y="1516"/>
                  <a:pt x="497219" y="1458"/>
                  <a:pt x="497066" y="1362"/>
                </a:cubicBezTo>
                <a:cubicBezTo>
                  <a:pt x="496682" y="1132"/>
                  <a:pt x="496297" y="902"/>
                  <a:pt x="495875" y="729"/>
                </a:cubicBezTo>
                <a:cubicBezTo>
                  <a:pt x="495663" y="652"/>
                  <a:pt x="495452" y="614"/>
                  <a:pt x="495241" y="537"/>
                </a:cubicBezTo>
                <a:cubicBezTo>
                  <a:pt x="494857" y="403"/>
                  <a:pt x="494472" y="269"/>
                  <a:pt x="494069" y="192"/>
                </a:cubicBezTo>
                <a:cubicBezTo>
                  <a:pt x="493454" y="58"/>
                  <a:pt x="492820" y="0"/>
                  <a:pt x="492167" y="0"/>
                </a:cubicBezTo>
                <a:lnTo>
                  <a:pt x="9606" y="0"/>
                </a:lnTo>
                <a:cubicBezTo>
                  <a:pt x="4303" y="-19"/>
                  <a:pt x="0" y="4279"/>
                  <a:pt x="0" y="9574"/>
                </a:cubicBezTo>
                <a:lnTo>
                  <a:pt x="0" y="949476"/>
                </a:lnTo>
                <a:cubicBezTo>
                  <a:pt x="0" y="954771"/>
                  <a:pt x="4303" y="959069"/>
                  <a:pt x="9606" y="959069"/>
                </a:cubicBezTo>
                <a:lnTo>
                  <a:pt x="690905" y="959069"/>
                </a:lnTo>
                <a:cubicBezTo>
                  <a:pt x="696207" y="959069"/>
                  <a:pt x="700510" y="954771"/>
                  <a:pt x="700510" y="949476"/>
                </a:cubicBezTo>
                <a:lnTo>
                  <a:pt x="700510" y="208046"/>
                </a:lnTo>
                <a:cubicBezTo>
                  <a:pt x="700510" y="207413"/>
                  <a:pt x="700453" y="206780"/>
                  <a:pt x="700318" y="206166"/>
                </a:cubicBezTo>
                <a:close/>
                <a:moveTo>
                  <a:pt x="501792" y="198453"/>
                </a:moveTo>
                <a:lnTo>
                  <a:pt x="501792" y="32733"/>
                </a:lnTo>
                <a:lnTo>
                  <a:pt x="667717" y="198453"/>
                </a:lnTo>
                <a:lnTo>
                  <a:pt x="501792" y="198453"/>
                </a:lnTo>
                <a:close/>
                <a:moveTo>
                  <a:pt x="19211" y="939882"/>
                </a:moveTo>
                <a:lnTo>
                  <a:pt x="19211" y="19168"/>
                </a:lnTo>
                <a:lnTo>
                  <a:pt x="482581" y="19168"/>
                </a:lnTo>
                <a:lnTo>
                  <a:pt x="482581" y="208046"/>
                </a:lnTo>
                <a:cubicBezTo>
                  <a:pt x="482581" y="213342"/>
                  <a:pt x="486884" y="217640"/>
                  <a:pt x="492186" y="217640"/>
                </a:cubicBezTo>
                <a:lnTo>
                  <a:pt x="681299" y="217640"/>
                </a:lnTo>
                <a:lnTo>
                  <a:pt x="681299" y="939863"/>
                </a:lnTo>
                <a:lnTo>
                  <a:pt x="19211" y="939863"/>
                </a:lnTo>
                <a:close/>
                <a:moveTo>
                  <a:pt x="120184" y="216182"/>
                </a:moveTo>
                <a:cubicBezTo>
                  <a:pt x="120184" y="210886"/>
                  <a:pt x="124487" y="206588"/>
                  <a:pt x="129790" y="206588"/>
                </a:cubicBezTo>
                <a:lnTo>
                  <a:pt x="321189" y="206588"/>
                </a:lnTo>
                <a:cubicBezTo>
                  <a:pt x="326491" y="206588"/>
                  <a:pt x="330794" y="210886"/>
                  <a:pt x="330794" y="216182"/>
                </a:cubicBezTo>
                <a:cubicBezTo>
                  <a:pt x="330794" y="221477"/>
                  <a:pt x="326491" y="225775"/>
                  <a:pt x="321189" y="225775"/>
                </a:cubicBezTo>
                <a:lnTo>
                  <a:pt x="129790" y="225775"/>
                </a:lnTo>
                <a:cubicBezTo>
                  <a:pt x="124487" y="225775"/>
                  <a:pt x="120184" y="221477"/>
                  <a:pt x="120184" y="216182"/>
                </a:cubicBezTo>
                <a:close/>
                <a:moveTo>
                  <a:pt x="330794" y="789685"/>
                </a:moveTo>
                <a:cubicBezTo>
                  <a:pt x="330794" y="794981"/>
                  <a:pt x="326491" y="799279"/>
                  <a:pt x="321189" y="799279"/>
                </a:cubicBezTo>
                <a:lnTo>
                  <a:pt x="129790" y="799279"/>
                </a:lnTo>
                <a:cubicBezTo>
                  <a:pt x="124487" y="799279"/>
                  <a:pt x="120184" y="794981"/>
                  <a:pt x="120184" y="789685"/>
                </a:cubicBezTo>
                <a:cubicBezTo>
                  <a:pt x="120184" y="784390"/>
                  <a:pt x="124487" y="780092"/>
                  <a:pt x="129790" y="780092"/>
                </a:cubicBezTo>
                <a:lnTo>
                  <a:pt x="321189" y="780092"/>
                </a:lnTo>
                <a:cubicBezTo>
                  <a:pt x="326510" y="780092"/>
                  <a:pt x="330794" y="784390"/>
                  <a:pt x="330794" y="789685"/>
                </a:cubicBezTo>
                <a:close/>
                <a:moveTo>
                  <a:pt x="580326" y="330882"/>
                </a:moveTo>
                <a:cubicBezTo>
                  <a:pt x="580326" y="336178"/>
                  <a:pt x="576023" y="340476"/>
                  <a:pt x="570721" y="340476"/>
                </a:cubicBezTo>
                <a:lnTo>
                  <a:pt x="129790" y="340476"/>
                </a:lnTo>
                <a:cubicBezTo>
                  <a:pt x="124487" y="340476"/>
                  <a:pt x="120184" y="336178"/>
                  <a:pt x="120184" y="330882"/>
                </a:cubicBezTo>
                <a:cubicBezTo>
                  <a:pt x="120184" y="325587"/>
                  <a:pt x="124487" y="321289"/>
                  <a:pt x="129790" y="321289"/>
                </a:cubicBezTo>
                <a:lnTo>
                  <a:pt x="570721" y="321289"/>
                </a:lnTo>
                <a:cubicBezTo>
                  <a:pt x="576023" y="321289"/>
                  <a:pt x="580326" y="325587"/>
                  <a:pt x="580326" y="330882"/>
                </a:cubicBezTo>
                <a:close/>
                <a:moveTo>
                  <a:pt x="580326" y="445583"/>
                </a:moveTo>
                <a:cubicBezTo>
                  <a:pt x="580326" y="450879"/>
                  <a:pt x="576023" y="455177"/>
                  <a:pt x="570721" y="455177"/>
                </a:cubicBezTo>
                <a:lnTo>
                  <a:pt x="129790" y="455177"/>
                </a:lnTo>
                <a:cubicBezTo>
                  <a:pt x="124487" y="455177"/>
                  <a:pt x="120184" y="450879"/>
                  <a:pt x="120184" y="445583"/>
                </a:cubicBezTo>
                <a:cubicBezTo>
                  <a:pt x="120184" y="440287"/>
                  <a:pt x="124487" y="435989"/>
                  <a:pt x="129790" y="435989"/>
                </a:cubicBezTo>
                <a:lnTo>
                  <a:pt x="570721" y="435989"/>
                </a:lnTo>
                <a:cubicBezTo>
                  <a:pt x="576023" y="435989"/>
                  <a:pt x="580326" y="440287"/>
                  <a:pt x="580326" y="445583"/>
                </a:cubicBezTo>
                <a:close/>
                <a:moveTo>
                  <a:pt x="580326" y="560284"/>
                </a:moveTo>
                <a:cubicBezTo>
                  <a:pt x="580326" y="565579"/>
                  <a:pt x="576023" y="569877"/>
                  <a:pt x="570721" y="569877"/>
                </a:cubicBezTo>
                <a:lnTo>
                  <a:pt x="129790" y="569877"/>
                </a:lnTo>
                <a:cubicBezTo>
                  <a:pt x="124487" y="569877"/>
                  <a:pt x="120184" y="565579"/>
                  <a:pt x="120184" y="560284"/>
                </a:cubicBezTo>
                <a:cubicBezTo>
                  <a:pt x="120184" y="554988"/>
                  <a:pt x="124487" y="550690"/>
                  <a:pt x="129790" y="550690"/>
                </a:cubicBezTo>
                <a:lnTo>
                  <a:pt x="570721" y="550690"/>
                </a:lnTo>
                <a:cubicBezTo>
                  <a:pt x="576023" y="550690"/>
                  <a:pt x="580326" y="554988"/>
                  <a:pt x="580326" y="560284"/>
                </a:cubicBezTo>
                <a:close/>
                <a:moveTo>
                  <a:pt x="580326" y="674984"/>
                </a:moveTo>
                <a:cubicBezTo>
                  <a:pt x="580326" y="680280"/>
                  <a:pt x="576023" y="684578"/>
                  <a:pt x="570721" y="684578"/>
                </a:cubicBezTo>
                <a:lnTo>
                  <a:pt x="129790" y="684578"/>
                </a:lnTo>
                <a:cubicBezTo>
                  <a:pt x="124487" y="684578"/>
                  <a:pt x="120184" y="680280"/>
                  <a:pt x="120184" y="674984"/>
                </a:cubicBezTo>
                <a:cubicBezTo>
                  <a:pt x="120184" y="669689"/>
                  <a:pt x="124487" y="665391"/>
                  <a:pt x="129790" y="665391"/>
                </a:cubicBezTo>
                <a:lnTo>
                  <a:pt x="570721" y="665391"/>
                </a:lnTo>
                <a:cubicBezTo>
                  <a:pt x="576023" y="665391"/>
                  <a:pt x="580326" y="669689"/>
                  <a:pt x="580326" y="674984"/>
                </a:cubicBezTo>
                <a:close/>
              </a:path>
            </a:pathLst>
          </a:custGeom>
          <a:solidFill>
            <a:srgbClr val="A1006B"/>
          </a:solidFill>
          <a:ln cap="flat" cmpd="sng" w="9525">
            <a:solidFill>
              <a:srgbClr val="510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82D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/>
          <p:nvPr/>
        </p:nvSpPr>
        <p:spPr>
          <a:xfrm>
            <a:off x="1934444" y="2367852"/>
            <a:ext cx="340500" cy="526675"/>
          </a:xfrm>
          <a:custGeom>
            <a:rect b="b" l="l" r="r" t="t"/>
            <a:pathLst>
              <a:path extrusionOk="0" h="498" w="232">
                <a:moveTo>
                  <a:pt x="178" y="0"/>
                </a:moveTo>
                <a:lnTo>
                  <a:pt x="178" y="0"/>
                </a:lnTo>
                <a:cubicBezTo>
                  <a:pt x="213" y="0"/>
                  <a:pt x="222" y="27"/>
                  <a:pt x="222" y="53"/>
                </a:cubicBezTo>
                <a:cubicBezTo>
                  <a:pt x="222" y="80"/>
                  <a:pt x="196" y="115"/>
                  <a:pt x="160" y="115"/>
                </a:cubicBezTo>
                <a:cubicBezTo>
                  <a:pt x="125" y="115"/>
                  <a:pt x="107" y="97"/>
                  <a:pt x="107" y="62"/>
                </a:cubicBezTo>
                <a:cubicBezTo>
                  <a:pt x="107" y="35"/>
                  <a:pt x="134" y="0"/>
                  <a:pt x="178" y="0"/>
                </a:cubicBezTo>
                <a:close/>
                <a:moveTo>
                  <a:pt x="72" y="497"/>
                </a:moveTo>
                <a:lnTo>
                  <a:pt x="72" y="497"/>
                </a:lnTo>
                <a:cubicBezTo>
                  <a:pt x="45" y="497"/>
                  <a:pt x="28" y="478"/>
                  <a:pt x="45" y="407"/>
                </a:cubicBezTo>
                <a:cubicBezTo>
                  <a:pt x="81" y="284"/>
                  <a:pt x="81" y="284"/>
                  <a:pt x="81" y="284"/>
                </a:cubicBezTo>
                <a:cubicBezTo>
                  <a:pt x="81" y="266"/>
                  <a:pt x="81" y="257"/>
                  <a:pt x="81" y="257"/>
                </a:cubicBezTo>
                <a:cubicBezTo>
                  <a:pt x="72" y="257"/>
                  <a:pt x="37" y="275"/>
                  <a:pt x="19" y="284"/>
                </a:cubicBezTo>
                <a:cubicBezTo>
                  <a:pt x="0" y="266"/>
                  <a:pt x="0" y="266"/>
                  <a:pt x="0" y="266"/>
                </a:cubicBezTo>
                <a:cubicBezTo>
                  <a:pt x="63" y="213"/>
                  <a:pt x="143" y="178"/>
                  <a:pt x="169" y="178"/>
                </a:cubicBezTo>
                <a:cubicBezTo>
                  <a:pt x="196" y="178"/>
                  <a:pt x="205" y="213"/>
                  <a:pt x="187" y="257"/>
                </a:cubicBezTo>
                <a:cubicBezTo>
                  <a:pt x="151" y="390"/>
                  <a:pt x="151" y="390"/>
                  <a:pt x="151" y="390"/>
                </a:cubicBezTo>
                <a:cubicBezTo>
                  <a:pt x="151" y="416"/>
                  <a:pt x="151" y="425"/>
                  <a:pt x="160" y="425"/>
                </a:cubicBezTo>
                <a:cubicBezTo>
                  <a:pt x="160" y="425"/>
                  <a:pt x="187" y="407"/>
                  <a:pt x="213" y="390"/>
                </a:cubicBezTo>
                <a:cubicBezTo>
                  <a:pt x="231" y="407"/>
                  <a:pt x="231" y="407"/>
                  <a:pt x="231" y="407"/>
                </a:cubicBezTo>
                <a:cubicBezTo>
                  <a:pt x="169" y="478"/>
                  <a:pt x="98" y="497"/>
                  <a:pt x="72" y="497"/>
                </a:cubicBezTo>
                <a:close/>
              </a:path>
            </a:pathLst>
          </a:custGeom>
          <a:noFill/>
          <a:ln cap="flat" cmpd="sng" w="19050">
            <a:solidFill>
              <a:srgbClr val="510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8"/>
          <p:cNvSpPr/>
          <p:nvPr/>
        </p:nvSpPr>
        <p:spPr>
          <a:xfrm>
            <a:off x="4065550" y="2349202"/>
            <a:ext cx="645376" cy="563975"/>
          </a:xfrm>
          <a:custGeom>
            <a:rect b="b" l="l" r="r" t="t"/>
            <a:pathLst>
              <a:path extrusionOk="0" h="595" w="602">
                <a:moveTo>
                  <a:pt x="530" y="241"/>
                </a:moveTo>
                <a:lnTo>
                  <a:pt x="530" y="241"/>
                </a:lnTo>
                <a:cubicBezTo>
                  <a:pt x="523" y="248"/>
                  <a:pt x="523" y="290"/>
                  <a:pt x="573" y="318"/>
                </a:cubicBezTo>
                <a:cubicBezTo>
                  <a:pt x="573" y="318"/>
                  <a:pt x="502" y="332"/>
                  <a:pt x="453" y="269"/>
                </a:cubicBezTo>
                <a:cubicBezTo>
                  <a:pt x="438" y="269"/>
                  <a:pt x="424" y="276"/>
                  <a:pt x="410" y="276"/>
                </a:cubicBezTo>
                <a:cubicBezTo>
                  <a:pt x="304" y="276"/>
                  <a:pt x="240" y="212"/>
                  <a:pt x="240" y="135"/>
                </a:cubicBezTo>
                <a:cubicBezTo>
                  <a:pt x="240" y="64"/>
                  <a:pt x="304" y="0"/>
                  <a:pt x="410" y="0"/>
                </a:cubicBezTo>
                <a:cubicBezTo>
                  <a:pt x="516" y="0"/>
                  <a:pt x="601" y="64"/>
                  <a:pt x="601" y="135"/>
                </a:cubicBezTo>
                <a:cubicBezTo>
                  <a:pt x="601" y="177"/>
                  <a:pt x="573" y="219"/>
                  <a:pt x="530" y="241"/>
                </a:cubicBezTo>
                <a:close/>
                <a:moveTo>
                  <a:pt x="205" y="149"/>
                </a:moveTo>
                <a:lnTo>
                  <a:pt x="205" y="149"/>
                </a:lnTo>
                <a:cubicBezTo>
                  <a:pt x="212" y="233"/>
                  <a:pt x="283" y="304"/>
                  <a:pt x="396" y="311"/>
                </a:cubicBezTo>
                <a:cubicBezTo>
                  <a:pt x="410" y="311"/>
                  <a:pt x="424" y="311"/>
                  <a:pt x="438" y="304"/>
                </a:cubicBezTo>
                <a:cubicBezTo>
                  <a:pt x="474" y="339"/>
                  <a:pt x="516" y="347"/>
                  <a:pt x="537" y="347"/>
                </a:cubicBezTo>
                <a:cubicBezTo>
                  <a:pt x="516" y="439"/>
                  <a:pt x="424" y="509"/>
                  <a:pt x="283" y="509"/>
                </a:cubicBezTo>
                <a:cubicBezTo>
                  <a:pt x="269" y="509"/>
                  <a:pt x="248" y="502"/>
                  <a:pt x="226" y="495"/>
                </a:cubicBezTo>
                <a:cubicBezTo>
                  <a:pt x="156" y="594"/>
                  <a:pt x="36" y="573"/>
                  <a:pt x="36" y="573"/>
                </a:cubicBezTo>
                <a:cubicBezTo>
                  <a:pt x="120" y="537"/>
                  <a:pt x="120" y="467"/>
                  <a:pt x="99" y="460"/>
                </a:cubicBezTo>
                <a:cubicBezTo>
                  <a:pt x="36" y="424"/>
                  <a:pt x="0" y="361"/>
                  <a:pt x="0" y="297"/>
                </a:cubicBezTo>
                <a:cubicBezTo>
                  <a:pt x="0" y="198"/>
                  <a:pt x="92" y="113"/>
                  <a:pt x="219" y="92"/>
                </a:cubicBezTo>
                <a:cubicBezTo>
                  <a:pt x="212" y="113"/>
                  <a:pt x="205" y="128"/>
                  <a:pt x="205" y="149"/>
                </a:cubicBezTo>
                <a:close/>
              </a:path>
            </a:pathLst>
          </a:custGeom>
          <a:noFill/>
          <a:ln cap="flat" cmpd="sng" w="19050">
            <a:solidFill>
              <a:srgbClr val="510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8"/>
          <p:cNvSpPr/>
          <p:nvPr/>
        </p:nvSpPr>
        <p:spPr>
          <a:xfrm>
            <a:off x="10822052" y="2418039"/>
            <a:ext cx="616500" cy="426300"/>
          </a:xfrm>
          <a:custGeom>
            <a:rect b="b" l="l" r="r" t="t"/>
            <a:pathLst>
              <a:path extrusionOk="0" h="293" w="497">
                <a:moveTo>
                  <a:pt x="124" y="221"/>
                </a:moveTo>
                <a:lnTo>
                  <a:pt x="124" y="221"/>
                </a:lnTo>
                <a:cubicBezTo>
                  <a:pt x="124" y="97"/>
                  <a:pt x="124" y="97"/>
                  <a:pt x="124" y="97"/>
                </a:cubicBezTo>
                <a:cubicBezTo>
                  <a:pt x="177" y="97"/>
                  <a:pt x="177" y="97"/>
                  <a:pt x="177" y="97"/>
                </a:cubicBezTo>
                <a:cubicBezTo>
                  <a:pt x="88" y="0"/>
                  <a:pt x="88" y="0"/>
                  <a:pt x="88" y="0"/>
                </a:cubicBezTo>
                <a:cubicBezTo>
                  <a:pt x="0" y="97"/>
                  <a:pt x="0" y="97"/>
                  <a:pt x="0" y="97"/>
                </a:cubicBezTo>
                <a:cubicBezTo>
                  <a:pt x="53" y="97"/>
                  <a:pt x="53" y="97"/>
                  <a:pt x="53" y="97"/>
                </a:cubicBezTo>
                <a:cubicBezTo>
                  <a:pt x="53" y="248"/>
                  <a:pt x="53" y="248"/>
                  <a:pt x="53" y="248"/>
                </a:cubicBezTo>
                <a:cubicBezTo>
                  <a:pt x="53" y="274"/>
                  <a:pt x="71" y="292"/>
                  <a:pt x="97" y="292"/>
                </a:cubicBezTo>
                <a:cubicBezTo>
                  <a:pt x="319" y="292"/>
                  <a:pt x="319" y="292"/>
                  <a:pt x="319" y="292"/>
                </a:cubicBezTo>
                <a:cubicBezTo>
                  <a:pt x="256" y="221"/>
                  <a:pt x="256" y="221"/>
                  <a:pt x="256" y="221"/>
                </a:cubicBezTo>
                <a:lnTo>
                  <a:pt x="124" y="221"/>
                </a:lnTo>
                <a:close/>
                <a:moveTo>
                  <a:pt x="443" y="195"/>
                </a:moveTo>
                <a:lnTo>
                  <a:pt x="443" y="195"/>
                </a:lnTo>
                <a:cubicBezTo>
                  <a:pt x="443" y="44"/>
                  <a:pt x="443" y="44"/>
                  <a:pt x="443" y="44"/>
                </a:cubicBezTo>
                <a:cubicBezTo>
                  <a:pt x="443" y="17"/>
                  <a:pt x="425" y="0"/>
                  <a:pt x="399" y="0"/>
                </a:cubicBezTo>
                <a:cubicBezTo>
                  <a:pt x="177" y="0"/>
                  <a:pt x="177" y="0"/>
                  <a:pt x="177" y="0"/>
                </a:cubicBezTo>
                <a:cubicBezTo>
                  <a:pt x="239" y="61"/>
                  <a:pt x="239" y="61"/>
                  <a:pt x="239" y="61"/>
                </a:cubicBezTo>
                <a:cubicBezTo>
                  <a:pt x="372" y="61"/>
                  <a:pt x="372" y="61"/>
                  <a:pt x="372" y="61"/>
                </a:cubicBezTo>
                <a:cubicBezTo>
                  <a:pt x="372" y="195"/>
                  <a:pt x="372" y="195"/>
                  <a:pt x="372" y="195"/>
                </a:cubicBezTo>
                <a:cubicBezTo>
                  <a:pt x="319" y="195"/>
                  <a:pt x="319" y="195"/>
                  <a:pt x="319" y="195"/>
                </a:cubicBezTo>
                <a:cubicBezTo>
                  <a:pt x="407" y="292"/>
                  <a:pt x="407" y="292"/>
                  <a:pt x="407" y="292"/>
                </a:cubicBezTo>
                <a:cubicBezTo>
                  <a:pt x="496" y="195"/>
                  <a:pt x="496" y="195"/>
                  <a:pt x="496" y="195"/>
                </a:cubicBezTo>
                <a:lnTo>
                  <a:pt x="443" y="195"/>
                </a:lnTo>
                <a:close/>
              </a:path>
            </a:pathLst>
          </a:custGeom>
          <a:noFill/>
          <a:ln cap="flat" cmpd="sng" w="19050">
            <a:solidFill>
              <a:srgbClr val="510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8"/>
          <p:cNvSpPr/>
          <p:nvPr/>
        </p:nvSpPr>
        <p:spPr>
          <a:xfrm>
            <a:off x="6584782" y="2817672"/>
            <a:ext cx="159300" cy="39300"/>
          </a:xfrm>
          <a:prstGeom prst="rect">
            <a:avLst/>
          </a:prstGeom>
          <a:noFill/>
          <a:ln cap="flat" cmpd="sng" w="9525">
            <a:solidFill>
              <a:srgbClr val="510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6543952" y="2873563"/>
            <a:ext cx="238200" cy="33600"/>
          </a:xfrm>
          <a:prstGeom prst="trapezoid">
            <a:avLst>
              <a:gd fmla="val 131548" name="adj"/>
            </a:avLst>
          </a:prstGeom>
          <a:noFill/>
          <a:ln cap="flat" cmpd="sng" w="9525">
            <a:solidFill>
              <a:srgbClr val="510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6545691" y="2464193"/>
            <a:ext cx="219106" cy="184170"/>
          </a:xfrm>
          <a:custGeom>
            <a:rect b="b" l="l" r="r" t="t"/>
            <a:pathLst>
              <a:path extrusionOk="0" h="510" w="609">
                <a:moveTo>
                  <a:pt x="579" y="509"/>
                </a:moveTo>
                <a:lnTo>
                  <a:pt x="579" y="509"/>
                </a:lnTo>
                <a:cubicBezTo>
                  <a:pt x="28" y="509"/>
                  <a:pt x="28" y="509"/>
                  <a:pt x="28" y="509"/>
                </a:cubicBezTo>
                <a:cubicBezTo>
                  <a:pt x="14" y="509"/>
                  <a:pt x="0" y="502"/>
                  <a:pt x="0" y="488"/>
                </a:cubicBezTo>
                <a:cubicBezTo>
                  <a:pt x="0" y="481"/>
                  <a:pt x="0" y="481"/>
                  <a:pt x="0" y="481"/>
                </a:cubicBezTo>
                <a:cubicBezTo>
                  <a:pt x="0" y="467"/>
                  <a:pt x="14" y="452"/>
                  <a:pt x="28" y="452"/>
                </a:cubicBezTo>
                <a:cubicBezTo>
                  <a:pt x="579" y="452"/>
                  <a:pt x="579" y="452"/>
                  <a:pt x="579" y="452"/>
                </a:cubicBezTo>
                <a:cubicBezTo>
                  <a:pt x="594" y="452"/>
                  <a:pt x="608" y="467"/>
                  <a:pt x="608" y="481"/>
                </a:cubicBezTo>
                <a:cubicBezTo>
                  <a:pt x="608" y="488"/>
                  <a:pt x="608" y="488"/>
                  <a:pt x="608" y="488"/>
                </a:cubicBezTo>
                <a:cubicBezTo>
                  <a:pt x="608" y="502"/>
                  <a:pt x="594" y="509"/>
                  <a:pt x="579" y="509"/>
                </a:cubicBezTo>
                <a:close/>
                <a:moveTo>
                  <a:pt x="523" y="396"/>
                </a:moveTo>
                <a:lnTo>
                  <a:pt x="523" y="396"/>
                </a:lnTo>
                <a:cubicBezTo>
                  <a:pt x="523" y="417"/>
                  <a:pt x="509" y="424"/>
                  <a:pt x="495" y="424"/>
                </a:cubicBezTo>
                <a:cubicBezTo>
                  <a:pt x="438" y="424"/>
                  <a:pt x="438" y="424"/>
                  <a:pt x="438" y="424"/>
                </a:cubicBezTo>
                <a:cubicBezTo>
                  <a:pt x="417" y="424"/>
                  <a:pt x="410" y="417"/>
                  <a:pt x="410" y="396"/>
                </a:cubicBezTo>
                <a:cubicBezTo>
                  <a:pt x="410" y="198"/>
                  <a:pt x="410" y="198"/>
                  <a:pt x="410" y="198"/>
                </a:cubicBezTo>
                <a:cubicBezTo>
                  <a:pt x="410" y="141"/>
                  <a:pt x="410" y="141"/>
                  <a:pt x="410" y="141"/>
                </a:cubicBezTo>
                <a:cubicBezTo>
                  <a:pt x="410" y="127"/>
                  <a:pt x="417" y="113"/>
                  <a:pt x="438" y="113"/>
                </a:cubicBezTo>
                <a:cubicBezTo>
                  <a:pt x="495" y="113"/>
                  <a:pt x="495" y="113"/>
                  <a:pt x="495" y="113"/>
                </a:cubicBezTo>
                <a:cubicBezTo>
                  <a:pt x="509" y="113"/>
                  <a:pt x="523" y="127"/>
                  <a:pt x="523" y="141"/>
                </a:cubicBezTo>
                <a:cubicBezTo>
                  <a:pt x="523" y="339"/>
                  <a:pt x="523" y="339"/>
                  <a:pt x="523" y="339"/>
                </a:cubicBezTo>
                <a:lnTo>
                  <a:pt x="523" y="396"/>
                </a:lnTo>
                <a:close/>
                <a:moveTo>
                  <a:pt x="332" y="424"/>
                </a:moveTo>
                <a:lnTo>
                  <a:pt x="332" y="424"/>
                </a:lnTo>
                <a:cubicBezTo>
                  <a:pt x="276" y="424"/>
                  <a:pt x="276" y="424"/>
                  <a:pt x="276" y="424"/>
                </a:cubicBezTo>
                <a:cubicBezTo>
                  <a:pt x="262" y="424"/>
                  <a:pt x="247" y="417"/>
                  <a:pt x="247" y="396"/>
                </a:cubicBezTo>
                <a:cubicBezTo>
                  <a:pt x="247" y="339"/>
                  <a:pt x="247" y="339"/>
                  <a:pt x="247" y="339"/>
                </a:cubicBezTo>
                <a:cubicBezTo>
                  <a:pt x="247" y="85"/>
                  <a:pt x="247" y="85"/>
                  <a:pt x="247" y="85"/>
                </a:cubicBezTo>
                <a:cubicBezTo>
                  <a:pt x="247" y="28"/>
                  <a:pt x="247" y="28"/>
                  <a:pt x="247" y="28"/>
                </a:cubicBezTo>
                <a:cubicBezTo>
                  <a:pt x="247" y="14"/>
                  <a:pt x="262" y="0"/>
                  <a:pt x="276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346" y="0"/>
                  <a:pt x="360" y="14"/>
                  <a:pt x="360" y="28"/>
                </a:cubicBezTo>
                <a:cubicBezTo>
                  <a:pt x="360" y="85"/>
                  <a:pt x="360" y="85"/>
                  <a:pt x="360" y="85"/>
                </a:cubicBezTo>
                <a:cubicBezTo>
                  <a:pt x="360" y="339"/>
                  <a:pt x="360" y="339"/>
                  <a:pt x="360" y="339"/>
                </a:cubicBezTo>
                <a:cubicBezTo>
                  <a:pt x="360" y="396"/>
                  <a:pt x="360" y="396"/>
                  <a:pt x="360" y="396"/>
                </a:cubicBezTo>
                <a:cubicBezTo>
                  <a:pt x="360" y="417"/>
                  <a:pt x="346" y="424"/>
                  <a:pt x="332" y="424"/>
                </a:cubicBezTo>
                <a:close/>
                <a:moveTo>
                  <a:pt x="169" y="424"/>
                </a:moveTo>
                <a:lnTo>
                  <a:pt x="169" y="424"/>
                </a:lnTo>
                <a:cubicBezTo>
                  <a:pt x="113" y="424"/>
                  <a:pt x="113" y="424"/>
                  <a:pt x="113" y="424"/>
                </a:cubicBezTo>
                <a:cubicBezTo>
                  <a:pt x="99" y="424"/>
                  <a:pt x="85" y="417"/>
                  <a:pt x="85" y="396"/>
                </a:cubicBezTo>
                <a:cubicBezTo>
                  <a:pt x="85" y="339"/>
                  <a:pt x="85" y="339"/>
                  <a:pt x="85" y="339"/>
                </a:cubicBezTo>
                <a:cubicBezTo>
                  <a:pt x="85" y="283"/>
                  <a:pt x="85" y="283"/>
                  <a:pt x="85" y="283"/>
                </a:cubicBezTo>
                <a:cubicBezTo>
                  <a:pt x="85" y="269"/>
                  <a:pt x="99" y="254"/>
                  <a:pt x="113" y="254"/>
                </a:cubicBezTo>
                <a:cubicBezTo>
                  <a:pt x="169" y="254"/>
                  <a:pt x="169" y="254"/>
                  <a:pt x="169" y="254"/>
                </a:cubicBezTo>
                <a:cubicBezTo>
                  <a:pt x="191" y="254"/>
                  <a:pt x="198" y="269"/>
                  <a:pt x="198" y="283"/>
                </a:cubicBezTo>
                <a:cubicBezTo>
                  <a:pt x="198" y="339"/>
                  <a:pt x="198" y="339"/>
                  <a:pt x="198" y="339"/>
                </a:cubicBezTo>
                <a:cubicBezTo>
                  <a:pt x="198" y="396"/>
                  <a:pt x="198" y="396"/>
                  <a:pt x="198" y="396"/>
                </a:cubicBezTo>
                <a:cubicBezTo>
                  <a:pt x="198" y="417"/>
                  <a:pt x="191" y="424"/>
                  <a:pt x="169" y="424"/>
                </a:cubicBezTo>
                <a:close/>
              </a:path>
            </a:pathLst>
          </a:custGeom>
          <a:noFill/>
          <a:ln cap="flat" cmpd="sng" w="9525">
            <a:solidFill>
              <a:srgbClr val="510E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/>
          <p:nvPr/>
        </p:nvSpPr>
        <p:spPr>
          <a:xfrm>
            <a:off x="228326" y="2296375"/>
            <a:ext cx="2726700" cy="648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1" name="Google Shape;441;p29"/>
          <p:cNvSpPr/>
          <p:nvPr/>
        </p:nvSpPr>
        <p:spPr>
          <a:xfrm>
            <a:off x="1215467" y="1551061"/>
            <a:ext cx="819600" cy="791400"/>
          </a:xfrm>
          <a:prstGeom prst="ellipse">
            <a:avLst/>
          </a:prstGeom>
          <a:noFill/>
          <a:ln cap="flat" cmpd="sng" w="889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9"/>
          <p:cNvSpPr/>
          <p:nvPr/>
        </p:nvSpPr>
        <p:spPr>
          <a:xfrm>
            <a:off x="1264933" y="1618069"/>
            <a:ext cx="714300" cy="670500"/>
          </a:xfrm>
          <a:prstGeom prst="ellipse">
            <a:avLst/>
          </a:prstGeom>
          <a:solidFill>
            <a:srgbClr val="BDD1B4">
              <a:alpha val="20000"/>
            </a:srgbClr>
          </a:solidFill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9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444" name="Google Shape;444;p29"/>
          <p:cNvSpPr txBox="1"/>
          <p:nvPr>
            <p:ph idx="4294967295"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accent3"/>
                </a:solidFill>
              </a:rPr>
              <a:t>Support Provided in the Programme</a:t>
            </a:r>
            <a:endParaRPr b="1" sz="3500">
              <a:solidFill>
                <a:schemeClr val="accent3"/>
              </a:solidFill>
            </a:endParaRPr>
          </a:p>
        </p:txBody>
      </p:sp>
      <p:sp>
        <p:nvSpPr>
          <p:cNvPr id="445" name="Google Shape;445;p29"/>
          <p:cNvSpPr/>
          <p:nvPr/>
        </p:nvSpPr>
        <p:spPr>
          <a:xfrm>
            <a:off x="231450" y="3001295"/>
            <a:ext cx="2726700" cy="3078900"/>
          </a:xfrm>
          <a:prstGeom prst="rect">
            <a:avLst/>
          </a:prstGeom>
          <a:solidFill>
            <a:srgbClr val="E1F4F1">
              <a:alpha val="2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City Data Advisors will provide coaching and technical assistance with deep knowledge on the technical aspects of collecting, managing, and utilizing data with a close understanding of local context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46" name="Google Shape;446;p29"/>
          <p:cNvSpPr/>
          <p:nvPr/>
        </p:nvSpPr>
        <p:spPr>
          <a:xfrm>
            <a:off x="3238592" y="3001294"/>
            <a:ext cx="2724900" cy="3078900"/>
          </a:xfrm>
          <a:prstGeom prst="rect">
            <a:avLst/>
          </a:prstGeom>
          <a:solidFill>
            <a:srgbClr val="E1F4F1">
              <a:alpha val="2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In-city site visits offer personalized guidance and expertise tailored to the unique needs of each municipality. These visits provide an invaluable opportunity for hands-on collaboration, allowing coaches to work directly with city officials to assess challenges, explore innovative solutions, and develop actionable strategies focused on connecting data to the legacy goal.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47" name="Google Shape;447;p29"/>
          <p:cNvSpPr/>
          <p:nvPr/>
        </p:nvSpPr>
        <p:spPr>
          <a:xfrm>
            <a:off x="6240783" y="2993494"/>
            <a:ext cx="2724900" cy="3078900"/>
          </a:xfrm>
          <a:prstGeom prst="rect">
            <a:avLst/>
          </a:prstGeom>
          <a:solidFill>
            <a:srgbClr val="E1F4F1">
              <a:alpha val="2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The City Data Advisors, Program Director and Urban Governance Research Lab will support on a demand-driven format to cities in need of further support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48" name="Google Shape;448;p29"/>
          <p:cNvSpPr/>
          <p:nvPr/>
        </p:nvSpPr>
        <p:spPr>
          <a:xfrm>
            <a:off x="9242975" y="2980300"/>
            <a:ext cx="2720700" cy="3078900"/>
          </a:xfrm>
          <a:prstGeom prst="rect">
            <a:avLst/>
          </a:prstGeom>
          <a:solidFill>
            <a:srgbClr val="E1F4F1">
              <a:alpha val="20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Cites will have access to self-guided courses and on-demand resources to further enhance their data practices at their own pace.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49" name="Google Shape;449;p29"/>
          <p:cNvSpPr/>
          <p:nvPr/>
        </p:nvSpPr>
        <p:spPr>
          <a:xfrm>
            <a:off x="3235459" y="2296375"/>
            <a:ext cx="2724900" cy="648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0" name="Google Shape;450;p29"/>
          <p:cNvSpPr/>
          <p:nvPr/>
        </p:nvSpPr>
        <p:spPr>
          <a:xfrm>
            <a:off x="6237642" y="2288575"/>
            <a:ext cx="2724900" cy="648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1" name="Google Shape;451;p29"/>
          <p:cNvSpPr/>
          <p:nvPr/>
        </p:nvSpPr>
        <p:spPr>
          <a:xfrm>
            <a:off x="9239825" y="2288575"/>
            <a:ext cx="2720700" cy="648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2" name="Google Shape;452;p29"/>
          <p:cNvSpPr txBox="1"/>
          <p:nvPr/>
        </p:nvSpPr>
        <p:spPr>
          <a:xfrm>
            <a:off x="228300" y="2309500"/>
            <a:ext cx="272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Weekly Coaching &amp; Technical Assistance sessions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3" name="Google Shape;453;p29"/>
          <p:cNvSpPr txBox="1"/>
          <p:nvPr/>
        </p:nvSpPr>
        <p:spPr>
          <a:xfrm>
            <a:off x="3237562" y="2309488"/>
            <a:ext cx="272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2 In-Person Site Visits &amp; Trainings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4" name="Google Shape;454;p29"/>
          <p:cNvSpPr txBox="1"/>
          <p:nvPr/>
        </p:nvSpPr>
        <p:spPr>
          <a:xfrm>
            <a:off x="6238675" y="2412925"/>
            <a:ext cx="272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Standing Office Hours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5" name="Google Shape;455;p29"/>
          <p:cNvSpPr txBox="1"/>
          <p:nvPr/>
        </p:nvSpPr>
        <p:spPr>
          <a:xfrm>
            <a:off x="9162725" y="2305225"/>
            <a:ext cx="287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Access to Self-Guided Resources and Best Practices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456" name="Google Shape;4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0888" y="1686505"/>
            <a:ext cx="487825" cy="48782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9"/>
          <p:cNvSpPr/>
          <p:nvPr/>
        </p:nvSpPr>
        <p:spPr>
          <a:xfrm>
            <a:off x="4255908" y="1551061"/>
            <a:ext cx="819600" cy="791400"/>
          </a:xfrm>
          <a:prstGeom prst="ellipse">
            <a:avLst/>
          </a:prstGeom>
          <a:noFill/>
          <a:ln cap="flat" cmpd="sng" w="889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9"/>
          <p:cNvSpPr/>
          <p:nvPr/>
        </p:nvSpPr>
        <p:spPr>
          <a:xfrm>
            <a:off x="4305374" y="1618069"/>
            <a:ext cx="714300" cy="670500"/>
          </a:xfrm>
          <a:prstGeom prst="ellipse">
            <a:avLst/>
          </a:prstGeom>
          <a:solidFill>
            <a:srgbClr val="BDD1B4">
              <a:alpha val="20000"/>
            </a:srgbClr>
          </a:solidFill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9" name="Google Shape;45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2640" y="1707140"/>
            <a:ext cx="446525" cy="44652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9"/>
          <p:cNvSpPr/>
          <p:nvPr/>
        </p:nvSpPr>
        <p:spPr>
          <a:xfrm>
            <a:off x="7184983" y="1551061"/>
            <a:ext cx="819600" cy="791400"/>
          </a:xfrm>
          <a:prstGeom prst="ellipse">
            <a:avLst/>
          </a:prstGeom>
          <a:noFill/>
          <a:ln cap="flat" cmpd="sng" w="889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9"/>
          <p:cNvSpPr/>
          <p:nvPr/>
        </p:nvSpPr>
        <p:spPr>
          <a:xfrm>
            <a:off x="7234449" y="1618069"/>
            <a:ext cx="714300" cy="670500"/>
          </a:xfrm>
          <a:prstGeom prst="ellipse">
            <a:avLst/>
          </a:prstGeom>
          <a:solidFill>
            <a:srgbClr val="BDD1B4">
              <a:alpha val="20000"/>
            </a:srgbClr>
          </a:solidFill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2" name="Google Shape;46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28124" y="1765871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9"/>
          <p:cNvSpPr/>
          <p:nvPr/>
        </p:nvSpPr>
        <p:spPr>
          <a:xfrm>
            <a:off x="10179258" y="1551061"/>
            <a:ext cx="819600" cy="791400"/>
          </a:xfrm>
          <a:prstGeom prst="ellipse">
            <a:avLst/>
          </a:prstGeom>
          <a:noFill/>
          <a:ln cap="flat" cmpd="sng" w="889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9"/>
          <p:cNvSpPr/>
          <p:nvPr/>
        </p:nvSpPr>
        <p:spPr>
          <a:xfrm>
            <a:off x="10228724" y="1618069"/>
            <a:ext cx="714300" cy="670500"/>
          </a:xfrm>
          <a:prstGeom prst="ellipse">
            <a:avLst/>
          </a:prstGeom>
          <a:solidFill>
            <a:srgbClr val="BDD1B4">
              <a:alpha val="20000"/>
            </a:srgbClr>
          </a:solidFill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5" name="Google Shape;465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41963" y="1709413"/>
            <a:ext cx="487825" cy="48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" name="Google Shape;471;p30"/>
          <p:cNvGraphicFramePr/>
          <p:nvPr/>
        </p:nvGraphicFramePr>
        <p:xfrm>
          <a:off x="306313" y="169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{67C99779-1EB3-421E-80C8-1506312B58C0}</a:tableStyleId>
              </a:tblPr>
              <a:tblGrid>
                <a:gridCol w="3736875"/>
                <a:gridCol w="3736875"/>
                <a:gridCol w="4230200"/>
              </a:tblGrid>
              <a:tr h="56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</a:rPr>
                        <a:t>Getting Started with Data Management (June)</a:t>
                      </a:r>
                      <a:endParaRPr b="1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</a:rPr>
                        <a:t>Designing an Effective Data Reporting Tool (August)</a:t>
                      </a:r>
                      <a:endParaRPr b="1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</a:rPr>
                        <a:t>Launching and Sustaining a Performance Management Routine (September)</a:t>
                      </a:r>
                      <a:endParaRPr b="1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72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Key Data Concepts: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Data Inventory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Availability of Data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Quality (methods)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Closing Data Gaps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Key Data Concepts: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Data Reporting Tool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Developing Goals 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Selecting Performance Metrics 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Establishing Targets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Key Data Concepts</a:t>
                      </a: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: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Performance management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Analytics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Communicating progress to internal and external stakeholders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</a:tr>
              <a:tr h="54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Resources:</a:t>
                      </a:r>
                      <a:endParaRPr i="1" sz="11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Video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Best practices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Resources:</a:t>
                      </a:r>
                      <a:endParaRPr i="1" sz="11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Video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Best practices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Resources</a:t>
                      </a:r>
                      <a:r>
                        <a:rPr i="1" lang="en-US" sz="1200" u="none" cap="none" strike="noStrike">
                          <a:solidFill>
                            <a:schemeClr val="dk1"/>
                          </a:solidFill>
                        </a:rPr>
                        <a:t>: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Video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Best practices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Key learning objectives: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Learn the meaning of data management and how organization practice it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Recognize issues that data management practices can address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Know the foundational data management practices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Key learning objectives: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Learn the importance of effective data reporting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Recognize how to identify the right metrics and targets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Learning foundation of how to establish a data reporting process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Key learning objectives: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Identify the components of successful performance management processes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Recognize tools to get started with and sustain performance management practices 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Learning the importance of communicating progress to internal and external stakeholders by utilizing data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72" name="Google Shape;472;p30"/>
          <p:cNvSpPr txBox="1"/>
          <p:nvPr>
            <p:ph type="title"/>
          </p:nvPr>
        </p:nvSpPr>
        <p:spPr>
          <a:xfrm>
            <a:off x="290900" y="365825"/>
            <a:ext cx="11734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>
                <a:solidFill>
                  <a:schemeClr val="accent3"/>
                </a:solidFill>
              </a:rPr>
              <a:t>Engagement Learning Journey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1"/>
          <p:cNvSpPr txBox="1"/>
          <p:nvPr>
            <p:ph type="title"/>
          </p:nvPr>
        </p:nvSpPr>
        <p:spPr>
          <a:xfrm>
            <a:off x="228600" y="365125"/>
            <a:ext cx="117348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3"/>
                </a:solidFill>
              </a:rPr>
              <a:t>Working with your City Data </a:t>
            </a:r>
            <a:r>
              <a:rPr lang="en-US" sz="3500">
                <a:solidFill>
                  <a:schemeClr val="accent3"/>
                </a:solidFill>
              </a:rPr>
              <a:t>Advisor</a:t>
            </a:r>
            <a:endParaRPr sz="3500">
              <a:solidFill>
                <a:schemeClr val="accent3"/>
              </a:solidFill>
            </a:endParaRPr>
          </a:p>
        </p:txBody>
      </p:sp>
      <p:sp>
        <p:nvSpPr>
          <p:cNvPr id="479" name="Google Shape;479;p31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0" name="Google Shape;480;p31"/>
          <p:cNvSpPr txBox="1"/>
          <p:nvPr>
            <p:ph idx="1" type="body"/>
          </p:nvPr>
        </p:nvSpPr>
        <p:spPr>
          <a:xfrm>
            <a:off x="407956" y="1449388"/>
            <a:ext cx="5466300" cy="753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sx="99000" rotWithShape="0" algn="t" dir="5400000" dist="38100" sy="99000">
              <a:schemeClr val="accent1"/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>
                <a:solidFill>
                  <a:schemeClr val="dk1"/>
                </a:solidFill>
              </a:rPr>
              <a:t>Coaching Values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81" name="Google Shape;481;p31"/>
          <p:cNvSpPr txBox="1"/>
          <p:nvPr>
            <p:ph idx="2" type="body"/>
          </p:nvPr>
        </p:nvSpPr>
        <p:spPr>
          <a:xfrm>
            <a:off x="407989" y="2355850"/>
            <a:ext cx="5465700" cy="3737100"/>
          </a:xfrm>
          <a:prstGeom prst="rect">
            <a:avLst/>
          </a:prstGeom>
          <a:solidFill>
            <a:srgbClr val="E1F4F1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City Data Advisors bring trusted, flexible, and values-driven support to city teams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Convener / Facilitator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Confidante / Sounding Board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Integrator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Flexible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Subject-Matter-Expert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Accountability Partner 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82" name="Google Shape;482;p31"/>
          <p:cNvSpPr txBox="1"/>
          <p:nvPr>
            <p:ph idx="4294967295" type="body"/>
          </p:nvPr>
        </p:nvSpPr>
        <p:spPr>
          <a:xfrm>
            <a:off x="6320270" y="1449388"/>
            <a:ext cx="5464500" cy="753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sx="99000" rotWithShape="0" algn="t" dir="5400000" dist="38100" sy="99000">
              <a:srgbClr val="510E7B"/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/>
              <a:t>Technical </a:t>
            </a:r>
            <a:r>
              <a:rPr b="1" lang="en-US"/>
              <a:t>Assistance</a:t>
            </a:r>
            <a:endParaRPr b="1"/>
          </a:p>
        </p:txBody>
      </p:sp>
      <p:sp>
        <p:nvSpPr>
          <p:cNvPr id="483" name="Google Shape;483;p31"/>
          <p:cNvSpPr txBox="1"/>
          <p:nvPr>
            <p:ph idx="4294967295" type="body"/>
          </p:nvPr>
        </p:nvSpPr>
        <p:spPr>
          <a:xfrm>
            <a:off x="6320270" y="2355850"/>
            <a:ext cx="5463600" cy="3737100"/>
          </a:xfrm>
          <a:prstGeom prst="rect">
            <a:avLst/>
          </a:prstGeom>
          <a:solidFill>
            <a:srgbClr val="EFE6F9">
              <a:alpha val="4471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2000"/>
              <a:t>City Data Advisors will provide technical support to assist cities by:</a:t>
            </a:r>
            <a:endParaRPr b="1"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Co-developing a tailored data inventory template  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Creating a practical data reporting tool 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Guide the development of documented performance management framework 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Support launch of your performance management routine </a:t>
            </a:r>
            <a:endParaRPr sz="2000"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2000"/>
          </a:p>
        </p:txBody>
      </p:sp>
      <p:cxnSp>
        <p:nvCxnSpPr>
          <p:cNvPr id="484" name="Google Shape;484;p31"/>
          <p:cNvCxnSpPr>
            <a:stCxn id="478" idx="2"/>
          </p:cNvCxnSpPr>
          <p:nvPr/>
        </p:nvCxnSpPr>
        <p:spPr>
          <a:xfrm>
            <a:off x="6096000" y="1690825"/>
            <a:ext cx="4500" cy="44097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2"/>
          <p:cNvSpPr txBox="1"/>
          <p:nvPr>
            <p:ph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chemeClr val="accent3"/>
                </a:solidFill>
              </a:rPr>
              <a:t>Welcome to the AMALI Data Programme</a:t>
            </a:r>
            <a:endParaRPr sz="3500">
              <a:solidFill>
                <a:schemeClr val="accent3"/>
              </a:solidFill>
            </a:endParaRPr>
          </a:p>
        </p:txBody>
      </p:sp>
      <p:sp>
        <p:nvSpPr>
          <p:cNvPr id="491" name="Google Shape;491;p32"/>
          <p:cNvSpPr/>
          <p:nvPr/>
        </p:nvSpPr>
        <p:spPr>
          <a:xfrm>
            <a:off x="968418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92" name="Google Shape;492;p32"/>
          <p:cNvSpPr txBox="1"/>
          <p:nvPr/>
        </p:nvSpPr>
        <p:spPr>
          <a:xfrm>
            <a:off x="1073416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93" name="Google Shape;493;p32"/>
          <p:cNvSpPr/>
          <p:nvPr/>
        </p:nvSpPr>
        <p:spPr>
          <a:xfrm>
            <a:off x="1917567" y="26354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94" name="Google Shape;494;p32"/>
          <p:cNvSpPr txBox="1"/>
          <p:nvPr/>
        </p:nvSpPr>
        <p:spPr>
          <a:xfrm>
            <a:off x="676667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</a:rPr>
              <a:t>1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495" name="Google Shape;495;p32"/>
          <p:cNvSpPr/>
          <p:nvPr/>
        </p:nvSpPr>
        <p:spPr>
          <a:xfrm>
            <a:off x="2817943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96" name="Google Shape;496;p32"/>
          <p:cNvSpPr txBox="1"/>
          <p:nvPr/>
        </p:nvSpPr>
        <p:spPr>
          <a:xfrm>
            <a:off x="2922941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97" name="Google Shape;497;p32"/>
          <p:cNvSpPr txBox="1"/>
          <p:nvPr/>
        </p:nvSpPr>
        <p:spPr>
          <a:xfrm>
            <a:off x="2526192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2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498" name="Google Shape;498;p32"/>
          <p:cNvSpPr/>
          <p:nvPr/>
        </p:nvSpPr>
        <p:spPr>
          <a:xfrm>
            <a:off x="4667593" y="223347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99" name="Google Shape;499;p32"/>
          <p:cNvSpPr txBox="1"/>
          <p:nvPr/>
        </p:nvSpPr>
        <p:spPr>
          <a:xfrm>
            <a:off x="4772591" y="244837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00" name="Google Shape;500;p32"/>
          <p:cNvSpPr txBox="1"/>
          <p:nvPr/>
        </p:nvSpPr>
        <p:spPr>
          <a:xfrm>
            <a:off x="4375842" y="232569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3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501" name="Google Shape;501;p32"/>
          <p:cNvSpPr/>
          <p:nvPr/>
        </p:nvSpPr>
        <p:spPr>
          <a:xfrm>
            <a:off x="6517531" y="223347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02" name="Google Shape;502;p32"/>
          <p:cNvSpPr txBox="1"/>
          <p:nvPr/>
        </p:nvSpPr>
        <p:spPr>
          <a:xfrm>
            <a:off x="6622528" y="244837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03" name="Google Shape;503;p32"/>
          <p:cNvSpPr txBox="1"/>
          <p:nvPr/>
        </p:nvSpPr>
        <p:spPr>
          <a:xfrm>
            <a:off x="6225779" y="232569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2"/>
                </a:solidFill>
              </a:rPr>
              <a:t>4</a:t>
            </a:r>
            <a:endParaRPr b="1" i="0" sz="3200" u="none" cap="none" strike="noStrike">
              <a:solidFill>
                <a:schemeClr val="accent2"/>
              </a:solidFill>
            </a:endParaRPr>
          </a:p>
        </p:txBody>
      </p:sp>
      <p:sp>
        <p:nvSpPr>
          <p:cNvPr id="504" name="Google Shape;504;p32"/>
          <p:cNvSpPr/>
          <p:nvPr/>
        </p:nvSpPr>
        <p:spPr>
          <a:xfrm>
            <a:off x="8306318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05" name="Google Shape;505;p32"/>
          <p:cNvSpPr txBox="1"/>
          <p:nvPr/>
        </p:nvSpPr>
        <p:spPr>
          <a:xfrm>
            <a:off x="8411316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06" name="Google Shape;506;p32"/>
          <p:cNvSpPr txBox="1"/>
          <p:nvPr/>
        </p:nvSpPr>
        <p:spPr>
          <a:xfrm>
            <a:off x="8014567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5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507" name="Google Shape;507;p32"/>
          <p:cNvSpPr/>
          <p:nvPr/>
        </p:nvSpPr>
        <p:spPr>
          <a:xfrm>
            <a:off x="10233718" y="2233490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08" name="Google Shape;508;p32"/>
          <p:cNvSpPr txBox="1"/>
          <p:nvPr/>
        </p:nvSpPr>
        <p:spPr>
          <a:xfrm>
            <a:off x="10338716" y="2448383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09" name="Google Shape;509;p32"/>
          <p:cNvSpPr txBox="1"/>
          <p:nvPr/>
        </p:nvSpPr>
        <p:spPr>
          <a:xfrm>
            <a:off x="9941967" y="2325705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6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510" name="Google Shape;510;p32"/>
          <p:cNvSpPr/>
          <p:nvPr/>
        </p:nvSpPr>
        <p:spPr>
          <a:xfrm>
            <a:off x="3743054" y="26354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11" name="Google Shape;511;p32"/>
          <p:cNvSpPr/>
          <p:nvPr/>
        </p:nvSpPr>
        <p:spPr>
          <a:xfrm>
            <a:off x="5625367" y="2635417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12" name="Google Shape;512;p32"/>
          <p:cNvSpPr/>
          <p:nvPr/>
        </p:nvSpPr>
        <p:spPr>
          <a:xfrm>
            <a:off x="7417641" y="26190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13" name="Google Shape;513;p32"/>
          <p:cNvSpPr/>
          <p:nvPr/>
        </p:nvSpPr>
        <p:spPr>
          <a:xfrm>
            <a:off x="9292567" y="26190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14" name="Google Shape;514;p32"/>
          <p:cNvSpPr/>
          <p:nvPr/>
        </p:nvSpPr>
        <p:spPr>
          <a:xfrm>
            <a:off x="421375" y="3170650"/>
            <a:ext cx="1886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Introductions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515" name="Google Shape;515;p32"/>
          <p:cNvSpPr/>
          <p:nvPr/>
        </p:nvSpPr>
        <p:spPr>
          <a:xfrm>
            <a:off x="242977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Welcome to 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the ADP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516" name="Google Shape;516;p32"/>
          <p:cNvSpPr/>
          <p:nvPr/>
        </p:nvSpPr>
        <p:spPr>
          <a:xfrm>
            <a:off x="434802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The ADP journey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517" name="Google Shape;517;p32"/>
          <p:cNvSpPr/>
          <p:nvPr/>
        </p:nvSpPr>
        <p:spPr>
          <a:xfrm>
            <a:off x="6129475" y="31706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2"/>
                </a:solidFill>
              </a:rPr>
              <a:t>Partnership logistics</a:t>
            </a:r>
            <a:endParaRPr b="1" sz="19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2"/>
              </a:solidFill>
            </a:endParaRPr>
          </a:p>
        </p:txBody>
      </p:sp>
      <p:sp>
        <p:nvSpPr>
          <p:cNvPr id="518" name="Google Shape;518;p32"/>
          <p:cNvSpPr/>
          <p:nvPr/>
        </p:nvSpPr>
        <p:spPr>
          <a:xfrm>
            <a:off x="7918275" y="3191350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Preparing for the 1st site 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visit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519" name="Google Shape;519;p32"/>
          <p:cNvSpPr/>
          <p:nvPr/>
        </p:nvSpPr>
        <p:spPr>
          <a:xfrm>
            <a:off x="994422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Discussion &amp; What’s Next?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3"/>
          <p:cNvSpPr txBox="1"/>
          <p:nvPr>
            <p:ph type="title"/>
          </p:nvPr>
        </p:nvSpPr>
        <p:spPr>
          <a:xfrm>
            <a:off x="228600" y="365125"/>
            <a:ext cx="117348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3"/>
                </a:solidFill>
              </a:rPr>
              <a:t>The programme </a:t>
            </a:r>
            <a:r>
              <a:rPr lang="en-US" sz="3500">
                <a:solidFill>
                  <a:schemeClr val="accent3"/>
                </a:solidFill>
              </a:rPr>
              <a:t>delivers</a:t>
            </a:r>
            <a:r>
              <a:rPr lang="en-US" sz="3500">
                <a:solidFill>
                  <a:schemeClr val="accent3"/>
                </a:solidFill>
              </a:rPr>
              <a:t> real impact when the city’s leadership and project team is fully engaged </a:t>
            </a:r>
            <a:endParaRPr sz="3500">
              <a:solidFill>
                <a:schemeClr val="accent3"/>
              </a:solidFill>
            </a:endParaRPr>
          </a:p>
        </p:txBody>
      </p:sp>
      <p:sp>
        <p:nvSpPr>
          <p:cNvPr id="526" name="Google Shape;526;p33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7" name="Google Shape;527;p33"/>
          <p:cNvSpPr txBox="1"/>
          <p:nvPr>
            <p:ph idx="1" type="body"/>
          </p:nvPr>
        </p:nvSpPr>
        <p:spPr>
          <a:xfrm>
            <a:off x="327750" y="1767025"/>
            <a:ext cx="11635800" cy="417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None/>
            </a:pPr>
            <a:r>
              <a:rPr b="1" lang="en-US" sz="2085">
                <a:solidFill>
                  <a:srgbClr val="00685B"/>
                </a:solidFill>
              </a:rPr>
              <a:t>City Project Team responsibilities</a:t>
            </a:r>
            <a:endParaRPr b="1" sz="2085">
              <a:solidFill>
                <a:srgbClr val="00685B"/>
              </a:solidFill>
            </a:endParaRPr>
          </a:p>
          <a:p>
            <a:pPr indent="-350202" lvl="0" marL="5715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15"/>
              <a:buFont typeface="Roboto"/>
              <a:buAutoNum type="arabicPeriod"/>
            </a:pPr>
            <a:r>
              <a:rPr b="1" lang="en-US" sz="1915">
                <a:solidFill>
                  <a:schemeClr val="dk1"/>
                </a:solidFill>
              </a:rPr>
              <a:t>Attend</a:t>
            </a:r>
            <a:r>
              <a:rPr lang="en-US" sz="1915">
                <a:solidFill>
                  <a:schemeClr val="dk1"/>
                </a:solidFill>
              </a:rPr>
              <a:t> all </a:t>
            </a:r>
            <a:r>
              <a:rPr b="1" lang="en-US" sz="1915">
                <a:solidFill>
                  <a:schemeClr val="dk1"/>
                </a:solidFill>
              </a:rPr>
              <a:t>engagement</a:t>
            </a:r>
            <a:r>
              <a:rPr lang="en-US" sz="1915">
                <a:solidFill>
                  <a:schemeClr val="dk1"/>
                </a:solidFill>
              </a:rPr>
              <a:t> meetings</a:t>
            </a:r>
            <a:endParaRPr sz="1915">
              <a:solidFill>
                <a:schemeClr val="dk1"/>
              </a:solidFill>
            </a:endParaRPr>
          </a:p>
          <a:p>
            <a:pPr indent="-350202" lvl="0" marL="5715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15"/>
              <a:buFont typeface="Roboto"/>
              <a:buAutoNum type="arabicPeriod"/>
            </a:pPr>
            <a:r>
              <a:rPr b="1" lang="en-US" sz="1915">
                <a:solidFill>
                  <a:schemeClr val="dk1"/>
                </a:solidFill>
              </a:rPr>
              <a:t>Meet internally</a:t>
            </a:r>
            <a:r>
              <a:rPr lang="en-US" sz="1915">
                <a:solidFill>
                  <a:schemeClr val="dk1"/>
                </a:solidFill>
              </a:rPr>
              <a:t> as a team to discuss </a:t>
            </a:r>
            <a:r>
              <a:rPr b="1" lang="en-US" sz="1915">
                <a:solidFill>
                  <a:schemeClr val="dk1"/>
                </a:solidFill>
              </a:rPr>
              <a:t>key concepts</a:t>
            </a:r>
            <a:r>
              <a:rPr lang="en-US" sz="1915">
                <a:solidFill>
                  <a:schemeClr val="dk1"/>
                </a:solidFill>
              </a:rPr>
              <a:t>, </a:t>
            </a:r>
            <a:r>
              <a:rPr b="1" lang="en-US" sz="1915">
                <a:solidFill>
                  <a:schemeClr val="dk1"/>
                </a:solidFill>
              </a:rPr>
              <a:t>make decisions</a:t>
            </a:r>
            <a:r>
              <a:rPr lang="en-US" sz="1915">
                <a:solidFill>
                  <a:schemeClr val="dk1"/>
                </a:solidFill>
              </a:rPr>
              <a:t>, </a:t>
            </a:r>
            <a:r>
              <a:rPr b="1" lang="en-US" sz="1915">
                <a:solidFill>
                  <a:schemeClr val="dk1"/>
                </a:solidFill>
              </a:rPr>
              <a:t>prepare for on-site visits</a:t>
            </a:r>
            <a:r>
              <a:rPr lang="en-US" sz="1915">
                <a:solidFill>
                  <a:schemeClr val="dk1"/>
                </a:solidFill>
              </a:rPr>
              <a:t>, and </a:t>
            </a:r>
            <a:r>
              <a:rPr b="1" lang="en-US" sz="1915">
                <a:solidFill>
                  <a:schemeClr val="dk1"/>
                </a:solidFill>
              </a:rPr>
              <a:t>complete</a:t>
            </a:r>
            <a:r>
              <a:rPr lang="en-US" sz="1915">
                <a:solidFill>
                  <a:schemeClr val="dk1"/>
                </a:solidFill>
              </a:rPr>
              <a:t> </a:t>
            </a:r>
            <a:r>
              <a:rPr b="1" lang="en-US" sz="1915">
                <a:solidFill>
                  <a:schemeClr val="dk1"/>
                </a:solidFill>
              </a:rPr>
              <a:t>deliverables</a:t>
            </a:r>
            <a:r>
              <a:rPr lang="en-US" sz="1915">
                <a:solidFill>
                  <a:schemeClr val="dk1"/>
                </a:solidFill>
              </a:rPr>
              <a:t> </a:t>
            </a:r>
            <a:endParaRPr sz="1915">
              <a:solidFill>
                <a:schemeClr val="dk1"/>
              </a:solidFill>
            </a:endParaRPr>
          </a:p>
          <a:p>
            <a:pPr indent="-350202" lvl="0" marL="5715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15"/>
              <a:buFont typeface="Roboto"/>
              <a:buAutoNum type="arabicPeriod"/>
            </a:pPr>
            <a:r>
              <a:rPr b="1" lang="en-US" sz="1915">
                <a:solidFill>
                  <a:schemeClr val="dk1"/>
                </a:solidFill>
              </a:rPr>
              <a:t>Engage with City Data Advisor</a:t>
            </a:r>
            <a:r>
              <a:rPr lang="en-US" sz="1915">
                <a:solidFill>
                  <a:schemeClr val="dk1"/>
                </a:solidFill>
              </a:rPr>
              <a:t> and be prepared with questions</a:t>
            </a:r>
            <a:endParaRPr sz="1915">
              <a:solidFill>
                <a:schemeClr val="dk1"/>
              </a:solidFill>
            </a:endParaRPr>
          </a:p>
          <a:p>
            <a:pPr indent="-350202" lvl="0" marL="5715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15"/>
              <a:buAutoNum type="arabicPeriod"/>
            </a:pPr>
            <a:r>
              <a:rPr b="1" lang="en-US" sz="1915">
                <a:solidFill>
                  <a:schemeClr val="dk1"/>
                </a:solidFill>
              </a:rPr>
              <a:t>Complete all Deliverables</a:t>
            </a:r>
            <a:endParaRPr b="1" sz="1915">
              <a:solidFill>
                <a:schemeClr val="dk1"/>
              </a:solidFill>
            </a:endParaRPr>
          </a:p>
          <a:p>
            <a:pPr indent="-350202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15"/>
              <a:buChar char="○"/>
            </a:pPr>
            <a:r>
              <a:rPr lang="en-US" sz="1915">
                <a:solidFill>
                  <a:schemeClr val="dk1"/>
                </a:solidFill>
              </a:rPr>
              <a:t>Piloting Data Inventory</a:t>
            </a:r>
            <a:endParaRPr sz="1915">
              <a:solidFill>
                <a:schemeClr val="dk1"/>
              </a:solidFill>
            </a:endParaRPr>
          </a:p>
          <a:p>
            <a:pPr indent="-350202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15"/>
              <a:buChar char="○"/>
            </a:pPr>
            <a:r>
              <a:rPr lang="en-US" sz="1915">
                <a:solidFill>
                  <a:schemeClr val="dk1"/>
                </a:solidFill>
              </a:rPr>
              <a:t>Launching Data Reporting Tool </a:t>
            </a:r>
            <a:endParaRPr sz="1915">
              <a:solidFill>
                <a:schemeClr val="dk1"/>
              </a:solidFill>
            </a:endParaRPr>
          </a:p>
          <a:p>
            <a:pPr indent="-350202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15"/>
              <a:buChar char="○"/>
            </a:pPr>
            <a:r>
              <a:rPr lang="en-US" sz="1915">
                <a:solidFill>
                  <a:schemeClr val="dk1"/>
                </a:solidFill>
              </a:rPr>
              <a:t>Conducting 1st Performance Meeting</a:t>
            </a:r>
            <a:endParaRPr sz="191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680"/>
          </a:p>
        </p:txBody>
      </p:sp>
      <p:sp>
        <p:nvSpPr>
          <p:cNvPr id="528" name="Google Shape;528;p33"/>
          <p:cNvSpPr/>
          <p:nvPr/>
        </p:nvSpPr>
        <p:spPr>
          <a:xfrm>
            <a:off x="469475" y="2141875"/>
            <a:ext cx="320100" cy="320100"/>
          </a:xfrm>
          <a:prstGeom prst="ellipse">
            <a:avLst/>
          </a:prstGeom>
          <a:solidFill>
            <a:srgbClr val="00685B"/>
          </a:solidFill>
          <a:ln cap="flat" cmpd="sng" w="9525">
            <a:solidFill>
              <a:srgbClr val="0068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1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529" name="Google Shape;529;p33"/>
          <p:cNvSpPr/>
          <p:nvPr/>
        </p:nvSpPr>
        <p:spPr>
          <a:xfrm>
            <a:off x="469475" y="2717250"/>
            <a:ext cx="320100" cy="320100"/>
          </a:xfrm>
          <a:prstGeom prst="ellipse">
            <a:avLst/>
          </a:prstGeom>
          <a:solidFill>
            <a:srgbClr val="00685B"/>
          </a:solidFill>
          <a:ln cap="flat" cmpd="sng" w="9525">
            <a:solidFill>
              <a:srgbClr val="0068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2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530" name="Google Shape;530;p33"/>
          <p:cNvSpPr/>
          <p:nvPr/>
        </p:nvSpPr>
        <p:spPr>
          <a:xfrm>
            <a:off x="469475" y="3590300"/>
            <a:ext cx="320100" cy="320100"/>
          </a:xfrm>
          <a:prstGeom prst="ellipse">
            <a:avLst/>
          </a:prstGeom>
          <a:solidFill>
            <a:srgbClr val="00685B"/>
          </a:solidFill>
          <a:ln cap="flat" cmpd="sng" w="9525">
            <a:solidFill>
              <a:srgbClr val="0068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3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531" name="Google Shape;531;p33"/>
          <p:cNvSpPr/>
          <p:nvPr/>
        </p:nvSpPr>
        <p:spPr>
          <a:xfrm>
            <a:off x="469475" y="4105875"/>
            <a:ext cx="320100" cy="320100"/>
          </a:xfrm>
          <a:prstGeom prst="ellipse">
            <a:avLst/>
          </a:prstGeom>
          <a:solidFill>
            <a:srgbClr val="00685B"/>
          </a:solidFill>
          <a:ln cap="flat" cmpd="sng" w="9525">
            <a:solidFill>
              <a:srgbClr val="0068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4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4"/>
          <p:cNvSpPr txBox="1"/>
          <p:nvPr>
            <p:ph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3"/>
                </a:solidFill>
              </a:rPr>
              <a:t>Role of the city team during w</a:t>
            </a:r>
            <a:r>
              <a:rPr lang="en-US">
                <a:solidFill>
                  <a:schemeClr val="accent3"/>
                </a:solidFill>
              </a:rPr>
              <a:t>eekly engagement calls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38" name="Google Shape;538;p34"/>
          <p:cNvSpPr txBox="1"/>
          <p:nvPr>
            <p:ph idx="1" type="body"/>
          </p:nvPr>
        </p:nvSpPr>
        <p:spPr>
          <a:xfrm>
            <a:off x="386850" y="1749425"/>
            <a:ext cx="11410500" cy="415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solidFill>
                  <a:schemeClr val="dk1"/>
                </a:solidFill>
              </a:rPr>
              <a:t>City Data Project Team will </a:t>
            </a:r>
            <a:r>
              <a:rPr b="1" lang="en-US" sz="1900">
                <a:solidFill>
                  <a:schemeClr val="dk1"/>
                </a:solidFill>
              </a:rPr>
              <a:t>meet with the City Data Advisor weekly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solidFill>
                  <a:schemeClr val="dk1"/>
                </a:solidFill>
              </a:rPr>
              <a:t>City team to </a:t>
            </a:r>
            <a:r>
              <a:rPr b="1" lang="en-US" sz="1900">
                <a:solidFill>
                  <a:schemeClr val="dk1"/>
                </a:solidFill>
              </a:rPr>
              <a:t>establish the best time</a:t>
            </a:r>
            <a:r>
              <a:rPr lang="en-US" sz="1900">
                <a:solidFill>
                  <a:schemeClr val="dk1"/>
                </a:solidFill>
              </a:rPr>
              <a:t> and date per week </a:t>
            </a:r>
            <a:r>
              <a:rPr b="1" lang="en-US" sz="1900">
                <a:solidFill>
                  <a:schemeClr val="dk1"/>
                </a:solidFill>
              </a:rPr>
              <a:t>for</a:t>
            </a:r>
            <a:r>
              <a:rPr lang="en-US" sz="1900">
                <a:solidFill>
                  <a:schemeClr val="dk1"/>
                </a:solidFill>
              </a:rPr>
              <a:t> these </a:t>
            </a:r>
            <a:r>
              <a:rPr b="1" lang="en-US" sz="1900">
                <a:solidFill>
                  <a:schemeClr val="dk1"/>
                </a:solidFill>
              </a:rPr>
              <a:t>discussions</a:t>
            </a:r>
            <a:r>
              <a:rPr lang="en-US" sz="1900">
                <a:solidFill>
                  <a:schemeClr val="dk1"/>
                </a:solidFill>
              </a:rPr>
              <a:t> (recurring schedule to be sent after this meeting)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b="1" lang="en-US" sz="1900">
                <a:solidFill>
                  <a:schemeClr val="dk1"/>
                </a:solidFill>
              </a:rPr>
              <a:t>Provide secretariat support</a:t>
            </a:r>
            <a:r>
              <a:rPr lang="en-US" sz="1900">
                <a:solidFill>
                  <a:schemeClr val="dk1"/>
                </a:solidFill>
              </a:rPr>
              <a:t>; minutes/ note taking/ reporting (in some aspects this will be in collaboration with the ADP team)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solidFill>
                  <a:schemeClr val="dk1"/>
                </a:solidFill>
              </a:rPr>
              <a:t>Meetings will be recorded for record keeping 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solidFill>
                  <a:schemeClr val="dk1"/>
                </a:solidFill>
              </a:rPr>
              <a:t>A </a:t>
            </a:r>
            <a:r>
              <a:rPr b="1" lang="en-US" sz="1900">
                <a:solidFill>
                  <a:schemeClr val="dk1"/>
                </a:solidFill>
              </a:rPr>
              <a:t>Google shared drive will be created </a:t>
            </a:r>
            <a:r>
              <a:rPr lang="en-US" sz="1900">
                <a:solidFill>
                  <a:schemeClr val="dk1"/>
                </a:solidFill>
              </a:rPr>
              <a:t>for all parties to upload information and work transparently 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solidFill>
                  <a:schemeClr val="dk1"/>
                </a:solidFill>
              </a:rPr>
              <a:t>ADP team will review submissions and derive questions from these information pieces. </a:t>
            </a:r>
            <a:endParaRPr b="1" i="1" sz="1900">
              <a:solidFill>
                <a:schemeClr val="dk1"/>
              </a:solidFill>
            </a:endParaRPr>
          </a:p>
        </p:txBody>
      </p:sp>
      <p:sp>
        <p:nvSpPr>
          <p:cNvPr id="539" name="Google Shape;539;p34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0" name="Google Shape;540;p34"/>
          <p:cNvSpPr/>
          <p:nvPr/>
        </p:nvSpPr>
        <p:spPr>
          <a:xfrm>
            <a:off x="496968" y="1853450"/>
            <a:ext cx="311400" cy="320100"/>
          </a:xfrm>
          <a:prstGeom prst="ellipse">
            <a:avLst/>
          </a:prstGeom>
          <a:solidFill>
            <a:srgbClr val="00685B"/>
          </a:solidFill>
          <a:ln cap="flat" cmpd="sng" w="9525">
            <a:solidFill>
              <a:srgbClr val="0068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1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541" name="Google Shape;541;p34"/>
          <p:cNvSpPr/>
          <p:nvPr/>
        </p:nvSpPr>
        <p:spPr>
          <a:xfrm>
            <a:off x="496968" y="2421825"/>
            <a:ext cx="311400" cy="320100"/>
          </a:xfrm>
          <a:prstGeom prst="ellipse">
            <a:avLst/>
          </a:prstGeom>
          <a:solidFill>
            <a:srgbClr val="00685B"/>
          </a:solidFill>
          <a:ln cap="flat" cmpd="sng" w="9525">
            <a:solidFill>
              <a:srgbClr val="0068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2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542" name="Google Shape;542;p34"/>
          <p:cNvSpPr/>
          <p:nvPr/>
        </p:nvSpPr>
        <p:spPr>
          <a:xfrm>
            <a:off x="496968" y="3417838"/>
            <a:ext cx="311400" cy="320100"/>
          </a:xfrm>
          <a:prstGeom prst="ellipse">
            <a:avLst/>
          </a:prstGeom>
          <a:solidFill>
            <a:srgbClr val="00685B"/>
          </a:solidFill>
          <a:ln cap="flat" cmpd="sng" w="9525">
            <a:solidFill>
              <a:srgbClr val="0068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3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543" name="Google Shape;543;p34"/>
          <p:cNvSpPr/>
          <p:nvPr/>
        </p:nvSpPr>
        <p:spPr>
          <a:xfrm>
            <a:off x="496968" y="4413875"/>
            <a:ext cx="311400" cy="320100"/>
          </a:xfrm>
          <a:prstGeom prst="ellipse">
            <a:avLst/>
          </a:prstGeom>
          <a:solidFill>
            <a:srgbClr val="00685B"/>
          </a:solidFill>
          <a:ln cap="flat" cmpd="sng" w="9525">
            <a:solidFill>
              <a:srgbClr val="0068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4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544" name="Google Shape;544;p34"/>
          <p:cNvSpPr/>
          <p:nvPr/>
        </p:nvSpPr>
        <p:spPr>
          <a:xfrm>
            <a:off x="496968" y="4978125"/>
            <a:ext cx="311400" cy="320100"/>
          </a:xfrm>
          <a:prstGeom prst="ellipse">
            <a:avLst/>
          </a:prstGeom>
          <a:solidFill>
            <a:srgbClr val="00685B"/>
          </a:solidFill>
          <a:ln cap="flat" cmpd="sng" w="9525">
            <a:solidFill>
              <a:srgbClr val="0068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5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5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1" name="Google Shape;551;p35"/>
          <p:cNvSpPr txBox="1"/>
          <p:nvPr>
            <p:ph type="title"/>
          </p:nvPr>
        </p:nvSpPr>
        <p:spPr>
          <a:xfrm>
            <a:off x="228600" y="365125"/>
            <a:ext cx="117348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3"/>
                </a:solidFill>
              </a:rPr>
              <a:t>We understand that the current core project team will consist of these key city members</a:t>
            </a:r>
            <a:endParaRPr sz="3500">
              <a:solidFill>
                <a:schemeClr val="accent3"/>
              </a:solidFill>
            </a:endParaRPr>
          </a:p>
        </p:txBody>
      </p:sp>
      <p:graphicFrame>
        <p:nvGraphicFramePr>
          <p:cNvPr id="552" name="Google Shape;552;p35"/>
          <p:cNvGraphicFramePr/>
          <p:nvPr/>
        </p:nvGraphicFramePr>
        <p:xfrm>
          <a:off x="228625" y="195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{AACD1254-3C94-40E8-A14F-1A98FED05B05}</a:tableStyleId>
              </a:tblPr>
              <a:tblGrid>
                <a:gridCol w="3911600"/>
                <a:gridCol w="3911600"/>
                <a:gridCol w="3911600"/>
              </a:tblGrid>
              <a:tr h="88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chemeClr val="lt1"/>
                          </a:solidFill>
                        </a:rPr>
                        <a:t>Team Member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>
                          <a:solidFill>
                            <a:schemeClr val="lt1"/>
                          </a:solidFill>
                        </a:rPr>
                        <a:t>The name of the team member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chemeClr val="lt1"/>
                          </a:solidFill>
                        </a:rPr>
                        <a:t>Role in the city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>
                          <a:solidFill>
                            <a:schemeClr val="lt1"/>
                          </a:solidFill>
                        </a:rPr>
                        <a:t>P</a:t>
                      </a:r>
                      <a:r>
                        <a:rPr i="1" lang="en-US" sz="1100">
                          <a:solidFill>
                            <a:schemeClr val="lt1"/>
                          </a:solidFill>
                        </a:rPr>
                        <a:t>ortfolio</a:t>
                      </a:r>
                      <a:r>
                        <a:rPr i="1" lang="en-US" sz="1100">
                          <a:solidFill>
                            <a:schemeClr val="lt1"/>
                          </a:solidFill>
                        </a:rPr>
                        <a:t> the team member oversees in the city 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chemeClr val="lt1"/>
                          </a:solidFill>
                        </a:rPr>
                        <a:t>Project Role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>
                          <a:solidFill>
                            <a:schemeClr val="lt1"/>
                          </a:solidFill>
                        </a:rPr>
                        <a:t>R</a:t>
                      </a:r>
                      <a:r>
                        <a:rPr i="1" lang="en-US" sz="1100">
                          <a:solidFill>
                            <a:schemeClr val="lt1"/>
                          </a:solidFill>
                        </a:rPr>
                        <a:t>ole team member will be playing in the AMALI Data Programme - To be completed in subsequent engagements)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64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XX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4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XX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4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XX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4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XX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4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XX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6"/>
          <p:cNvSpPr txBox="1"/>
          <p:nvPr>
            <p:ph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chemeClr val="accent3"/>
                </a:solidFill>
              </a:rPr>
              <a:t>Welcome to the AMALI Data Programme</a:t>
            </a:r>
            <a:endParaRPr sz="3500">
              <a:solidFill>
                <a:schemeClr val="accent3"/>
              </a:solidFill>
            </a:endParaRPr>
          </a:p>
        </p:txBody>
      </p:sp>
      <p:sp>
        <p:nvSpPr>
          <p:cNvPr id="559" name="Google Shape;559;p36"/>
          <p:cNvSpPr/>
          <p:nvPr/>
        </p:nvSpPr>
        <p:spPr>
          <a:xfrm>
            <a:off x="968418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60" name="Google Shape;560;p36"/>
          <p:cNvSpPr txBox="1"/>
          <p:nvPr/>
        </p:nvSpPr>
        <p:spPr>
          <a:xfrm>
            <a:off x="1073416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61" name="Google Shape;561;p36"/>
          <p:cNvSpPr/>
          <p:nvPr/>
        </p:nvSpPr>
        <p:spPr>
          <a:xfrm>
            <a:off x="1917567" y="26354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62" name="Google Shape;562;p36"/>
          <p:cNvSpPr txBox="1"/>
          <p:nvPr/>
        </p:nvSpPr>
        <p:spPr>
          <a:xfrm>
            <a:off x="676667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</a:rPr>
              <a:t>1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563" name="Google Shape;563;p36"/>
          <p:cNvSpPr/>
          <p:nvPr/>
        </p:nvSpPr>
        <p:spPr>
          <a:xfrm>
            <a:off x="2817943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64" name="Google Shape;564;p36"/>
          <p:cNvSpPr txBox="1"/>
          <p:nvPr/>
        </p:nvSpPr>
        <p:spPr>
          <a:xfrm>
            <a:off x="2922941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65" name="Google Shape;565;p36"/>
          <p:cNvSpPr txBox="1"/>
          <p:nvPr/>
        </p:nvSpPr>
        <p:spPr>
          <a:xfrm>
            <a:off x="2526192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2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566" name="Google Shape;566;p36"/>
          <p:cNvSpPr/>
          <p:nvPr/>
        </p:nvSpPr>
        <p:spPr>
          <a:xfrm>
            <a:off x="4667593" y="223347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67" name="Google Shape;567;p36"/>
          <p:cNvSpPr txBox="1"/>
          <p:nvPr/>
        </p:nvSpPr>
        <p:spPr>
          <a:xfrm>
            <a:off x="4772591" y="244837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68" name="Google Shape;568;p36"/>
          <p:cNvSpPr txBox="1"/>
          <p:nvPr/>
        </p:nvSpPr>
        <p:spPr>
          <a:xfrm>
            <a:off x="4375842" y="232569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3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569" name="Google Shape;569;p36"/>
          <p:cNvSpPr/>
          <p:nvPr/>
        </p:nvSpPr>
        <p:spPr>
          <a:xfrm>
            <a:off x="6517531" y="223347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70" name="Google Shape;570;p36"/>
          <p:cNvSpPr txBox="1"/>
          <p:nvPr/>
        </p:nvSpPr>
        <p:spPr>
          <a:xfrm>
            <a:off x="6622528" y="244837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71" name="Google Shape;571;p36"/>
          <p:cNvSpPr txBox="1"/>
          <p:nvPr/>
        </p:nvSpPr>
        <p:spPr>
          <a:xfrm>
            <a:off x="6225779" y="232569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2"/>
                </a:solidFill>
              </a:rPr>
              <a:t>4</a:t>
            </a:r>
            <a:endParaRPr b="1" i="0" sz="3200" u="none" cap="none" strike="noStrike">
              <a:solidFill>
                <a:schemeClr val="accent2"/>
              </a:solidFill>
            </a:endParaRPr>
          </a:p>
        </p:txBody>
      </p:sp>
      <p:sp>
        <p:nvSpPr>
          <p:cNvPr id="572" name="Google Shape;572;p36"/>
          <p:cNvSpPr/>
          <p:nvPr/>
        </p:nvSpPr>
        <p:spPr>
          <a:xfrm>
            <a:off x="8306318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73" name="Google Shape;573;p36"/>
          <p:cNvSpPr txBox="1"/>
          <p:nvPr/>
        </p:nvSpPr>
        <p:spPr>
          <a:xfrm>
            <a:off x="8411316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74" name="Google Shape;574;p36"/>
          <p:cNvSpPr txBox="1"/>
          <p:nvPr/>
        </p:nvSpPr>
        <p:spPr>
          <a:xfrm>
            <a:off x="8014567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5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575" name="Google Shape;575;p36"/>
          <p:cNvSpPr/>
          <p:nvPr/>
        </p:nvSpPr>
        <p:spPr>
          <a:xfrm>
            <a:off x="10233718" y="2233490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76" name="Google Shape;576;p36"/>
          <p:cNvSpPr txBox="1"/>
          <p:nvPr/>
        </p:nvSpPr>
        <p:spPr>
          <a:xfrm>
            <a:off x="10338716" y="2448383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77" name="Google Shape;577;p36"/>
          <p:cNvSpPr txBox="1"/>
          <p:nvPr/>
        </p:nvSpPr>
        <p:spPr>
          <a:xfrm>
            <a:off x="9941967" y="2325705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6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578" name="Google Shape;578;p36"/>
          <p:cNvSpPr/>
          <p:nvPr/>
        </p:nvSpPr>
        <p:spPr>
          <a:xfrm>
            <a:off x="3743054" y="26354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79" name="Google Shape;579;p36"/>
          <p:cNvSpPr/>
          <p:nvPr/>
        </p:nvSpPr>
        <p:spPr>
          <a:xfrm>
            <a:off x="5625367" y="2635417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80" name="Google Shape;580;p36"/>
          <p:cNvSpPr/>
          <p:nvPr/>
        </p:nvSpPr>
        <p:spPr>
          <a:xfrm>
            <a:off x="7417641" y="26190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81" name="Google Shape;581;p36"/>
          <p:cNvSpPr/>
          <p:nvPr/>
        </p:nvSpPr>
        <p:spPr>
          <a:xfrm>
            <a:off x="9292567" y="26190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82" name="Google Shape;582;p36"/>
          <p:cNvSpPr/>
          <p:nvPr/>
        </p:nvSpPr>
        <p:spPr>
          <a:xfrm>
            <a:off x="421375" y="3170650"/>
            <a:ext cx="1886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Introductions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583" name="Google Shape;583;p36"/>
          <p:cNvSpPr/>
          <p:nvPr/>
        </p:nvSpPr>
        <p:spPr>
          <a:xfrm>
            <a:off x="242977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Welcome to 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the ADP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584" name="Google Shape;584;p36"/>
          <p:cNvSpPr/>
          <p:nvPr/>
        </p:nvSpPr>
        <p:spPr>
          <a:xfrm>
            <a:off x="434802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The ADP journey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585" name="Google Shape;585;p36"/>
          <p:cNvSpPr/>
          <p:nvPr/>
        </p:nvSpPr>
        <p:spPr>
          <a:xfrm>
            <a:off x="6129475" y="31706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2"/>
                </a:solidFill>
              </a:rPr>
              <a:t>Partnership logistics</a:t>
            </a:r>
            <a:endParaRPr b="1" sz="19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2"/>
              </a:solidFill>
            </a:endParaRPr>
          </a:p>
        </p:txBody>
      </p:sp>
      <p:sp>
        <p:nvSpPr>
          <p:cNvPr id="586" name="Google Shape;586;p36"/>
          <p:cNvSpPr/>
          <p:nvPr/>
        </p:nvSpPr>
        <p:spPr>
          <a:xfrm>
            <a:off x="7918275" y="3191350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Preparing for the 1st site 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visit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587" name="Google Shape;587;p36"/>
          <p:cNvSpPr/>
          <p:nvPr/>
        </p:nvSpPr>
        <p:spPr>
          <a:xfrm>
            <a:off x="994422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Discussion &amp; What’s Next?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7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4" name="Google Shape;594;p37"/>
          <p:cNvSpPr txBox="1"/>
          <p:nvPr>
            <p:ph type="title"/>
          </p:nvPr>
        </p:nvSpPr>
        <p:spPr>
          <a:xfrm>
            <a:off x="124197" y="337875"/>
            <a:ext cx="11943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3"/>
                </a:solidFill>
              </a:rPr>
              <a:t>Site visit schedule </a:t>
            </a:r>
            <a:endParaRPr sz="3500">
              <a:solidFill>
                <a:schemeClr val="accent3"/>
              </a:solidFill>
            </a:endParaRPr>
          </a:p>
        </p:txBody>
      </p:sp>
      <p:graphicFrame>
        <p:nvGraphicFramePr>
          <p:cNvPr id="595" name="Google Shape;595;p37"/>
          <p:cNvGraphicFramePr/>
          <p:nvPr/>
        </p:nvGraphicFramePr>
        <p:xfrm>
          <a:off x="265513" y="148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{6C4EFAA0-D8C3-4BBE-8453-CB10ABEE3791}</a:tableStyleId>
              </a:tblPr>
              <a:tblGrid>
                <a:gridCol w="4821300"/>
                <a:gridCol w="6834125"/>
              </a:tblGrid>
              <a:tr h="437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City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137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City Visit dates 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137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7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Harare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Mon–Tue, Jun 16–17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</a:tr>
              <a:tr h="37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Chitungwiza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Wed–Thu, Jun 19–20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</a:tr>
              <a:tr h="37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Johannesburg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Mon–Tue, Jun 23–24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</a:tr>
              <a:tr h="37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Kasama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Wed–Thu, Jun 25–26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</a:tr>
              <a:tr h="37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Banjul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Mon–Tue, Jun 30–Jul 1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</a:tr>
              <a:tr h="37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Kanifing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Wed–Thu, Jul 2–3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</a:tr>
              <a:tr h="37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Monrovia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Mon–Tue, Jul 7–8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</a:tr>
              <a:tr h="37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Keur Massar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Thu–Fri, Jul 10–11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</a:tr>
              <a:tr h="37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Shaggar (Addis)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Mon–Tue, Jul 14–15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</a:tr>
              <a:tr h="37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Wolaita Sodo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Wed–Thu, Jul 16–17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</a:tr>
              <a:tr h="37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Mombasa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Mon–Tue, Jul 21–22</a:t>
                      </a:r>
                      <a:endParaRPr sz="1700"/>
                    </a:p>
                  </a:txBody>
                  <a:tcPr marT="19050" marB="19050" marR="28575" marL="137150" anchor="b">
                    <a:lnL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4F1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96" name="Google Shape;596;p37"/>
          <p:cNvSpPr/>
          <p:nvPr/>
        </p:nvSpPr>
        <p:spPr>
          <a:xfrm>
            <a:off x="271188" y="1490375"/>
            <a:ext cx="11655300" cy="45510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8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3" name="Google Shape;603;p38"/>
          <p:cNvSpPr txBox="1"/>
          <p:nvPr>
            <p:ph type="title"/>
          </p:nvPr>
        </p:nvSpPr>
        <p:spPr>
          <a:xfrm>
            <a:off x="124197" y="337875"/>
            <a:ext cx="11943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3"/>
                </a:solidFill>
              </a:rPr>
              <a:t>How to prepare for 1st </a:t>
            </a:r>
            <a:r>
              <a:rPr lang="en-US" sz="3500">
                <a:solidFill>
                  <a:schemeClr val="accent3"/>
                </a:solidFill>
              </a:rPr>
              <a:t>S</a:t>
            </a:r>
            <a:r>
              <a:rPr lang="en-US" sz="3500">
                <a:solidFill>
                  <a:schemeClr val="accent3"/>
                </a:solidFill>
              </a:rPr>
              <a:t>it</a:t>
            </a:r>
            <a:r>
              <a:rPr lang="en-US" sz="3500">
                <a:solidFill>
                  <a:schemeClr val="accent3"/>
                </a:solidFill>
              </a:rPr>
              <a:t>e</a:t>
            </a:r>
            <a:r>
              <a:rPr lang="en-US" sz="3500">
                <a:solidFill>
                  <a:schemeClr val="accent3"/>
                </a:solidFill>
              </a:rPr>
              <a:t> Visit?</a:t>
            </a:r>
            <a:endParaRPr sz="3500">
              <a:solidFill>
                <a:schemeClr val="accent3"/>
              </a:solidFill>
            </a:endParaRPr>
          </a:p>
        </p:txBody>
      </p:sp>
      <p:cxnSp>
        <p:nvCxnSpPr>
          <p:cNvPr id="604" name="Google Shape;604;p38"/>
          <p:cNvCxnSpPr/>
          <p:nvPr/>
        </p:nvCxnSpPr>
        <p:spPr>
          <a:xfrm>
            <a:off x="6081735" y="1499324"/>
            <a:ext cx="4500" cy="440970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" name="Google Shape;605;p38"/>
          <p:cNvSpPr/>
          <p:nvPr/>
        </p:nvSpPr>
        <p:spPr>
          <a:xfrm>
            <a:off x="249100" y="1567425"/>
            <a:ext cx="5631900" cy="4273500"/>
          </a:xfrm>
          <a:prstGeom prst="rect">
            <a:avLst/>
          </a:prstGeom>
          <a:solidFill>
            <a:srgbClr val="E1F4F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8"/>
          <p:cNvSpPr/>
          <p:nvPr/>
        </p:nvSpPr>
        <p:spPr>
          <a:xfrm>
            <a:off x="6286950" y="1567425"/>
            <a:ext cx="5631900" cy="4273500"/>
          </a:xfrm>
          <a:prstGeom prst="rect">
            <a:avLst/>
          </a:prstGeom>
          <a:solidFill>
            <a:srgbClr val="EFE6F9">
              <a:alpha val="44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8"/>
          <p:cNvSpPr txBox="1"/>
          <p:nvPr/>
        </p:nvSpPr>
        <p:spPr>
          <a:xfrm>
            <a:off x="432150" y="1663575"/>
            <a:ext cx="52779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761D"/>
                </a:solidFill>
              </a:rPr>
              <a:t>Planning / Logistics </a:t>
            </a:r>
            <a:endParaRPr b="1" sz="2000">
              <a:solidFill>
                <a:srgbClr val="38761D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Confirm city project team</a:t>
            </a:r>
            <a:r>
              <a:rPr lang="en-US" sz="2000">
                <a:solidFill>
                  <a:schemeClr val="dk1"/>
                </a:solidFill>
              </a:rPr>
              <a:t> members who will join the city visit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Confirm</a:t>
            </a:r>
            <a:r>
              <a:rPr lang="en-US" sz="2000">
                <a:solidFill>
                  <a:schemeClr val="dk1"/>
                </a:solidFill>
              </a:rPr>
              <a:t> a date for 1st In-City visit (2 day visit) beginning </a:t>
            </a:r>
            <a:r>
              <a:rPr b="1" lang="en-US" sz="2000">
                <a:solidFill>
                  <a:schemeClr val="dk1"/>
                </a:solidFill>
              </a:rPr>
              <a:t>June 16 to June 23 July.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Review and </a:t>
            </a:r>
            <a:r>
              <a:rPr b="1" lang="en-US" sz="2000">
                <a:solidFill>
                  <a:schemeClr val="dk1"/>
                </a:solidFill>
              </a:rPr>
              <a:t>approve invitation letter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Arrange </a:t>
            </a:r>
            <a:r>
              <a:rPr b="1" lang="en-US" sz="2000">
                <a:solidFill>
                  <a:schemeClr val="dk1"/>
                </a:solidFill>
              </a:rPr>
              <a:t>v</a:t>
            </a:r>
            <a:r>
              <a:rPr b="1" lang="en-US" sz="2000">
                <a:solidFill>
                  <a:schemeClr val="dk1"/>
                </a:solidFill>
              </a:rPr>
              <a:t>enue and catering</a:t>
            </a:r>
            <a:r>
              <a:rPr lang="en-US" sz="2000">
                <a:solidFill>
                  <a:schemeClr val="dk1"/>
                </a:solidFill>
              </a:rPr>
              <a:t> requirements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Choose site</a:t>
            </a:r>
            <a:r>
              <a:rPr lang="en-US" sz="2000">
                <a:solidFill>
                  <a:schemeClr val="dk1"/>
                </a:solidFill>
              </a:rPr>
              <a:t>(s)</a:t>
            </a:r>
            <a:r>
              <a:rPr lang="en-US" sz="2000">
                <a:solidFill>
                  <a:schemeClr val="dk1"/>
                </a:solidFill>
              </a:rPr>
              <a:t> to </a:t>
            </a:r>
            <a:r>
              <a:rPr b="1" lang="en-US" sz="2000">
                <a:solidFill>
                  <a:schemeClr val="dk1"/>
                </a:solidFill>
              </a:rPr>
              <a:t>visit on Day 2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Prepare an update on the legacy goal</a:t>
            </a:r>
            <a:endParaRPr/>
          </a:p>
        </p:txBody>
      </p:sp>
      <p:sp>
        <p:nvSpPr>
          <p:cNvPr id="608" name="Google Shape;608;p38"/>
          <p:cNvSpPr txBox="1"/>
          <p:nvPr/>
        </p:nvSpPr>
        <p:spPr>
          <a:xfrm>
            <a:off x="6457900" y="1663575"/>
            <a:ext cx="52779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510E7B"/>
                </a:solidFill>
              </a:rPr>
              <a:t>Review Materials / Deliverables</a:t>
            </a:r>
            <a:endParaRPr b="1" sz="2100">
              <a:solidFill>
                <a:srgbClr val="510E7B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Optional </a:t>
            </a:r>
            <a:r>
              <a:rPr lang="en-US" sz="2000">
                <a:solidFill>
                  <a:schemeClr val="dk1"/>
                </a:solidFill>
              </a:rPr>
              <a:t>Getting started with data management Course - 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Link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Optional</a:t>
            </a:r>
            <a:r>
              <a:rPr lang="en-US" sz="2000">
                <a:solidFill>
                  <a:schemeClr val="dk1"/>
                </a:solidFill>
              </a:rPr>
              <a:t> Getting Started with Performance Analytics Course - </a:t>
            </a:r>
            <a:r>
              <a:rPr lang="en-US" sz="2000" u="sng">
                <a:solidFill>
                  <a:schemeClr val="hlink"/>
                </a:solidFill>
                <a:hlinkClick r:id="rId4"/>
              </a:rPr>
              <a:t>Link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Complete All Deliverables assigned </a:t>
            </a:r>
            <a:r>
              <a:rPr lang="en-US" sz="2000">
                <a:solidFill>
                  <a:schemeClr val="dk1"/>
                </a:solidFill>
              </a:rPr>
              <a:t>by City Data Advisor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9"/>
          <p:cNvSpPr txBox="1"/>
          <p:nvPr>
            <p:ph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chemeClr val="accent3"/>
                </a:solidFill>
              </a:rPr>
              <a:t>Welcome to the AMALI Data Programme</a:t>
            </a:r>
            <a:endParaRPr sz="3500">
              <a:solidFill>
                <a:schemeClr val="accent3"/>
              </a:solidFill>
            </a:endParaRPr>
          </a:p>
        </p:txBody>
      </p:sp>
      <p:sp>
        <p:nvSpPr>
          <p:cNvPr id="615" name="Google Shape;615;p39"/>
          <p:cNvSpPr/>
          <p:nvPr/>
        </p:nvSpPr>
        <p:spPr>
          <a:xfrm>
            <a:off x="968418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16" name="Google Shape;616;p39"/>
          <p:cNvSpPr txBox="1"/>
          <p:nvPr/>
        </p:nvSpPr>
        <p:spPr>
          <a:xfrm>
            <a:off x="1073416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17" name="Google Shape;617;p39"/>
          <p:cNvSpPr/>
          <p:nvPr/>
        </p:nvSpPr>
        <p:spPr>
          <a:xfrm>
            <a:off x="1917567" y="26354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18" name="Google Shape;618;p39"/>
          <p:cNvSpPr txBox="1"/>
          <p:nvPr/>
        </p:nvSpPr>
        <p:spPr>
          <a:xfrm>
            <a:off x="676667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</a:rPr>
              <a:t>1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619" name="Google Shape;619;p39"/>
          <p:cNvSpPr/>
          <p:nvPr/>
        </p:nvSpPr>
        <p:spPr>
          <a:xfrm>
            <a:off x="2817943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20" name="Google Shape;620;p39"/>
          <p:cNvSpPr txBox="1"/>
          <p:nvPr/>
        </p:nvSpPr>
        <p:spPr>
          <a:xfrm>
            <a:off x="2922941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21" name="Google Shape;621;p39"/>
          <p:cNvSpPr txBox="1"/>
          <p:nvPr/>
        </p:nvSpPr>
        <p:spPr>
          <a:xfrm>
            <a:off x="2526192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2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622" name="Google Shape;622;p39"/>
          <p:cNvSpPr/>
          <p:nvPr/>
        </p:nvSpPr>
        <p:spPr>
          <a:xfrm>
            <a:off x="4667593" y="223347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23" name="Google Shape;623;p39"/>
          <p:cNvSpPr txBox="1"/>
          <p:nvPr/>
        </p:nvSpPr>
        <p:spPr>
          <a:xfrm>
            <a:off x="4772591" y="244837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24" name="Google Shape;624;p39"/>
          <p:cNvSpPr txBox="1"/>
          <p:nvPr/>
        </p:nvSpPr>
        <p:spPr>
          <a:xfrm>
            <a:off x="4375842" y="232569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3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625" name="Google Shape;625;p39"/>
          <p:cNvSpPr/>
          <p:nvPr/>
        </p:nvSpPr>
        <p:spPr>
          <a:xfrm>
            <a:off x="6517531" y="223347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26" name="Google Shape;626;p39"/>
          <p:cNvSpPr txBox="1"/>
          <p:nvPr/>
        </p:nvSpPr>
        <p:spPr>
          <a:xfrm>
            <a:off x="6622528" y="244837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27" name="Google Shape;627;p39"/>
          <p:cNvSpPr txBox="1"/>
          <p:nvPr/>
        </p:nvSpPr>
        <p:spPr>
          <a:xfrm>
            <a:off x="6225779" y="232569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4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628" name="Google Shape;628;p39"/>
          <p:cNvSpPr/>
          <p:nvPr/>
        </p:nvSpPr>
        <p:spPr>
          <a:xfrm>
            <a:off x="8306318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29" name="Google Shape;629;p39"/>
          <p:cNvSpPr txBox="1"/>
          <p:nvPr/>
        </p:nvSpPr>
        <p:spPr>
          <a:xfrm>
            <a:off x="8411316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30" name="Google Shape;630;p39"/>
          <p:cNvSpPr txBox="1"/>
          <p:nvPr/>
        </p:nvSpPr>
        <p:spPr>
          <a:xfrm>
            <a:off x="8014567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2"/>
                </a:solidFill>
              </a:rPr>
              <a:t>5</a:t>
            </a:r>
            <a:endParaRPr b="1" i="0" sz="3200" u="none" cap="none" strike="noStrike">
              <a:solidFill>
                <a:schemeClr val="accent2"/>
              </a:solidFill>
            </a:endParaRPr>
          </a:p>
        </p:txBody>
      </p:sp>
      <p:sp>
        <p:nvSpPr>
          <p:cNvPr id="631" name="Google Shape;631;p39"/>
          <p:cNvSpPr/>
          <p:nvPr/>
        </p:nvSpPr>
        <p:spPr>
          <a:xfrm>
            <a:off x="10233718" y="2233490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32" name="Google Shape;632;p39"/>
          <p:cNvSpPr txBox="1"/>
          <p:nvPr/>
        </p:nvSpPr>
        <p:spPr>
          <a:xfrm>
            <a:off x="10338716" y="2448383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33" name="Google Shape;633;p39"/>
          <p:cNvSpPr txBox="1"/>
          <p:nvPr/>
        </p:nvSpPr>
        <p:spPr>
          <a:xfrm>
            <a:off x="9941967" y="2325705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6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634" name="Google Shape;634;p39"/>
          <p:cNvSpPr/>
          <p:nvPr/>
        </p:nvSpPr>
        <p:spPr>
          <a:xfrm>
            <a:off x="3743054" y="26354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35" name="Google Shape;635;p39"/>
          <p:cNvSpPr/>
          <p:nvPr/>
        </p:nvSpPr>
        <p:spPr>
          <a:xfrm>
            <a:off x="5625367" y="2635417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36" name="Google Shape;636;p39"/>
          <p:cNvSpPr/>
          <p:nvPr/>
        </p:nvSpPr>
        <p:spPr>
          <a:xfrm>
            <a:off x="7417641" y="26190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37" name="Google Shape;637;p39"/>
          <p:cNvSpPr/>
          <p:nvPr/>
        </p:nvSpPr>
        <p:spPr>
          <a:xfrm>
            <a:off x="9292567" y="26190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38" name="Google Shape;638;p39"/>
          <p:cNvSpPr/>
          <p:nvPr/>
        </p:nvSpPr>
        <p:spPr>
          <a:xfrm>
            <a:off x="421375" y="3170650"/>
            <a:ext cx="1886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Introductions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639" name="Google Shape;639;p39"/>
          <p:cNvSpPr/>
          <p:nvPr/>
        </p:nvSpPr>
        <p:spPr>
          <a:xfrm>
            <a:off x="242977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Welcome to 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the ADP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640" name="Google Shape;640;p39"/>
          <p:cNvSpPr/>
          <p:nvPr/>
        </p:nvSpPr>
        <p:spPr>
          <a:xfrm>
            <a:off x="434802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The ADP journey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641" name="Google Shape;641;p39"/>
          <p:cNvSpPr/>
          <p:nvPr/>
        </p:nvSpPr>
        <p:spPr>
          <a:xfrm>
            <a:off x="6129475" y="31706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Partnership logistics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642" name="Google Shape;642;p39"/>
          <p:cNvSpPr/>
          <p:nvPr/>
        </p:nvSpPr>
        <p:spPr>
          <a:xfrm>
            <a:off x="7918275" y="3191350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2"/>
                </a:solidFill>
              </a:rPr>
              <a:t>Preparing for the 1st site </a:t>
            </a:r>
            <a:endParaRPr b="1" sz="19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2"/>
                </a:solidFill>
              </a:rPr>
              <a:t>visit</a:t>
            </a:r>
            <a:endParaRPr b="1" sz="19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2"/>
              </a:solidFill>
            </a:endParaRPr>
          </a:p>
        </p:txBody>
      </p:sp>
      <p:sp>
        <p:nvSpPr>
          <p:cNvPr id="643" name="Google Shape;643;p39"/>
          <p:cNvSpPr/>
          <p:nvPr/>
        </p:nvSpPr>
        <p:spPr>
          <a:xfrm>
            <a:off x="994422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</a:rPr>
              <a:t>Discussion &amp; What’s Next?</a:t>
            </a:r>
            <a:endParaRPr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0"/>
          <p:cNvSpPr txBox="1"/>
          <p:nvPr>
            <p:ph idx="1" type="body"/>
          </p:nvPr>
        </p:nvSpPr>
        <p:spPr>
          <a:xfrm>
            <a:off x="234462" y="1825625"/>
            <a:ext cx="11728800" cy="415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0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1" name="Google Shape;651;p40"/>
          <p:cNvSpPr txBox="1"/>
          <p:nvPr>
            <p:ph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chemeClr val="accent3"/>
                </a:solidFill>
              </a:rPr>
              <a:t>Results of baseline assessment (1/3)</a:t>
            </a:r>
            <a:endParaRPr sz="35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1"/>
          <p:cNvSpPr txBox="1"/>
          <p:nvPr>
            <p:ph idx="1" type="body"/>
          </p:nvPr>
        </p:nvSpPr>
        <p:spPr>
          <a:xfrm>
            <a:off x="234462" y="1825625"/>
            <a:ext cx="11728800" cy="415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41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9" name="Google Shape;659;p41"/>
          <p:cNvSpPr txBox="1"/>
          <p:nvPr>
            <p:ph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chemeClr val="accent3"/>
                </a:solidFill>
              </a:rPr>
              <a:t>Results of baseline assessment (2/3)</a:t>
            </a:r>
            <a:endParaRPr sz="35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2"/>
          <p:cNvSpPr txBox="1"/>
          <p:nvPr>
            <p:ph idx="1" type="body"/>
          </p:nvPr>
        </p:nvSpPr>
        <p:spPr>
          <a:xfrm>
            <a:off x="234462" y="1825625"/>
            <a:ext cx="11728800" cy="415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42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7" name="Google Shape;667;p42"/>
          <p:cNvSpPr txBox="1"/>
          <p:nvPr>
            <p:ph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chemeClr val="accent3"/>
                </a:solidFill>
              </a:rPr>
              <a:t>Results of baseline assessment </a:t>
            </a:r>
            <a:r>
              <a:rPr lang="en-US" sz="3500">
                <a:solidFill>
                  <a:schemeClr val="accent3"/>
                </a:solidFill>
              </a:rPr>
              <a:t>(3/3)</a:t>
            </a:r>
            <a:endParaRPr sz="35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3"/>
          <p:cNvSpPr txBox="1"/>
          <p:nvPr>
            <p:ph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solidFill>
                  <a:schemeClr val="accent3"/>
                </a:solidFill>
              </a:rPr>
              <a:t>Welcome to the AMALI Data Programme</a:t>
            </a:r>
            <a:endParaRPr sz="3500">
              <a:solidFill>
                <a:schemeClr val="accent3"/>
              </a:solidFill>
            </a:endParaRPr>
          </a:p>
        </p:txBody>
      </p:sp>
      <p:sp>
        <p:nvSpPr>
          <p:cNvPr id="674" name="Google Shape;674;p43"/>
          <p:cNvSpPr/>
          <p:nvPr/>
        </p:nvSpPr>
        <p:spPr>
          <a:xfrm>
            <a:off x="968418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75" name="Google Shape;675;p43"/>
          <p:cNvSpPr txBox="1"/>
          <p:nvPr/>
        </p:nvSpPr>
        <p:spPr>
          <a:xfrm>
            <a:off x="1073416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76" name="Google Shape;676;p43"/>
          <p:cNvSpPr/>
          <p:nvPr/>
        </p:nvSpPr>
        <p:spPr>
          <a:xfrm>
            <a:off x="1917567" y="26354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77" name="Google Shape;677;p43"/>
          <p:cNvSpPr txBox="1"/>
          <p:nvPr/>
        </p:nvSpPr>
        <p:spPr>
          <a:xfrm>
            <a:off x="676667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</a:rPr>
              <a:t>1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678" name="Google Shape;678;p43"/>
          <p:cNvSpPr/>
          <p:nvPr/>
        </p:nvSpPr>
        <p:spPr>
          <a:xfrm>
            <a:off x="2817943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79" name="Google Shape;679;p43"/>
          <p:cNvSpPr txBox="1"/>
          <p:nvPr/>
        </p:nvSpPr>
        <p:spPr>
          <a:xfrm>
            <a:off x="2922941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80" name="Google Shape;680;p43"/>
          <p:cNvSpPr txBox="1"/>
          <p:nvPr/>
        </p:nvSpPr>
        <p:spPr>
          <a:xfrm>
            <a:off x="2526192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2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681" name="Google Shape;681;p43"/>
          <p:cNvSpPr/>
          <p:nvPr/>
        </p:nvSpPr>
        <p:spPr>
          <a:xfrm>
            <a:off x="4667593" y="223347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82" name="Google Shape;682;p43"/>
          <p:cNvSpPr txBox="1"/>
          <p:nvPr/>
        </p:nvSpPr>
        <p:spPr>
          <a:xfrm>
            <a:off x="4772591" y="244837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83" name="Google Shape;683;p43"/>
          <p:cNvSpPr txBox="1"/>
          <p:nvPr/>
        </p:nvSpPr>
        <p:spPr>
          <a:xfrm>
            <a:off x="4375842" y="232569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3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684" name="Google Shape;684;p43"/>
          <p:cNvSpPr/>
          <p:nvPr/>
        </p:nvSpPr>
        <p:spPr>
          <a:xfrm>
            <a:off x="6517531" y="223347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85" name="Google Shape;685;p43"/>
          <p:cNvSpPr txBox="1"/>
          <p:nvPr/>
        </p:nvSpPr>
        <p:spPr>
          <a:xfrm>
            <a:off x="6622528" y="244837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86" name="Google Shape;686;p43"/>
          <p:cNvSpPr txBox="1"/>
          <p:nvPr/>
        </p:nvSpPr>
        <p:spPr>
          <a:xfrm>
            <a:off x="6225779" y="232569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4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687" name="Google Shape;687;p43"/>
          <p:cNvSpPr/>
          <p:nvPr/>
        </p:nvSpPr>
        <p:spPr>
          <a:xfrm>
            <a:off x="8306318" y="2247428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88" name="Google Shape;688;p43"/>
          <p:cNvSpPr txBox="1"/>
          <p:nvPr/>
        </p:nvSpPr>
        <p:spPr>
          <a:xfrm>
            <a:off x="8411316" y="2462321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89" name="Google Shape;689;p43"/>
          <p:cNvSpPr txBox="1"/>
          <p:nvPr/>
        </p:nvSpPr>
        <p:spPr>
          <a:xfrm>
            <a:off x="8014567" y="2339642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5</a:t>
            </a:r>
            <a:endParaRPr b="1" i="0" sz="3200" u="none" cap="none" strike="noStrike">
              <a:solidFill>
                <a:schemeClr val="accent1"/>
              </a:solidFill>
            </a:endParaRPr>
          </a:p>
        </p:txBody>
      </p:sp>
      <p:sp>
        <p:nvSpPr>
          <p:cNvPr id="690" name="Google Shape;690;p43"/>
          <p:cNvSpPr/>
          <p:nvPr/>
        </p:nvSpPr>
        <p:spPr>
          <a:xfrm>
            <a:off x="10233718" y="2233490"/>
            <a:ext cx="792300" cy="7923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91" name="Google Shape;691;p43"/>
          <p:cNvSpPr txBox="1"/>
          <p:nvPr/>
        </p:nvSpPr>
        <p:spPr>
          <a:xfrm>
            <a:off x="10338716" y="2448383"/>
            <a:ext cx="582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92" name="Google Shape;692;p43"/>
          <p:cNvSpPr txBox="1"/>
          <p:nvPr/>
        </p:nvSpPr>
        <p:spPr>
          <a:xfrm>
            <a:off x="9941967" y="2325705"/>
            <a:ext cx="1376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2"/>
                </a:solidFill>
              </a:rPr>
              <a:t>6</a:t>
            </a:r>
            <a:endParaRPr b="1" i="0" sz="3200" u="none" cap="none" strike="noStrike">
              <a:solidFill>
                <a:schemeClr val="accent2"/>
              </a:solidFill>
            </a:endParaRPr>
          </a:p>
        </p:txBody>
      </p:sp>
      <p:sp>
        <p:nvSpPr>
          <p:cNvPr id="693" name="Google Shape;693;p43"/>
          <p:cNvSpPr/>
          <p:nvPr/>
        </p:nvSpPr>
        <p:spPr>
          <a:xfrm>
            <a:off x="3743054" y="26354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94" name="Google Shape;694;p43"/>
          <p:cNvSpPr/>
          <p:nvPr/>
        </p:nvSpPr>
        <p:spPr>
          <a:xfrm>
            <a:off x="5625367" y="2635417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95" name="Google Shape;695;p43"/>
          <p:cNvSpPr/>
          <p:nvPr/>
        </p:nvSpPr>
        <p:spPr>
          <a:xfrm>
            <a:off x="7417641" y="26190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96" name="Google Shape;696;p43"/>
          <p:cNvSpPr/>
          <p:nvPr/>
        </p:nvSpPr>
        <p:spPr>
          <a:xfrm>
            <a:off x="9292567" y="2619042"/>
            <a:ext cx="792300" cy="492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97" name="Google Shape;697;p43"/>
          <p:cNvSpPr/>
          <p:nvPr/>
        </p:nvSpPr>
        <p:spPr>
          <a:xfrm>
            <a:off x="421375" y="3170650"/>
            <a:ext cx="1886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Introductions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698" name="Google Shape;698;p43"/>
          <p:cNvSpPr/>
          <p:nvPr/>
        </p:nvSpPr>
        <p:spPr>
          <a:xfrm>
            <a:off x="242977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Welcome to 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the ADP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699" name="Google Shape;699;p43"/>
          <p:cNvSpPr/>
          <p:nvPr/>
        </p:nvSpPr>
        <p:spPr>
          <a:xfrm>
            <a:off x="434802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The ADP journey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700" name="Google Shape;700;p43"/>
          <p:cNvSpPr/>
          <p:nvPr/>
        </p:nvSpPr>
        <p:spPr>
          <a:xfrm>
            <a:off x="6129475" y="31706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Partnership logistics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701" name="Google Shape;701;p43"/>
          <p:cNvSpPr/>
          <p:nvPr/>
        </p:nvSpPr>
        <p:spPr>
          <a:xfrm>
            <a:off x="7918275" y="3191350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Preparing for the 1st site 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1"/>
                </a:solidFill>
              </a:rPr>
              <a:t>visit</a:t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1"/>
              </a:solidFill>
            </a:endParaRPr>
          </a:p>
        </p:txBody>
      </p:sp>
      <p:sp>
        <p:nvSpPr>
          <p:cNvPr id="702" name="Google Shape;702;p43"/>
          <p:cNvSpPr/>
          <p:nvPr/>
        </p:nvSpPr>
        <p:spPr>
          <a:xfrm>
            <a:off x="9944225" y="3191338"/>
            <a:ext cx="15687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accent2"/>
                </a:solidFill>
              </a:rPr>
              <a:t>Discussion &amp; What’s Next?</a:t>
            </a:r>
            <a:endParaRPr b="1" sz="19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4"/>
          <p:cNvSpPr txBox="1"/>
          <p:nvPr>
            <p:ph type="title"/>
          </p:nvPr>
        </p:nvSpPr>
        <p:spPr>
          <a:xfrm>
            <a:off x="234462" y="365125"/>
            <a:ext cx="117288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3"/>
                </a:solidFill>
              </a:rPr>
              <a:t>Discussion Questions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709" name="Google Shape;709;p44"/>
          <p:cNvSpPr txBox="1"/>
          <p:nvPr>
            <p:ph idx="1" type="body"/>
          </p:nvPr>
        </p:nvSpPr>
        <p:spPr>
          <a:xfrm>
            <a:off x="234462" y="1825625"/>
            <a:ext cx="11728800" cy="415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608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</a:pPr>
            <a:r>
              <a:rPr lang="en-US" sz="2480">
                <a:solidFill>
                  <a:schemeClr val="dk1"/>
                </a:solidFill>
              </a:rPr>
              <a:t>What has the City team been doing since the last meeting held with the ADP team? </a:t>
            </a:r>
            <a:endParaRPr sz="2480">
              <a:solidFill>
                <a:schemeClr val="dk1"/>
              </a:solidFill>
            </a:endParaRPr>
          </a:p>
          <a:p>
            <a:pPr indent="-36449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40"/>
              <a:buChar char="•"/>
            </a:pPr>
            <a:r>
              <a:rPr lang="en-US" sz="2140">
                <a:solidFill>
                  <a:schemeClr val="dk1"/>
                </a:solidFill>
              </a:rPr>
              <a:t>How often has the team met since the last discussion? </a:t>
            </a:r>
            <a:endParaRPr sz="2480">
              <a:solidFill>
                <a:schemeClr val="dk1"/>
              </a:solidFill>
            </a:endParaRPr>
          </a:p>
          <a:p>
            <a:pPr indent="-36449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40"/>
              <a:buChar char="•"/>
            </a:pPr>
            <a:r>
              <a:rPr lang="en-US" sz="2140">
                <a:solidFill>
                  <a:schemeClr val="dk1"/>
                </a:solidFill>
              </a:rPr>
              <a:t>Are there any significant shifts taking place in terms of the Mayor’s legacy goal? </a:t>
            </a:r>
            <a:endParaRPr sz="2140">
              <a:solidFill>
                <a:schemeClr val="dk1"/>
              </a:solidFill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Has the City team run an internal process to obtain the necessary approvals (through the applicable committees/Exco/Mayoral Committee?)</a:t>
            </a:r>
            <a:endParaRPr sz="2480">
              <a:solidFill>
                <a:schemeClr val="dk1"/>
              </a:solidFill>
            </a:endParaRPr>
          </a:p>
          <a:p>
            <a:pPr indent="-36449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40"/>
              <a:buChar char="•"/>
            </a:pPr>
            <a:r>
              <a:rPr lang="en-US" sz="2140">
                <a:solidFill>
                  <a:schemeClr val="dk1"/>
                </a:solidFill>
              </a:rPr>
              <a:t>Have the affected communities been notified of the legacy goal and the intended programme work to be conducted? </a:t>
            </a:r>
            <a:endParaRPr sz="2140">
              <a:solidFill>
                <a:schemeClr val="dk1"/>
              </a:solidFill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Do any members of the communities affected by this work form part of the meetings the City holds?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380">
              <a:solidFill>
                <a:schemeClr val="dk1"/>
              </a:solidFill>
            </a:endParaRPr>
          </a:p>
        </p:txBody>
      </p:sp>
      <p:sp>
        <p:nvSpPr>
          <p:cNvPr id="710" name="Google Shape;710;p44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5"/>
          <p:cNvSpPr txBox="1"/>
          <p:nvPr>
            <p:ph type="title"/>
          </p:nvPr>
        </p:nvSpPr>
        <p:spPr>
          <a:xfrm>
            <a:off x="286450" y="2359050"/>
            <a:ext cx="4543500" cy="160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accent3"/>
                </a:solidFill>
              </a:rPr>
              <a:t>What’s Next?</a:t>
            </a:r>
            <a:endParaRPr sz="3800">
              <a:solidFill>
                <a:schemeClr val="accent3"/>
              </a:solidFill>
            </a:endParaRPr>
          </a:p>
        </p:txBody>
      </p:sp>
      <p:sp>
        <p:nvSpPr>
          <p:cNvPr id="717" name="Google Shape;717;p45"/>
          <p:cNvSpPr txBox="1"/>
          <p:nvPr>
            <p:ph idx="1" type="body"/>
          </p:nvPr>
        </p:nvSpPr>
        <p:spPr>
          <a:xfrm>
            <a:off x="4224727" y="633025"/>
            <a:ext cx="7738800" cy="540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lang="en-US">
                <a:solidFill>
                  <a:schemeClr val="dk1"/>
                </a:solidFill>
              </a:rPr>
              <a:t>Commencement of weekly engagements </a:t>
            </a:r>
            <a:endParaRPr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lang="en-US">
                <a:solidFill>
                  <a:schemeClr val="dk1"/>
                </a:solidFill>
              </a:rPr>
              <a:t>Stakeholder Mapping</a:t>
            </a:r>
            <a:endParaRPr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lang="en-US">
                <a:solidFill>
                  <a:schemeClr val="dk1"/>
                </a:solidFill>
              </a:rPr>
              <a:t>SWOT Analysis</a:t>
            </a:r>
            <a:endParaRPr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lang="en-US">
                <a:solidFill>
                  <a:schemeClr val="dk1"/>
                </a:solidFill>
              </a:rPr>
              <a:t>Developing a Project Scope of Work </a:t>
            </a:r>
            <a:endParaRPr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lang="en-US">
                <a:solidFill>
                  <a:schemeClr val="dk1"/>
                </a:solidFill>
              </a:rPr>
              <a:t>Preparing for the upcoming site visit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8" name="Google Shape;718;p45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6"/>
          <p:cNvSpPr txBox="1"/>
          <p:nvPr>
            <p:ph type="title"/>
          </p:nvPr>
        </p:nvSpPr>
        <p:spPr>
          <a:xfrm>
            <a:off x="679950" y="578725"/>
            <a:ext cx="7350300" cy="5606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any queries</a:t>
            </a:r>
            <a:r>
              <a:rPr lang="en-US"/>
              <a:t> p</a:t>
            </a:r>
            <a:r>
              <a:rPr lang="en-US"/>
              <a:t>lease contact: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>
                <a:solidFill>
                  <a:schemeClr val="dk1"/>
                </a:solidFill>
              </a:rPr>
              <a:t>Mawande Ngidi</a:t>
            </a:r>
            <a:endParaRPr sz="4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>
                <a:solidFill>
                  <a:schemeClr val="dk1"/>
                </a:solidFill>
              </a:rPr>
              <a:t>Mawande.ngidi@uct.ac.za</a:t>
            </a:r>
            <a:endParaRPr sz="4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>
                <a:solidFill>
                  <a:schemeClr val="dk1"/>
                </a:solidFill>
              </a:rPr>
              <a:t>+27 66 302 1969</a:t>
            </a:r>
            <a:endParaRPr sz="4700"/>
          </a:p>
        </p:txBody>
      </p:sp>
      <p:sp>
        <p:nvSpPr>
          <p:cNvPr id="725" name="Google Shape;725;p46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7"/>
          <p:cNvSpPr txBox="1"/>
          <p:nvPr>
            <p:ph idx="4294967295" type="title"/>
          </p:nvPr>
        </p:nvSpPr>
        <p:spPr>
          <a:xfrm>
            <a:off x="231612" y="2766150"/>
            <a:ext cx="11728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7000">
                <a:solidFill>
                  <a:schemeClr val="lt1"/>
                </a:solidFill>
              </a:rPr>
              <a:t>Danko!!!</a:t>
            </a:r>
            <a:endParaRPr b="1" sz="7000">
              <a:solidFill>
                <a:schemeClr val="lt1"/>
              </a:solidFill>
            </a:endParaRPr>
          </a:p>
        </p:txBody>
      </p:sp>
      <p:sp>
        <p:nvSpPr>
          <p:cNvPr id="732" name="Google Shape;732;p47"/>
          <p:cNvSpPr txBox="1"/>
          <p:nvPr>
            <p:ph idx="12" type="sldNum"/>
          </p:nvPr>
        </p:nvSpPr>
        <p:spPr>
          <a:xfrm>
            <a:off x="10589230" y="6325528"/>
            <a:ext cx="1374300" cy="3651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MALI Slides">
  <a:themeElements>
    <a:clrScheme name="AMALI Colour Palette">
      <a:dk1>
        <a:srgbClr val="000000"/>
      </a:dk1>
      <a:lt1>
        <a:srgbClr val="FFFFFF"/>
      </a:lt1>
      <a:dk2>
        <a:srgbClr val="73777C"/>
      </a:dk2>
      <a:lt2>
        <a:srgbClr val="E7E6E6"/>
      </a:lt2>
      <a:accent1>
        <a:srgbClr val="00685B"/>
      </a:accent1>
      <a:accent2>
        <a:srgbClr val="A1006B"/>
      </a:accent2>
      <a:accent3>
        <a:srgbClr val="E05106"/>
      </a:accent3>
      <a:accent4>
        <a:srgbClr val="4D4F53"/>
      </a:accent4>
      <a:accent5>
        <a:srgbClr val="33867C"/>
      </a:accent5>
      <a:accent6>
        <a:srgbClr val="F3BC33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